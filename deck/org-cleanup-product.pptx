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A4553"/>
                </a:solidFill>
                <a:latin typeface="Arial"/>
              </a:defRPr>
            </a:pPr>
            <a:r>
              <a:rPr sz="1300" b="0" i="0" u="none" strike="noStrike">
                <a:solidFill>
                  <a:srgbClr val="3A4553"/>
                </a:solidFill>
                <a:latin typeface="Arial"/>
              </a:rPr>
              <a:t>Items needing human review</a:t>
            </a:r>
          </a:p>
        </c:rich>
      </c:tx>
      <c:layout/>
      <c:overlay val="0"/>
    </c:title>
    <c:autoTitleDeleted val="0"/>
    <c:plotArea>
      <c:layout/>
      <c:barChart>
        <c:barDir val="col"/>
        <c:grouping val="clustered"/>
        <c:varyColors val="0"/>
        <c:ser>
          <c:idx val="0"/>
          <c:order val="0"/>
          <c:tx>
            <c:strRef>
              <c:f>Sheet1!$B$1</c:f>
              <c:strCache>
                <c:ptCount val="1"/>
                <c:pt idx="0">
                  <c:v>Review queue</c:v>
                </c:pt>
              </c:strCache>
            </c:strRef>
          </c:tx>
          <c:spPr>
            <a:solidFill>
              <a:srgbClr val="29B6D8"/>
            </a:solidFill>
            <a:effectLst/>
          </c:spPr>
          <c:invertIfNegative val="0"/>
          <c:dLbls>
            <c:numFmt formatCode="#,##0" sourceLinked="0"/>
            <c:txPr>
              <a:bodyPr/>
              <a:lstStyle/>
              <a:p>
                <a:pPr>
                  <a:defRPr b="0" i="0" strike="noStrike" sz="1200" u="none">
                    <a:solidFill>
                      <a:srgbClr val="3A4553"/>
                    </a:solidFill>
                    <a:latin typeface="Arial"/>
                  </a:defRPr>
                </a:pPr>
              </a:p>
            </c:txPr>
            <c:showLegendKey val="0"/>
            <c:showVal val="1"/>
            <c:showCatName val="0"/>
            <c:showSerName val="0"/>
            <c:showPercent val="0"/>
            <c:showBubbleSize val="0"/>
            <c:showLeaderLines val="0"/>
          </c:dLbls>
          <c:cat>
            <c:multiLvlStrRef>
              <c:f>Sheet1!$A$2:$A$4</c:f>
              <c:multiLvlStrCache>
                <c:ptCount val="3"/>
                <c:lvl>
                  <c:pt idx="0">
                    <c:v>Initial analysis</c:v>
                  </c:pt>
                  <c:pt idx="1">
                    <c:v>After cluster logic</c:v>
                  </c:pt>
                  <c:pt idx="2">
                    <c:v>After validation fixes</c:v>
                  </c:pt>
                </c:lvl>
              </c:multiLvlStrCache>
            </c:multiLvlStrRef>
          </c:cat>
          <c:val>
            <c:numRef>
              <c:f>Sheet1!$B$2:$B$4</c:f>
              <c:numCache>
                <c:formatCode>General</c:formatCode>
                <c:ptCount val="3"/>
                <c:pt idx="0">
                  <c:v>38</c:v>
                </c:pt>
                <c:pt idx="1">
                  <c:v>31</c:v>
                </c:pt>
                <c:pt idx="2">
                  <c:v>19</c:v>
                </c:pt>
              </c:numCache>
            </c:numRef>
          </c:val>
        </c:ser>
        <c:dLbls>
          <c:numFmt formatCode="#,##0" sourceLinked="0"/>
          <c:txPr>
            <a:bodyPr/>
            <a:lstStyle/>
            <a:p>
              <a:pPr>
                <a:defRPr b="0" i="0" strike="noStrike" sz="1200" u="none">
                  <a:solidFill>
                    <a:srgbClr val="3A455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68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68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finds unused Salesforce metadata and takes it all the way to a reviewed pull request. The emphasis throughout is on being defensible: every verdict can be explained, and the risky step is validated by Salesforce rather than inferred.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this debt persists is not that teams do not notice it. It is that nobody can prove a component is safe to delete, so the rational choice is always to leave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cleanup tools optimise for finding the most items. That is the wrong objective. One false positive destroys confidence in every other finding, so the design target is a small set of findings you can act on without checking.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is the entire product. A tool that counts mere presence as use marks nearly everything used and finds nothing — which is worse than useless, because it looks authoritative.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matters for correctness, not just completeness. A field referenced only by a report we never retrieved looks unused — so the breadth of what we index directly determines how many false positives we 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argument against a pure agent is not that models are weak. It is that deletion needs an audit trail. If a reviewer asks "how do you know nothing uses this", the answer has to be a list of places searched, not a claim of having looked.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down the left column: the sequence moves from cheap and exhaustive to expensive and judgemental. Anything the deterministic layer can settle never reaches the model, which is what keeps token cost proportional to findings rather than to org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properties are worth calling out. First, the database is the source of truth rather than in-memory state — a browser refresh, a reconnect, or a second viewer all rejoin the same live run. Second, the org is read once into a local workspace, so the expensive analysis stages cost no API calls at all and can be re-run freely.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top to bottom on the left: a run is started over REST, progress streams back over SSE, and everything the run learns lands in Postgres rather than in memory — which is why a reload rejoins a live run instead of losing it. On the right, note that all three outbound arrows leave from the pipeline box. Nothing else in the system talks to the org, the model, or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Stages 1 to 3 are the only ones bounded by the org API limit. Everything expensive happens against a local copy, which is what makes the analysis affordable to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collectors are deliberately blind to each other. Because they do not share state, their agreement carries real information — if eight independent checks all come back empty, that is meaningful.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D is the important one. An uncertainty flag is not weak evidence of use — it is a statement that we cannot see clearly, and it blocks a deletion verdict outright.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rules are ordered and explicit, any verdict can be replayed and explained. That is what makes the output defensible in a change-approval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what the reviewer can see: not just the verdict, but every place we looked and what each returned. The AI text is visually separated and labelled so nobody mistakes narrative for a verified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a client audit function cares about. The question is never "did you find it" — it is "how would you know if you had missed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the human after validation and before execution is deliberate: they review a decision that is already evidence-backed and server-checked, so their time goes on judgement rather than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Refactoring callers is the step that turns a report into a saved week. Removing a field from twelve layouts and four classes by hand is the actual work; finding it was never the bottleneck.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Presenting risks this plainly is a sales advantage, not a liability. The client already knows deletion is dangerous — a vendor who names the dangers is the one they can believe.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limitation here is structural rather than a defect we intend to fix. The staged deletion procedure exists precisely because these blind spots cannot be closed by better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 is not a claim of perfection — it is the count of candidates Salesforce REFUSED to delete. Of 15 rehearsed, 13 validated cleanly and 2 came back inconclusive and stayed in review. That check is what turns a claim into a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architectural argument, because that is the real differentiator. Anyone can produce a list of suspicious components. Producing one a client will act on is an engineering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620"/>
        </a:solidFill>
      </p:bgPr>
    </p:bg>
    <p:spTree>
      <p:nvGrpSpPr>
        <p:cNvPr id="1" name=""/>
        <p:cNvGrpSpPr/>
        <p:nvPr/>
      </p:nvGrpSpPr>
      <p:grpSpPr>
        <a:xfrm>
          <a:off x="0" y="0"/>
          <a:ext cx="0" cy="0"/>
          <a:chOff x="0" y="0"/>
          <a:chExt cx="0" cy="0"/>
        </a:xfrm>
      </p:grpSpPr>
      <p:sp>
        <p:nvSpPr>
          <p:cNvPr id="2" name="Shape 0"/>
          <p:cNvSpPr/>
          <p:nvPr/>
        </p:nvSpPr>
        <p:spPr>
          <a:xfrm>
            <a:off x="8595360" y="-1371600"/>
            <a:ext cx="5852160" cy="5852160"/>
          </a:xfrm>
          <a:prstGeom prst="ellipse">
            <a:avLst/>
          </a:prstGeom>
          <a:solidFill>
            <a:srgbClr val="29B6D8">
              <a:alpha val="12000"/>
            </a:srgbClr>
          </a:solidFill>
          <a:ln w="12700">
            <a:solidFill>
              <a:srgbClr val="0F1620"/>
            </a:solidFill>
            <a:prstDash val="solid"/>
          </a:ln>
        </p:spPr>
      </p:sp>
      <p:sp>
        <p:nvSpPr>
          <p:cNvPr id="3" name="Shape 1"/>
          <p:cNvSpPr/>
          <p:nvPr/>
        </p:nvSpPr>
        <p:spPr>
          <a:xfrm>
            <a:off x="9966960" y="2834640"/>
            <a:ext cx="3291840" cy="3291840"/>
          </a:xfrm>
          <a:prstGeom prst="ellipse">
            <a:avLst/>
          </a:prstGeom>
          <a:solidFill>
            <a:srgbClr val="F0A030">
              <a:alpha val="10000"/>
            </a:srgbClr>
          </a:solidFill>
          <a:ln w="12700">
            <a:solidFill>
              <a:srgbClr val="0F1620"/>
            </a:solidFill>
            <a:prstDash val="solid"/>
          </a:ln>
        </p:spPr>
      </p:sp>
      <p:sp>
        <p:nvSpPr>
          <p:cNvPr id="4" name="Text 2"/>
          <p:cNvSpPr/>
          <p:nvPr/>
        </p:nvSpPr>
        <p:spPr>
          <a:xfrm>
            <a:off x="566928" y="1847088"/>
            <a:ext cx="7315200" cy="310896"/>
          </a:xfrm>
          <a:prstGeom prst="rect">
            <a:avLst/>
          </a:prstGeom>
          <a:noFill/>
          <a:ln/>
        </p:spPr>
        <p:txBody>
          <a:bodyPr wrap="square" lIns="0" tIns="0" rIns="0" bIns="0" rtlCol="0" anchor="ctr"/>
          <a:lstStyle/>
          <a:p>
            <a:pPr indent="0" marL="0">
              <a:buNone/>
            </a:pPr>
            <a:r>
              <a:rPr lang="en-US" sz="1350" b="1" spc="300" kern="0" dirty="0">
                <a:solidFill>
                  <a:srgbClr val="29B6D8"/>
                </a:solidFill>
                <a:latin typeface="Arial" pitchFamily="34" charset="0"/>
                <a:ea typeface="Arial" pitchFamily="34" charset="-122"/>
                <a:cs typeface="Arial" pitchFamily="34" charset="-120"/>
              </a:rPr>
              <a:t>ORG CLEANUP</a:t>
            </a:r>
            <a:endParaRPr lang="en-US" sz="1350" dirty="0"/>
          </a:p>
        </p:txBody>
      </p:sp>
      <p:sp>
        <p:nvSpPr>
          <p:cNvPr id="5" name="Text 3"/>
          <p:cNvSpPr/>
          <p:nvPr/>
        </p:nvSpPr>
        <p:spPr>
          <a:xfrm>
            <a:off x="566928" y="2231136"/>
            <a:ext cx="7680960" cy="1975104"/>
          </a:xfrm>
          <a:prstGeom prst="rect">
            <a:avLst/>
          </a:prstGeom>
          <a:noFill/>
          <a:ln/>
        </p:spPr>
        <p:txBody>
          <a:bodyPr wrap="square" lIns="0" tIns="0" rIns="0" bIns="0" rtlCol="0" anchor="ctr"/>
          <a:lstStyle/>
          <a:p>
            <a:pPr indent="0" marL="0">
              <a:lnSpc>
                <a:spcPts val="5000"/>
              </a:lnSpc>
              <a:buNone/>
            </a:pPr>
            <a:r>
              <a:rPr lang="en-US" sz="4200" b="1" dirty="0">
                <a:solidFill>
                  <a:srgbClr val="F2F5F8"/>
                </a:solidFill>
                <a:latin typeface="Arial" pitchFamily="34" charset="0"/>
                <a:ea typeface="Arial" pitchFamily="34" charset="-122"/>
                <a:cs typeface="Arial" pitchFamily="34" charset="-120"/>
              </a:rPr>
              <a:t>Find what nobody uses.</a:t>
            </a:r>
            <a:endParaRPr lang="en-US" sz="4200" dirty="0"/>
          </a:p>
          <a:p>
            <a:pPr indent="0" marL="0">
              <a:lnSpc>
                <a:spcPts val="5000"/>
              </a:lnSpc>
              <a:buNone/>
            </a:pPr>
            <a:r>
              <a:rPr lang="en-US" sz="4200" b="1" dirty="0">
                <a:solidFill>
                  <a:srgbClr val="F2F5F8"/>
                </a:solidFill>
                <a:latin typeface="Arial" pitchFamily="34" charset="0"/>
                <a:ea typeface="Arial" pitchFamily="34" charset="-122"/>
                <a:cs typeface="Arial" pitchFamily="34" charset="-120"/>
              </a:rPr>
              <a:t>Remove it safely.</a:t>
            </a:r>
            <a:endParaRPr lang="en-US" sz="4200" dirty="0"/>
          </a:p>
        </p:txBody>
      </p:sp>
      <p:sp>
        <p:nvSpPr>
          <p:cNvPr id="6" name="Text 4"/>
          <p:cNvSpPr/>
          <p:nvPr/>
        </p:nvSpPr>
        <p:spPr>
          <a:xfrm>
            <a:off x="566928" y="4370832"/>
            <a:ext cx="6949440" cy="822960"/>
          </a:xfrm>
          <a:prstGeom prst="rect">
            <a:avLst/>
          </a:prstGeom>
          <a:noFill/>
          <a:ln/>
        </p:spPr>
        <p:txBody>
          <a:bodyPr wrap="square" lIns="0" tIns="0" rIns="0" bIns="0" rtlCol="0" anchor="ctr"/>
          <a:lstStyle/>
          <a:p>
            <a:pPr indent="0" marL="0">
              <a:lnSpc>
                <a:spcPts val="2200"/>
              </a:lnSpc>
              <a:buNone/>
            </a:pPr>
            <a:r>
              <a:rPr lang="en-US" sz="1500" dirty="0">
                <a:solidFill>
                  <a:srgbClr val="A8B4C4"/>
                </a:solidFill>
                <a:latin typeface="Calibri" pitchFamily="34" charset="0"/>
                <a:ea typeface="Calibri" pitchFamily="34" charset="-122"/>
                <a:cs typeface="Calibri" pitchFamily="34" charset="-120"/>
              </a:rPr>
              <a:t>A deterministic pipeline with AI where it helps, human judgement where it matters, and Salesforce itself as the final arbiter.</a:t>
            </a:r>
            <a:endParaRPr lang="en-US" sz="1500" dirty="0"/>
          </a:p>
        </p:txBody>
      </p:sp>
      <p:sp>
        <p:nvSpPr>
          <p:cNvPr id="7" name="Text 5"/>
          <p:cNvSpPr/>
          <p:nvPr/>
        </p:nvSpPr>
        <p:spPr>
          <a:xfrm>
            <a:off x="566928" y="5669280"/>
            <a:ext cx="8229600" cy="310896"/>
          </a:xfrm>
          <a:prstGeom prst="rect">
            <a:avLst/>
          </a:prstGeom>
          <a:noFill/>
          <a:ln/>
        </p:spPr>
        <p:txBody>
          <a:bodyPr wrap="square" lIns="0" tIns="0" rIns="0" bIns="0" rtlCol="0" anchor="ctr"/>
          <a:lstStyle/>
          <a:p>
            <a:pPr indent="0" marL="0">
              <a:buNone/>
            </a:pPr>
            <a:r>
              <a:rPr lang="en-US" sz="1250" dirty="0">
                <a:solidFill>
                  <a:srgbClr val="76849A"/>
                </a:solidFill>
                <a:latin typeface="Calibri" pitchFamily="34" charset="0"/>
                <a:ea typeface="Calibri" pitchFamily="34" charset="-122"/>
                <a:cs typeface="Calibri" pitchFamily="34" charset="-120"/>
              </a:rPr>
              <a:t>Multi-signal analysis  ·  Evidence-first  ·  Automated remediation</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11712" y="6455664"/>
            <a:ext cx="365760" cy="274320"/>
          </a:xfrm>
          <a:prstGeom prst="rect">
            <a:avLst/>
          </a:prstGeom>
          <a:noFill/>
          <a:ln/>
        </p:spPr>
        <p:txBody>
          <a:bodyPr wrap="square" lIns="0" tIns="0" rIns="0" bIns="0" rtlCol="0" anchor="ctr"/>
          <a:lstStyle/>
          <a:p>
            <a:pPr algn="r" indent="0" marL="0">
              <a:buNone/>
            </a:pPr>
            <a:r>
              <a:rPr lang="en-US" sz="1000" dirty="0">
                <a:solidFill>
                  <a:srgbClr val="A0A8B4"/>
                </a:solidFill>
                <a:latin typeface="Calibri" pitchFamily="34" charset="0"/>
                <a:ea typeface="Calibri" pitchFamily="34" charset="-122"/>
                <a:cs typeface="Calibri" pitchFamily="34" charset="-120"/>
              </a:rPr>
              <a:t>2</a:t>
            </a:r>
            <a:endParaRPr lang="en-US" sz="1000" dirty="0"/>
          </a:p>
        </p:txBody>
      </p:sp>
      <p:sp>
        <p:nvSpPr>
          <p:cNvPr id="3" name="Text 1"/>
          <p:cNvSpPr/>
          <p:nvPr/>
        </p:nvSpPr>
        <p:spPr>
          <a:xfrm>
            <a:off x="566928" y="402336"/>
            <a:ext cx="11055096" cy="713232"/>
          </a:xfrm>
          <a:prstGeom prst="rect">
            <a:avLst/>
          </a:prstGeom>
          <a:noFill/>
          <a:ln/>
        </p:spPr>
        <p:txBody>
          <a:bodyPr wrap="square" lIns="0" tIns="0" rIns="0" bIns="0" rtlCol="0" anchor="ctr"/>
          <a:lstStyle/>
          <a:p>
            <a:pPr indent="0" marL="0">
              <a:buNone/>
            </a:pPr>
            <a:r>
              <a:rPr lang="en-US" sz="3400" b="1" dirty="0">
                <a:solidFill>
                  <a:srgbClr val="0F1620"/>
                </a:solidFill>
                <a:latin typeface="Arial" pitchFamily="34" charset="0"/>
                <a:ea typeface="Arial" pitchFamily="34" charset="-122"/>
                <a:cs typeface="Arial" pitchFamily="34" charset="-120"/>
              </a:rPr>
              <a:t>Mature orgs accumulate debt nobody touches</a:t>
            </a:r>
            <a:endParaRPr lang="en-US" sz="3400" dirty="0"/>
          </a:p>
        </p:txBody>
      </p:sp>
      <p:sp>
        <p:nvSpPr>
          <p:cNvPr id="4" name="Text 2"/>
          <p:cNvSpPr/>
          <p:nvPr/>
        </p:nvSpPr>
        <p:spPr>
          <a:xfrm>
            <a:off x="566928" y="1115568"/>
            <a:ext cx="11055096" cy="402336"/>
          </a:xfrm>
          <a:prstGeom prst="rect">
            <a:avLst/>
          </a:prstGeom>
          <a:noFill/>
          <a:ln/>
        </p:spPr>
        <p:txBody>
          <a:bodyPr wrap="square" lIns="0" tIns="0" rIns="0" bIns="0" rtlCol="0" anchor="ctr"/>
          <a:lstStyle/>
          <a:p>
            <a:pPr indent="0" marL="0">
              <a:buNone/>
            </a:pPr>
            <a:r>
              <a:rPr lang="en-US" sz="1450" dirty="0">
                <a:solidFill>
                  <a:srgbClr val="55606E"/>
                </a:solidFill>
                <a:latin typeface="Calibri" pitchFamily="34" charset="0"/>
                <a:ea typeface="Calibri" pitchFamily="34" charset="-122"/>
                <a:cs typeface="Calibri" pitchFamily="34" charset="-120"/>
              </a:rPr>
              <a:t>The cost is continuous, and it compounds quietly.</a:t>
            </a:r>
            <a:endParaRPr lang="en-US" sz="1450" dirty="0"/>
          </a:p>
        </p:txBody>
      </p:sp>
      <p:sp>
        <p:nvSpPr>
          <p:cNvPr id="5" name="Shape 3"/>
          <p:cNvSpPr/>
          <p:nvPr/>
        </p:nvSpPr>
        <p:spPr>
          <a:xfrm>
            <a:off x="566928" y="1810512"/>
            <a:ext cx="365760" cy="365760"/>
          </a:xfrm>
          <a:prstGeom prst="ellipse">
            <a:avLst/>
          </a:prstGeom>
          <a:solidFill>
            <a:srgbClr val="F0A030"/>
          </a:solidFill>
          <a:ln/>
        </p:spPr>
      </p:sp>
      <p:sp>
        <p:nvSpPr>
          <p:cNvPr id="6" name="Text 4"/>
          <p:cNvSpPr/>
          <p:nvPr/>
        </p:nvSpPr>
        <p:spPr>
          <a:xfrm>
            <a:off x="566928" y="1810512"/>
            <a:ext cx="365760" cy="365760"/>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1</a:t>
            </a:r>
            <a:endParaRPr lang="en-US" sz="1250" dirty="0"/>
          </a:p>
        </p:txBody>
      </p:sp>
      <p:sp>
        <p:nvSpPr>
          <p:cNvPr id="7" name="Text 5"/>
          <p:cNvSpPr/>
          <p:nvPr/>
        </p:nvSpPr>
        <p:spPr>
          <a:xfrm>
            <a:off x="1133856" y="1755648"/>
            <a:ext cx="5669280" cy="310896"/>
          </a:xfrm>
          <a:prstGeom prst="rect">
            <a:avLst/>
          </a:prstGeom>
          <a:noFill/>
          <a:ln/>
        </p:spPr>
        <p:txBody>
          <a:bodyPr wrap="square" lIns="0" tIns="0" rIns="0" bIns="0" rtlCol="0" anchor="ctr"/>
          <a:lstStyle/>
          <a:p>
            <a:pPr indent="0" marL="0">
              <a:buNone/>
            </a:pPr>
            <a:r>
              <a:rPr lang="en-US" sz="1600" b="1" dirty="0">
                <a:solidFill>
                  <a:srgbClr val="0F1620"/>
                </a:solidFill>
                <a:latin typeface="Arial" pitchFamily="34" charset="0"/>
                <a:ea typeface="Arial" pitchFamily="34" charset="-122"/>
                <a:cs typeface="Arial" pitchFamily="34" charset="-120"/>
              </a:rPr>
              <a:t>Fields nobody populates</a:t>
            </a:r>
            <a:endParaRPr lang="en-US" sz="1600" dirty="0"/>
          </a:p>
        </p:txBody>
      </p:sp>
      <p:sp>
        <p:nvSpPr>
          <p:cNvPr id="8" name="Text 6"/>
          <p:cNvSpPr/>
          <p:nvPr/>
        </p:nvSpPr>
        <p:spPr>
          <a:xfrm>
            <a:off x="1133856" y="2084832"/>
            <a:ext cx="5852160" cy="658368"/>
          </a:xfrm>
          <a:prstGeom prst="rect">
            <a:avLst/>
          </a:prstGeom>
          <a:noFill/>
          <a:ln/>
        </p:spPr>
        <p:txBody>
          <a:bodyPr wrap="square" lIns="0" tIns="0" rIns="0" bIns="0" rtlCol="0" anchor="ctr"/>
          <a:lstStyle/>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Added for a project that shipped differently, or never shipped. They stay on layouts, in page loads, in every describe call.</a:t>
            </a:r>
            <a:endParaRPr lang="en-US" sz="1250" dirty="0"/>
          </a:p>
        </p:txBody>
      </p:sp>
      <p:sp>
        <p:nvSpPr>
          <p:cNvPr id="9" name="Shape 7"/>
          <p:cNvSpPr/>
          <p:nvPr/>
        </p:nvSpPr>
        <p:spPr>
          <a:xfrm>
            <a:off x="566928" y="2944368"/>
            <a:ext cx="365760" cy="365760"/>
          </a:xfrm>
          <a:prstGeom prst="ellipse">
            <a:avLst/>
          </a:prstGeom>
          <a:solidFill>
            <a:srgbClr val="F0A030"/>
          </a:solidFill>
          <a:ln/>
        </p:spPr>
      </p:sp>
      <p:sp>
        <p:nvSpPr>
          <p:cNvPr id="10" name="Text 8"/>
          <p:cNvSpPr/>
          <p:nvPr/>
        </p:nvSpPr>
        <p:spPr>
          <a:xfrm>
            <a:off x="566928" y="2944368"/>
            <a:ext cx="365760" cy="365760"/>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2</a:t>
            </a:r>
            <a:endParaRPr lang="en-US" sz="1250" dirty="0"/>
          </a:p>
        </p:txBody>
      </p:sp>
      <p:sp>
        <p:nvSpPr>
          <p:cNvPr id="11" name="Text 9"/>
          <p:cNvSpPr/>
          <p:nvPr/>
        </p:nvSpPr>
        <p:spPr>
          <a:xfrm>
            <a:off x="1133856" y="2889504"/>
            <a:ext cx="5669280" cy="310896"/>
          </a:xfrm>
          <a:prstGeom prst="rect">
            <a:avLst/>
          </a:prstGeom>
          <a:noFill/>
          <a:ln/>
        </p:spPr>
        <p:txBody>
          <a:bodyPr wrap="square" lIns="0" tIns="0" rIns="0" bIns="0" rtlCol="0" anchor="ctr"/>
          <a:lstStyle/>
          <a:p>
            <a:pPr indent="0" marL="0">
              <a:buNone/>
            </a:pPr>
            <a:r>
              <a:rPr lang="en-US" sz="1600" b="1" dirty="0">
                <a:solidFill>
                  <a:srgbClr val="0F1620"/>
                </a:solidFill>
                <a:latin typeface="Arial" pitchFamily="34" charset="0"/>
                <a:ea typeface="Arial" pitchFamily="34" charset="-122"/>
                <a:cs typeface="Arial" pitchFamily="34" charset="-120"/>
              </a:rPr>
              <a:t>Objects with no consumer</a:t>
            </a:r>
            <a:endParaRPr lang="en-US" sz="1600" dirty="0"/>
          </a:p>
        </p:txBody>
      </p:sp>
      <p:sp>
        <p:nvSpPr>
          <p:cNvPr id="12" name="Text 10"/>
          <p:cNvSpPr/>
          <p:nvPr/>
        </p:nvSpPr>
        <p:spPr>
          <a:xfrm>
            <a:off x="1133856" y="3218688"/>
            <a:ext cx="5852160" cy="658368"/>
          </a:xfrm>
          <a:prstGeom prst="rect">
            <a:avLst/>
          </a:prstGeom>
          <a:noFill/>
          <a:ln/>
        </p:spPr>
        <p:txBody>
          <a:bodyPr wrap="square" lIns="0" tIns="0" rIns="0" bIns="0" rtlCol="0" anchor="ctr"/>
          <a:lstStyle/>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A discontinued process leaves its schema behind. Reports still list it. Nobody remembers why.</a:t>
            </a:r>
            <a:endParaRPr lang="en-US" sz="1250" dirty="0"/>
          </a:p>
        </p:txBody>
      </p:sp>
      <p:sp>
        <p:nvSpPr>
          <p:cNvPr id="13" name="Shape 11"/>
          <p:cNvSpPr/>
          <p:nvPr/>
        </p:nvSpPr>
        <p:spPr>
          <a:xfrm>
            <a:off x="566928" y="4078224"/>
            <a:ext cx="365760" cy="365760"/>
          </a:xfrm>
          <a:prstGeom prst="ellipse">
            <a:avLst/>
          </a:prstGeom>
          <a:solidFill>
            <a:srgbClr val="F0A030"/>
          </a:solidFill>
          <a:ln/>
        </p:spPr>
      </p:sp>
      <p:sp>
        <p:nvSpPr>
          <p:cNvPr id="14" name="Text 12"/>
          <p:cNvSpPr/>
          <p:nvPr/>
        </p:nvSpPr>
        <p:spPr>
          <a:xfrm>
            <a:off x="566928" y="4078224"/>
            <a:ext cx="365760" cy="365760"/>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3</a:t>
            </a:r>
            <a:endParaRPr lang="en-US" sz="1250" dirty="0"/>
          </a:p>
        </p:txBody>
      </p:sp>
      <p:sp>
        <p:nvSpPr>
          <p:cNvPr id="15" name="Text 13"/>
          <p:cNvSpPr/>
          <p:nvPr/>
        </p:nvSpPr>
        <p:spPr>
          <a:xfrm>
            <a:off x="1133856" y="4023360"/>
            <a:ext cx="5669280" cy="310896"/>
          </a:xfrm>
          <a:prstGeom prst="rect">
            <a:avLst/>
          </a:prstGeom>
          <a:noFill/>
          <a:ln/>
        </p:spPr>
        <p:txBody>
          <a:bodyPr wrap="square" lIns="0" tIns="0" rIns="0" bIns="0" rtlCol="0" anchor="ctr"/>
          <a:lstStyle/>
          <a:p>
            <a:pPr indent="0" marL="0">
              <a:buNone/>
            </a:pPr>
            <a:r>
              <a:rPr lang="en-US" sz="1600" b="1" dirty="0">
                <a:solidFill>
                  <a:srgbClr val="0F1620"/>
                </a:solidFill>
                <a:latin typeface="Arial" pitchFamily="34" charset="0"/>
                <a:ea typeface="Arial" pitchFamily="34" charset="-122"/>
                <a:cs typeface="Arial" pitchFamily="34" charset="-120"/>
              </a:rPr>
              <a:t>Apex that nothing calls</a:t>
            </a:r>
            <a:endParaRPr lang="en-US" sz="1600" dirty="0"/>
          </a:p>
        </p:txBody>
      </p:sp>
      <p:sp>
        <p:nvSpPr>
          <p:cNvPr id="16" name="Text 14"/>
          <p:cNvSpPr/>
          <p:nvPr/>
        </p:nvSpPr>
        <p:spPr>
          <a:xfrm>
            <a:off x="1133856" y="4352544"/>
            <a:ext cx="5852160" cy="658368"/>
          </a:xfrm>
          <a:prstGeom prst="rect">
            <a:avLst/>
          </a:prstGeom>
          <a:noFill/>
          <a:ln/>
        </p:spPr>
        <p:txBody>
          <a:bodyPr wrap="square" lIns="0" tIns="0" rIns="0" bIns="0" rtlCol="0" anchor="ctr"/>
          <a:lstStyle/>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Service classes orphaned by a refactor. Still compiled, still counted in coverage, still maintained.</a:t>
            </a:r>
            <a:endParaRPr lang="en-US" sz="1250" dirty="0"/>
          </a:p>
        </p:txBody>
      </p:sp>
      <p:sp>
        <p:nvSpPr>
          <p:cNvPr id="17" name="Shape 15"/>
          <p:cNvSpPr/>
          <p:nvPr/>
        </p:nvSpPr>
        <p:spPr>
          <a:xfrm>
            <a:off x="566928" y="5212080"/>
            <a:ext cx="365760" cy="365760"/>
          </a:xfrm>
          <a:prstGeom prst="ellipse">
            <a:avLst/>
          </a:prstGeom>
          <a:solidFill>
            <a:srgbClr val="F0A030"/>
          </a:solidFill>
          <a:ln/>
        </p:spPr>
      </p:sp>
      <p:sp>
        <p:nvSpPr>
          <p:cNvPr id="18" name="Text 16"/>
          <p:cNvSpPr/>
          <p:nvPr/>
        </p:nvSpPr>
        <p:spPr>
          <a:xfrm>
            <a:off x="566928" y="5212080"/>
            <a:ext cx="365760" cy="365760"/>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4</a:t>
            </a:r>
            <a:endParaRPr lang="en-US" sz="1250" dirty="0"/>
          </a:p>
        </p:txBody>
      </p:sp>
      <p:sp>
        <p:nvSpPr>
          <p:cNvPr id="19" name="Text 17"/>
          <p:cNvSpPr/>
          <p:nvPr/>
        </p:nvSpPr>
        <p:spPr>
          <a:xfrm>
            <a:off x="1133856" y="5157216"/>
            <a:ext cx="5669280" cy="310896"/>
          </a:xfrm>
          <a:prstGeom prst="rect">
            <a:avLst/>
          </a:prstGeom>
          <a:noFill/>
          <a:ln/>
        </p:spPr>
        <p:txBody>
          <a:bodyPr wrap="square" lIns="0" tIns="0" rIns="0" bIns="0" rtlCol="0" anchor="ctr"/>
          <a:lstStyle/>
          <a:p>
            <a:pPr indent="0" marL="0">
              <a:buNone/>
            </a:pPr>
            <a:r>
              <a:rPr lang="en-US" sz="1600" b="1" dirty="0">
                <a:solidFill>
                  <a:srgbClr val="0F1620"/>
                </a:solidFill>
                <a:latin typeface="Arial" pitchFamily="34" charset="0"/>
                <a:ea typeface="Arial" pitchFamily="34" charset="-122"/>
                <a:cs typeface="Arial" pitchFamily="34" charset="-120"/>
              </a:rPr>
              <a:t>Automation running on dead data</a:t>
            </a:r>
            <a:endParaRPr lang="en-US" sz="1600" dirty="0"/>
          </a:p>
        </p:txBody>
      </p:sp>
      <p:sp>
        <p:nvSpPr>
          <p:cNvPr id="20" name="Text 18"/>
          <p:cNvSpPr/>
          <p:nvPr/>
        </p:nvSpPr>
        <p:spPr>
          <a:xfrm>
            <a:off x="1133856" y="5486400"/>
            <a:ext cx="5852160" cy="658368"/>
          </a:xfrm>
          <a:prstGeom prst="rect">
            <a:avLst/>
          </a:prstGeom>
          <a:noFill/>
          <a:ln/>
        </p:spPr>
        <p:txBody>
          <a:bodyPr wrap="square" lIns="0" tIns="0" rIns="0" bIns="0" rtlCol="0" anchor="ctr"/>
          <a:lstStyle/>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Flows and rules firing against fields no business process reads.</a:t>
            </a:r>
            <a:endParaRPr lang="en-US" sz="1250" dirty="0"/>
          </a:p>
        </p:txBody>
      </p:sp>
      <p:sp>
        <p:nvSpPr>
          <p:cNvPr id="21" name="Shape 19"/>
          <p:cNvSpPr/>
          <p:nvPr/>
        </p:nvSpPr>
        <p:spPr>
          <a:xfrm>
            <a:off x="7059168" y="1737360"/>
            <a:ext cx="4572000" cy="4315968"/>
          </a:xfrm>
          <a:prstGeom prst="roundRect">
            <a:avLst>
              <a:gd name="adj" fmla="val 1271"/>
            </a:avLst>
          </a:prstGeom>
          <a:solidFill>
            <a:srgbClr val="F4F7FA"/>
          </a:solidFill>
          <a:ln w="12700">
            <a:solidFill>
              <a:srgbClr val="DDE4EC"/>
            </a:solidFill>
            <a:prstDash val="solid"/>
          </a:ln>
        </p:spPr>
      </p:sp>
      <p:sp>
        <p:nvSpPr>
          <p:cNvPr id="22" name="Text 20"/>
          <p:cNvSpPr/>
          <p:nvPr/>
        </p:nvSpPr>
        <p:spPr>
          <a:xfrm>
            <a:off x="7370064" y="1993392"/>
            <a:ext cx="3931920" cy="310896"/>
          </a:xfrm>
          <a:prstGeom prst="rect">
            <a:avLst/>
          </a:prstGeom>
          <a:noFill/>
          <a:ln/>
        </p:spPr>
        <p:txBody>
          <a:bodyPr wrap="square" lIns="0" tIns="0" rIns="0" bIns="0" rtlCol="0" anchor="ctr"/>
          <a:lstStyle/>
          <a:p>
            <a:pPr indent="0" marL="0">
              <a:buNone/>
            </a:pPr>
            <a:r>
              <a:rPr lang="en-US" sz="1500" b="1" dirty="0">
                <a:solidFill>
                  <a:srgbClr val="0F1620"/>
                </a:solidFill>
                <a:latin typeface="Arial" pitchFamily="34" charset="0"/>
                <a:ea typeface="Arial" pitchFamily="34" charset="-122"/>
                <a:cs typeface="Arial" pitchFamily="34" charset="-120"/>
              </a:rPr>
              <a:t>What it costs</a:t>
            </a:r>
            <a:endParaRPr lang="en-US" sz="1500" dirty="0"/>
          </a:p>
        </p:txBody>
      </p:sp>
      <p:sp>
        <p:nvSpPr>
          <p:cNvPr id="23" name="Text 21"/>
          <p:cNvSpPr/>
          <p:nvPr/>
        </p:nvSpPr>
        <p:spPr>
          <a:xfrm>
            <a:off x="7370064" y="2450592"/>
            <a:ext cx="3931920" cy="256032"/>
          </a:xfrm>
          <a:prstGeom prst="rect">
            <a:avLst/>
          </a:prstGeom>
          <a:noFill/>
          <a:ln/>
        </p:spPr>
        <p:txBody>
          <a:bodyPr wrap="square" lIns="0" tIns="0" rIns="0" bIns="0" rtlCol="0" anchor="ctr"/>
          <a:lstStyle/>
          <a:p>
            <a:pPr indent="0" marL="0">
              <a:buNone/>
            </a:pPr>
            <a:r>
              <a:rPr lang="en-US" sz="1350" b="1" dirty="0">
                <a:solidFill>
                  <a:srgbClr val="0F1620"/>
                </a:solidFill>
                <a:latin typeface="Calibri" pitchFamily="34" charset="0"/>
                <a:ea typeface="Calibri" pitchFamily="34" charset="-122"/>
                <a:cs typeface="Calibri" pitchFamily="34" charset="-120"/>
              </a:rPr>
              <a:t>Slower deploys</a:t>
            </a:r>
            <a:endParaRPr lang="en-US" sz="1350" dirty="0"/>
          </a:p>
        </p:txBody>
      </p:sp>
      <p:sp>
        <p:nvSpPr>
          <p:cNvPr id="24" name="Text 22"/>
          <p:cNvSpPr/>
          <p:nvPr/>
        </p:nvSpPr>
        <p:spPr>
          <a:xfrm>
            <a:off x="7370064" y="2724912"/>
            <a:ext cx="3931920" cy="512064"/>
          </a:xfrm>
          <a:prstGeom prst="rect">
            <a:avLst/>
          </a:prstGeom>
          <a:noFill/>
          <a:ln/>
        </p:spPr>
        <p:txBody>
          <a:bodyPr wrap="square" lIns="0" tIns="0" rIns="0" bIns="0" rtlCol="0" anchor="ctr"/>
          <a:lstStyle/>
          <a:p>
            <a:pPr indent="0" marL="0">
              <a:lnSpc>
                <a:spcPts val="1500"/>
              </a:lnSpc>
              <a:buNone/>
            </a:pPr>
            <a:r>
              <a:rPr lang="en-US" sz="1150" dirty="0">
                <a:solidFill>
                  <a:srgbClr val="6B7686"/>
                </a:solidFill>
                <a:latin typeface="Calibri" pitchFamily="34" charset="0"/>
                <a:ea typeface="Calibri" pitchFamily="34" charset="-122"/>
                <a:cs typeface="Calibri" pitchFamily="34" charset="-120"/>
              </a:rPr>
              <a:t>every field is validated, packaged, and deployed forever</a:t>
            </a:r>
            <a:endParaRPr lang="en-US" sz="1150" dirty="0"/>
          </a:p>
        </p:txBody>
      </p:sp>
      <p:sp>
        <p:nvSpPr>
          <p:cNvPr id="25" name="Text 23"/>
          <p:cNvSpPr/>
          <p:nvPr/>
        </p:nvSpPr>
        <p:spPr>
          <a:xfrm>
            <a:off x="7370064" y="3346704"/>
            <a:ext cx="3931920" cy="256032"/>
          </a:xfrm>
          <a:prstGeom prst="rect">
            <a:avLst/>
          </a:prstGeom>
          <a:noFill/>
          <a:ln/>
        </p:spPr>
        <p:txBody>
          <a:bodyPr wrap="square" lIns="0" tIns="0" rIns="0" bIns="0" rtlCol="0" anchor="ctr"/>
          <a:lstStyle/>
          <a:p>
            <a:pPr indent="0" marL="0">
              <a:buNone/>
            </a:pPr>
            <a:r>
              <a:rPr lang="en-US" sz="1350" b="1" dirty="0">
                <a:solidFill>
                  <a:srgbClr val="0F1620"/>
                </a:solidFill>
                <a:latin typeface="Calibri" pitchFamily="34" charset="0"/>
                <a:ea typeface="Calibri" pitchFamily="34" charset="-122"/>
                <a:cs typeface="Calibri" pitchFamily="34" charset="-120"/>
              </a:rPr>
              <a:t>Longer test runs</a:t>
            </a:r>
            <a:endParaRPr lang="en-US" sz="1350" dirty="0"/>
          </a:p>
        </p:txBody>
      </p:sp>
      <p:sp>
        <p:nvSpPr>
          <p:cNvPr id="26" name="Text 24"/>
          <p:cNvSpPr/>
          <p:nvPr/>
        </p:nvSpPr>
        <p:spPr>
          <a:xfrm>
            <a:off x="7370064" y="3621024"/>
            <a:ext cx="3931920" cy="512064"/>
          </a:xfrm>
          <a:prstGeom prst="rect">
            <a:avLst/>
          </a:prstGeom>
          <a:noFill/>
          <a:ln/>
        </p:spPr>
        <p:txBody>
          <a:bodyPr wrap="square" lIns="0" tIns="0" rIns="0" bIns="0" rtlCol="0" anchor="ctr"/>
          <a:lstStyle/>
          <a:p>
            <a:pPr indent="0" marL="0">
              <a:lnSpc>
                <a:spcPts val="1500"/>
              </a:lnSpc>
              <a:buNone/>
            </a:pPr>
            <a:r>
              <a:rPr lang="en-US" sz="1150" dirty="0">
                <a:solidFill>
                  <a:srgbClr val="6B7686"/>
                </a:solidFill>
                <a:latin typeface="Calibri" pitchFamily="34" charset="0"/>
                <a:ea typeface="Calibri" pitchFamily="34" charset="-122"/>
                <a:cs typeface="Calibri" pitchFamily="34" charset="-120"/>
              </a:rPr>
              <a:t>dead Apex still needs coverage to deploy anything</a:t>
            </a:r>
            <a:endParaRPr lang="en-US" sz="1150" dirty="0"/>
          </a:p>
        </p:txBody>
      </p:sp>
      <p:sp>
        <p:nvSpPr>
          <p:cNvPr id="27" name="Text 25"/>
          <p:cNvSpPr/>
          <p:nvPr/>
        </p:nvSpPr>
        <p:spPr>
          <a:xfrm>
            <a:off x="7370064" y="4242816"/>
            <a:ext cx="3931920" cy="256032"/>
          </a:xfrm>
          <a:prstGeom prst="rect">
            <a:avLst/>
          </a:prstGeom>
          <a:noFill/>
          <a:ln/>
        </p:spPr>
        <p:txBody>
          <a:bodyPr wrap="square" lIns="0" tIns="0" rIns="0" bIns="0" rtlCol="0" anchor="ctr"/>
          <a:lstStyle/>
          <a:p>
            <a:pPr indent="0" marL="0">
              <a:buNone/>
            </a:pPr>
            <a:r>
              <a:rPr lang="en-US" sz="1350" b="1" dirty="0">
                <a:solidFill>
                  <a:srgbClr val="0F1620"/>
                </a:solidFill>
                <a:latin typeface="Calibri" pitchFamily="34" charset="0"/>
                <a:ea typeface="Calibri" pitchFamily="34" charset="-122"/>
                <a:cs typeface="Calibri" pitchFamily="34" charset="-120"/>
              </a:rPr>
              <a:t>Onboarding friction</a:t>
            </a:r>
            <a:endParaRPr lang="en-US" sz="1350" dirty="0"/>
          </a:p>
        </p:txBody>
      </p:sp>
      <p:sp>
        <p:nvSpPr>
          <p:cNvPr id="28" name="Text 26"/>
          <p:cNvSpPr/>
          <p:nvPr/>
        </p:nvSpPr>
        <p:spPr>
          <a:xfrm>
            <a:off x="7370064" y="4517136"/>
            <a:ext cx="3931920" cy="512064"/>
          </a:xfrm>
          <a:prstGeom prst="rect">
            <a:avLst/>
          </a:prstGeom>
          <a:noFill/>
          <a:ln/>
        </p:spPr>
        <p:txBody>
          <a:bodyPr wrap="square" lIns="0" tIns="0" rIns="0" bIns="0" rtlCol="0" anchor="ctr"/>
          <a:lstStyle/>
          <a:p>
            <a:pPr indent="0" marL="0">
              <a:lnSpc>
                <a:spcPts val="1500"/>
              </a:lnSpc>
              <a:buNone/>
            </a:pPr>
            <a:r>
              <a:rPr lang="en-US" sz="1150" dirty="0">
                <a:solidFill>
                  <a:srgbClr val="6B7686"/>
                </a:solidFill>
                <a:latin typeface="Calibri" pitchFamily="34" charset="0"/>
                <a:ea typeface="Calibri" pitchFamily="34" charset="-122"/>
                <a:cs typeface="Calibri" pitchFamily="34" charset="-120"/>
              </a:rPr>
              <a:t>new engineers cannot tell live from abandoned</a:t>
            </a:r>
            <a:endParaRPr lang="en-US" sz="1150" dirty="0"/>
          </a:p>
        </p:txBody>
      </p:sp>
      <p:sp>
        <p:nvSpPr>
          <p:cNvPr id="29" name="Text 27"/>
          <p:cNvSpPr/>
          <p:nvPr/>
        </p:nvSpPr>
        <p:spPr>
          <a:xfrm>
            <a:off x="7370064" y="5138928"/>
            <a:ext cx="3931920" cy="256032"/>
          </a:xfrm>
          <a:prstGeom prst="rect">
            <a:avLst/>
          </a:prstGeom>
          <a:noFill/>
          <a:ln/>
        </p:spPr>
        <p:txBody>
          <a:bodyPr wrap="square" lIns="0" tIns="0" rIns="0" bIns="0" rtlCol="0" anchor="ctr"/>
          <a:lstStyle/>
          <a:p>
            <a:pPr indent="0" marL="0">
              <a:buNone/>
            </a:pPr>
            <a:r>
              <a:rPr lang="en-US" sz="1350" b="1" dirty="0">
                <a:solidFill>
                  <a:srgbClr val="0F1620"/>
                </a:solidFill>
                <a:latin typeface="Calibri" pitchFamily="34" charset="0"/>
                <a:ea typeface="Calibri" pitchFamily="34" charset="-122"/>
                <a:cs typeface="Calibri" pitchFamily="34" charset="-120"/>
              </a:rPr>
              <a:t>Risk concentration</a:t>
            </a:r>
            <a:endParaRPr lang="en-US" sz="1350" dirty="0"/>
          </a:p>
        </p:txBody>
      </p:sp>
      <p:sp>
        <p:nvSpPr>
          <p:cNvPr id="30" name="Text 28"/>
          <p:cNvSpPr/>
          <p:nvPr/>
        </p:nvSpPr>
        <p:spPr>
          <a:xfrm>
            <a:off x="7370064" y="5413248"/>
            <a:ext cx="3931920" cy="512064"/>
          </a:xfrm>
          <a:prstGeom prst="rect">
            <a:avLst/>
          </a:prstGeom>
          <a:noFill/>
          <a:ln/>
        </p:spPr>
        <p:txBody>
          <a:bodyPr wrap="square" lIns="0" tIns="0" rIns="0" bIns="0" rtlCol="0" anchor="ctr"/>
          <a:lstStyle/>
          <a:p>
            <a:pPr indent="0" marL="0">
              <a:lnSpc>
                <a:spcPts val="1500"/>
              </a:lnSpc>
              <a:buNone/>
            </a:pPr>
            <a:r>
              <a:rPr lang="en-US" sz="1150" dirty="0">
                <a:solidFill>
                  <a:srgbClr val="6B7686"/>
                </a:solidFill>
                <a:latin typeface="Calibri" pitchFamily="34" charset="0"/>
                <a:ea typeface="Calibri" pitchFamily="34" charset="-122"/>
                <a:cs typeface="Calibri" pitchFamily="34" charset="-120"/>
              </a:rPr>
              <a:t>nobody will delete it, because nobody can prove it is safe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11411712" y="6455664"/>
            <a:ext cx="365760" cy="274320"/>
          </a:xfrm>
          <a:prstGeom prst="rect">
            <a:avLst/>
          </a:prstGeom>
          <a:noFill/>
          <a:ln/>
        </p:spPr>
        <p:txBody>
          <a:bodyPr wrap="square" lIns="0" tIns="0" rIns="0" bIns="0" rtlCol="0" anchor="ctr"/>
          <a:lstStyle/>
          <a:p>
            <a:pPr algn="r" indent="0" marL="0">
              <a:buNone/>
            </a:pPr>
            <a:r>
              <a:rPr lang="en-US" sz="1000" dirty="0">
                <a:solidFill>
                  <a:srgbClr val="76849A"/>
                </a:solidFill>
                <a:latin typeface="Calibri" pitchFamily="34" charset="0"/>
                <a:ea typeface="Calibri" pitchFamily="34" charset="-122"/>
                <a:cs typeface="Calibri" pitchFamily="34" charset="-120"/>
              </a:rPr>
              <a:t>3</a:t>
            </a:r>
            <a:endParaRPr lang="en-US" sz="1000" dirty="0"/>
          </a:p>
        </p:txBody>
      </p:sp>
      <p:sp>
        <p:nvSpPr>
          <p:cNvPr id="3" name="Text 1"/>
          <p:cNvSpPr/>
          <p:nvPr/>
        </p:nvSpPr>
        <p:spPr>
          <a:xfrm>
            <a:off x="566928" y="402336"/>
            <a:ext cx="11055096" cy="713232"/>
          </a:xfrm>
          <a:prstGeom prst="rect">
            <a:avLst/>
          </a:prstGeom>
          <a:noFill/>
          <a:ln/>
        </p:spPr>
        <p:txBody>
          <a:bodyPr wrap="square" lIns="0" tIns="0" rIns="0" bIns="0" rtlCol="0" anchor="ctr"/>
          <a:lstStyle/>
          <a:p>
            <a:pPr indent="0" marL="0">
              <a:buNone/>
            </a:pPr>
            <a:r>
              <a:rPr lang="en-US" sz="3400" b="1" dirty="0">
                <a:solidFill>
                  <a:srgbClr val="F2F5F8"/>
                </a:solidFill>
                <a:latin typeface="Arial" pitchFamily="34" charset="0"/>
                <a:ea typeface="Arial" pitchFamily="34" charset="-122"/>
                <a:cs typeface="Arial" pitchFamily="34" charset="-120"/>
              </a:rPr>
              <a:t>Why this is hard, and why tools fail at it</a:t>
            </a:r>
            <a:endParaRPr lang="en-US" sz="3400" dirty="0"/>
          </a:p>
        </p:txBody>
      </p:sp>
      <p:sp>
        <p:nvSpPr>
          <p:cNvPr id="4" name="Text 2"/>
          <p:cNvSpPr/>
          <p:nvPr/>
        </p:nvSpPr>
        <p:spPr>
          <a:xfrm>
            <a:off x="566928" y="1115568"/>
            <a:ext cx="11055096" cy="402336"/>
          </a:xfrm>
          <a:prstGeom prst="rect">
            <a:avLst/>
          </a:prstGeom>
          <a:noFill/>
          <a:ln/>
        </p:spPr>
        <p:txBody>
          <a:bodyPr wrap="square" lIns="0" tIns="0" rIns="0" bIns="0" rtlCol="0" anchor="ctr"/>
          <a:lstStyle/>
          <a:p>
            <a:pPr indent="0" marL="0">
              <a:buNone/>
            </a:pPr>
            <a:r>
              <a:rPr lang="en-US" sz="1450" dirty="0">
                <a:solidFill>
                  <a:srgbClr val="A8B4C4"/>
                </a:solidFill>
                <a:latin typeface="Calibri" pitchFamily="34" charset="0"/>
                <a:ea typeface="Calibri" pitchFamily="34" charset="-122"/>
                <a:cs typeface="Calibri" pitchFamily="34" charset="-120"/>
              </a:rPr>
              <a:t>The two failure directions do not cost the same. Everything follows from that.</a:t>
            </a:r>
            <a:endParaRPr lang="en-US" sz="1450" dirty="0"/>
          </a:p>
        </p:txBody>
      </p:sp>
      <p:sp>
        <p:nvSpPr>
          <p:cNvPr id="5" name="Shape 3"/>
          <p:cNvSpPr/>
          <p:nvPr/>
        </p:nvSpPr>
        <p:spPr>
          <a:xfrm>
            <a:off x="566928" y="1920240"/>
            <a:ext cx="5394960" cy="2286000"/>
          </a:xfrm>
          <a:prstGeom prst="roundRect">
            <a:avLst>
              <a:gd name="adj" fmla="val 2400"/>
            </a:avLst>
          </a:prstGeom>
          <a:solidFill>
            <a:srgbClr val="1A2430"/>
          </a:solidFill>
          <a:ln w="12700">
            <a:solidFill>
              <a:srgbClr val="F0555A"/>
            </a:solidFill>
            <a:prstDash val="solid"/>
          </a:ln>
        </p:spPr>
      </p:sp>
      <p:sp>
        <p:nvSpPr>
          <p:cNvPr id="6" name="Text 4"/>
          <p:cNvSpPr/>
          <p:nvPr/>
        </p:nvSpPr>
        <p:spPr>
          <a:xfrm>
            <a:off x="950976" y="2212848"/>
            <a:ext cx="4572000" cy="329184"/>
          </a:xfrm>
          <a:prstGeom prst="rect">
            <a:avLst/>
          </a:prstGeom>
          <a:noFill/>
          <a:ln/>
        </p:spPr>
        <p:txBody>
          <a:bodyPr wrap="square" lIns="0" tIns="0" rIns="0" bIns="0" rtlCol="0" anchor="ctr"/>
          <a:lstStyle/>
          <a:p>
            <a:pPr indent="0" marL="0">
              <a:buNone/>
            </a:pPr>
            <a:r>
              <a:rPr lang="en-US" sz="1900" b="1" dirty="0">
                <a:solidFill>
                  <a:srgbClr val="F0555A"/>
                </a:solidFill>
                <a:latin typeface="Arial" pitchFamily="34" charset="0"/>
                <a:ea typeface="Arial" pitchFamily="34" charset="-122"/>
                <a:cs typeface="Arial" pitchFamily="34" charset="-120"/>
              </a:rPr>
              <a:t>A wrong "unused"</a:t>
            </a:r>
            <a:endParaRPr lang="en-US" sz="1900" dirty="0"/>
          </a:p>
        </p:txBody>
      </p:sp>
      <p:sp>
        <p:nvSpPr>
          <p:cNvPr id="7" name="Text 5"/>
          <p:cNvSpPr/>
          <p:nvPr/>
        </p:nvSpPr>
        <p:spPr>
          <a:xfrm>
            <a:off x="950976" y="2651760"/>
            <a:ext cx="4626864" cy="1188720"/>
          </a:xfrm>
          <a:prstGeom prst="rect">
            <a:avLst/>
          </a:prstGeom>
          <a:noFill/>
          <a:ln/>
        </p:spPr>
        <p:txBody>
          <a:bodyPr wrap="square" lIns="0" tIns="0" rIns="0" bIns="0" rtlCol="0" anchor="ctr"/>
          <a:lstStyle/>
          <a:p>
            <a:pPr indent="0" marL="0">
              <a:lnSpc>
                <a:spcPts val="2000"/>
              </a:lnSpc>
              <a:buNone/>
            </a:pPr>
            <a:r>
              <a:rPr lang="en-US" sz="1400" dirty="0">
                <a:solidFill>
                  <a:srgbClr val="A8B4C4"/>
                </a:solidFill>
                <a:latin typeface="Calibri" pitchFamily="34" charset="0"/>
                <a:ea typeface="Calibri" pitchFamily="34" charset="-122"/>
                <a:cs typeface="Calibri" pitchFamily="34" charset="-120"/>
              </a:rPr>
              <a:t>Someone deletes a live field. Production breaks. Data is gone after 15 days. Trust in the tool is gone permanently.</a:t>
            </a:r>
            <a:endParaRPr lang="en-US" sz="1400" dirty="0"/>
          </a:p>
        </p:txBody>
      </p:sp>
      <p:sp>
        <p:nvSpPr>
          <p:cNvPr id="8" name="Shape 6"/>
          <p:cNvSpPr/>
          <p:nvPr/>
        </p:nvSpPr>
        <p:spPr>
          <a:xfrm>
            <a:off x="6272784" y="1920240"/>
            <a:ext cx="5349240" cy="2286000"/>
          </a:xfrm>
          <a:prstGeom prst="roundRect">
            <a:avLst>
              <a:gd name="adj" fmla="val 2400"/>
            </a:avLst>
          </a:prstGeom>
          <a:solidFill>
            <a:srgbClr val="1A2430"/>
          </a:solidFill>
          <a:ln w="12700">
            <a:solidFill>
              <a:srgbClr val="32435A"/>
            </a:solidFill>
            <a:prstDash val="solid"/>
          </a:ln>
        </p:spPr>
      </p:sp>
      <p:sp>
        <p:nvSpPr>
          <p:cNvPr id="9" name="Text 7"/>
          <p:cNvSpPr/>
          <p:nvPr/>
        </p:nvSpPr>
        <p:spPr>
          <a:xfrm>
            <a:off x="6656832" y="2212848"/>
            <a:ext cx="4572000" cy="329184"/>
          </a:xfrm>
          <a:prstGeom prst="rect">
            <a:avLst/>
          </a:prstGeom>
          <a:noFill/>
          <a:ln/>
        </p:spPr>
        <p:txBody>
          <a:bodyPr wrap="square" lIns="0" tIns="0" rIns="0" bIns="0" rtlCol="0" anchor="ctr"/>
          <a:lstStyle/>
          <a:p>
            <a:pPr indent="0" marL="0">
              <a:buNone/>
            </a:pPr>
            <a:r>
              <a:rPr lang="en-US" sz="1900" b="1" dirty="0">
                <a:solidFill>
                  <a:srgbClr val="3FBF92"/>
                </a:solidFill>
                <a:latin typeface="Arial" pitchFamily="34" charset="0"/>
                <a:ea typeface="Arial" pitchFamily="34" charset="-122"/>
                <a:cs typeface="Arial" pitchFamily="34" charset="-120"/>
              </a:rPr>
              <a:t>A wrong "needs review"</a:t>
            </a:r>
            <a:endParaRPr lang="en-US" sz="1900" dirty="0"/>
          </a:p>
        </p:txBody>
      </p:sp>
      <p:sp>
        <p:nvSpPr>
          <p:cNvPr id="10" name="Text 8"/>
          <p:cNvSpPr/>
          <p:nvPr/>
        </p:nvSpPr>
        <p:spPr>
          <a:xfrm>
            <a:off x="6656832" y="2651760"/>
            <a:ext cx="4572000" cy="1188720"/>
          </a:xfrm>
          <a:prstGeom prst="rect">
            <a:avLst/>
          </a:prstGeom>
          <a:noFill/>
          <a:ln/>
        </p:spPr>
        <p:txBody>
          <a:bodyPr wrap="square" lIns="0" tIns="0" rIns="0" bIns="0" rtlCol="0" anchor="ctr"/>
          <a:lstStyle/>
          <a:p>
            <a:pPr indent="0" marL="0">
              <a:lnSpc>
                <a:spcPts val="2000"/>
              </a:lnSpc>
              <a:buNone/>
            </a:pPr>
            <a:r>
              <a:rPr lang="en-US" sz="1400" dirty="0">
                <a:solidFill>
                  <a:srgbClr val="A8B4C4"/>
                </a:solidFill>
                <a:latin typeface="Calibri" pitchFamily="34" charset="0"/>
                <a:ea typeface="Calibri" pitchFamily="34" charset="-122"/>
                <a:cs typeface="Calibri" pitchFamily="34" charset="-120"/>
              </a:rPr>
              <a:t>An engineer spends five minutes reading the evidence and moves on. Nothing breaks. Nothing is lost.</a:t>
            </a:r>
            <a:endParaRPr lang="en-US" sz="1400" dirty="0"/>
          </a:p>
        </p:txBody>
      </p:sp>
      <p:sp>
        <p:nvSpPr>
          <p:cNvPr id="11" name="Shape 9"/>
          <p:cNvSpPr/>
          <p:nvPr/>
        </p:nvSpPr>
        <p:spPr>
          <a:xfrm>
            <a:off x="566928" y="4498848"/>
            <a:ext cx="11055096" cy="1481328"/>
          </a:xfrm>
          <a:prstGeom prst="roundRect">
            <a:avLst>
              <a:gd name="adj" fmla="val 3704"/>
            </a:avLst>
          </a:prstGeom>
          <a:solidFill>
            <a:srgbClr val="1E2A38"/>
          </a:solidFill>
          <a:ln w="12700">
            <a:solidFill>
              <a:srgbClr val="F0A030"/>
            </a:solidFill>
            <a:prstDash val="solid"/>
          </a:ln>
        </p:spPr>
      </p:sp>
      <p:sp>
        <p:nvSpPr>
          <p:cNvPr id="12" name="Text 10"/>
          <p:cNvSpPr/>
          <p:nvPr/>
        </p:nvSpPr>
        <p:spPr>
          <a:xfrm>
            <a:off x="950976" y="4718304"/>
            <a:ext cx="3108960" cy="274320"/>
          </a:xfrm>
          <a:prstGeom prst="rect">
            <a:avLst/>
          </a:prstGeom>
          <a:noFill/>
          <a:ln/>
        </p:spPr>
        <p:txBody>
          <a:bodyPr wrap="square" lIns="0" tIns="0" rIns="0" bIns="0" rtlCol="0" anchor="ctr"/>
          <a:lstStyle/>
          <a:p>
            <a:pPr indent="0" marL="0">
              <a:buNone/>
            </a:pPr>
            <a:r>
              <a:rPr lang="en-US" sz="1250" b="1" spc="100" kern="0" dirty="0">
                <a:solidFill>
                  <a:srgbClr val="F0A030"/>
                </a:solidFill>
                <a:latin typeface="Arial" pitchFamily="34" charset="0"/>
                <a:ea typeface="Arial" pitchFamily="34" charset="-122"/>
                <a:cs typeface="Arial" pitchFamily="34" charset="-120"/>
              </a:rPr>
              <a:t>The governing rule</a:t>
            </a:r>
            <a:endParaRPr lang="en-US" sz="1250" dirty="0"/>
          </a:p>
        </p:txBody>
      </p:sp>
      <p:sp>
        <p:nvSpPr>
          <p:cNvPr id="13" name="Text 11"/>
          <p:cNvSpPr/>
          <p:nvPr/>
        </p:nvSpPr>
        <p:spPr>
          <a:xfrm>
            <a:off x="950976" y="5029200"/>
            <a:ext cx="10241280" cy="731520"/>
          </a:xfrm>
          <a:prstGeom prst="rect">
            <a:avLst/>
          </a:prstGeom>
          <a:noFill/>
          <a:ln/>
        </p:spPr>
        <p:txBody>
          <a:bodyPr wrap="square" lIns="0" tIns="0" rIns="0" bIns="0" rtlCol="0" anchor="ctr"/>
          <a:lstStyle/>
          <a:p>
            <a:pPr indent="0" marL="0">
              <a:lnSpc>
                <a:spcPts val="2100"/>
              </a:lnSpc>
              <a:buNone/>
            </a:pPr>
            <a:r>
              <a:rPr lang="en-US" sz="1500" dirty="0">
                <a:solidFill>
                  <a:srgbClr val="F2F5F8"/>
                </a:solidFill>
                <a:latin typeface="Calibri" pitchFamily="34" charset="0"/>
                <a:ea typeface="Calibri" pitchFamily="34" charset="-122"/>
                <a:cs typeface="Calibri" pitchFamily="34" charset="-120"/>
              </a:rPr>
              <a:t>Every ambiguity resolves toward review. The product is deliberately biased against confidence — and that bias is what makes its confident answers worth acting 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11712" y="6455664"/>
            <a:ext cx="365760" cy="274320"/>
          </a:xfrm>
          <a:prstGeom prst="rect">
            <a:avLst/>
          </a:prstGeom>
          <a:noFill/>
          <a:ln/>
        </p:spPr>
        <p:txBody>
          <a:bodyPr wrap="square" lIns="0" tIns="0" rIns="0" bIns="0" rtlCol="0" anchor="ctr"/>
          <a:lstStyle/>
          <a:p>
            <a:pPr algn="r" indent="0" marL="0">
              <a:buNone/>
            </a:pPr>
            <a:r>
              <a:rPr lang="en-US" sz="1000" dirty="0">
                <a:solidFill>
                  <a:srgbClr val="A0A8B4"/>
                </a:solidFill>
                <a:latin typeface="Calibri" pitchFamily="34" charset="0"/>
                <a:ea typeface="Calibri" pitchFamily="34" charset="-122"/>
                <a:cs typeface="Calibri" pitchFamily="34" charset="-120"/>
              </a:rPr>
              <a:t>4</a:t>
            </a:r>
            <a:endParaRPr lang="en-US" sz="1000" dirty="0"/>
          </a:p>
        </p:txBody>
      </p:sp>
      <p:sp>
        <p:nvSpPr>
          <p:cNvPr id="3" name="Text 1"/>
          <p:cNvSpPr/>
          <p:nvPr/>
        </p:nvSpPr>
        <p:spPr>
          <a:xfrm>
            <a:off x="566928" y="402336"/>
            <a:ext cx="11055096" cy="713232"/>
          </a:xfrm>
          <a:prstGeom prst="rect">
            <a:avLst/>
          </a:prstGeom>
          <a:noFill/>
          <a:ln/>
        </p:spPr>
        <p:txBody>
          <a:bodyPr wrap="square" lIns="0" tIns="0" rIns="0" bIns="0" rtlCol="0" anchor="ctr"/>
          <a:lstStyle/>
          <a:p>
            <a:pPr indent="0" marL="0">
              <a:buNone/>
            </a:pPr>
            <a:r>
              <a:rPr lang="en-US" sz="3400" b="1" dirty="0">
                <a:solidFill>
                  <a:srgbClr val="0F1620"/>
                </a:solidFill>
                <a:latin typeface="Arial" pitchFamily="34" charset="0"/>
                <a:ea typeface="Arial" pitchFamily="34" charset="-122"/>
                <a:cs typeface="Arial" pitchFamily="34" charset="-120"/>
              </a:rPr>
              <a:t>The definition that decides everything</a:t>
            </a:r>
            <a:endParaRPr lang="en-US" sz="3400" dirty="0"/>
          </a:p>
        </p:txBody>
      </p:sp>
      <p:sp>
        <p:nvSpPr>
          <p:cNvPr id="4" name="Text 2"/>
          <p:cNvSpPr/>
          <p:nvPr/>
        </p:nvSpPr>
        <p:spPr>
          <a:xfrm>
            <a:off x="566928" y="1115568"/>
            <a:ext cx="11055096" cy="402336"/>
          </a:xfrm>
          <a:prstGeom prst="rect">
            <a:avLst/>
          </a:prstGeom>
          <a:noFill/>
          <a:ln/>
        </p:spPr>
        <p:txBody>
          <a:bodyPr wrap="square" lIns="0" tIns="0" rIns="0" bIns="0" rtlCol="0" anchor="ctr"/>
          <a:lstStyle/>
          <a:p>
            <a:pPr indent="0" marL="0">
              <a:buNone/>
            </a:pPr>
            <a:r>
              <a:rPr lang="en-US" sz="1450" dirty="0">
                <a:solidFill>
                  <a:srgbClr val="55606E"/>
                </a:solidFill>
                <a:latin typeface="Calibri" pitchFamily="34" charset="0"/>
                <a:ea typeface="Calibri" pitchFamily="34" charset="-122"/>
                <a:cs typeface="Calibri" pitchFamily="34" charset="-120"/>
              </a:rPr>
              <a:t>"Used" means a business process touches it. Not that something mentions it.</a:t>
            </a:r>
            <a:endParaRPr lang="en-US" sz="1450" dirty="0"/>
          </a:p>
        </p:txBody>
      </p:sp>
      <p:sp>
        <p:nvSpPr>
          <p:cNvPr id="5" name="Shape 3"/>
          <p:cNvSpPr/>
          <p:nvPr/>
        </p:nvSpPr>
        <p:spPr>
          <a:xfrm>
            <a:off x="566928" y="1847088"/>
            <a:ext cx="5440680" cy="3977640"/>
          </a:xfrm>
          <a:prstGeom prst="roundRect">
            <a:avLst>
              <a:gd name="adj" fmla="val 1379"/>
            </a:avLst>
          </a:prstGeom>
          <a:solidFill>
            <a:srgbClr val="F2FAF6"/>
          </a:solidFill>
          <a:ln w="12700">
            <a:solidFill>
              <a:srgbClr val="BFE6D4"/>
            </a:solidFill>
            <a:prstDash val="solid"/>
          </a:ln>
        </p:spPr>
      </p:sp>
      <p:sp>
        <p:nvSpPr>
          <p:cNvPr id="6" name="Text 4"/>
          <p:cNvSpPr/>
          <p:nvPr/>
        </p:nvSpPr>
        <p:spPr>
          <a:xfrm>
            <a:off x="932688" y="2103120"/>
            <a:ext cx="4206240" cy="310896"/>
          </a:xfrm>
          <a:prstGeom prst="rect">
            <a:avLst/>
          </a:prstGeom>
          <a:noFill/>
          <a:ln/>
        </p:spPr>
        <p:txBody>
          <a:bodyPr wrap="square" lIns="0" tIns="0" rIns="0" bIns="0" rtlCol="0" anchor="ctr"/>
          <a:lstStyle/>
          <a:p>
            <a:pPr indent="0" marL="0">
              <a:buNone/>
            </a:pPr>
            <a:r>
              <a:rPr lang="en-US" sz="1600" b="1" dirty="0">
                <a:solidFill>
                  <a:srgbClr val="1B7A55"/>
                </a:solidFill>
                <a:latin typeface="Arial" pitchFamily="34" charset="0"/>
                <a:ea typeface="Arial" pitchFamily="34" charset="-122"/>
                <a:cs typeface="Arial" pitchFamily="34" charset="-120"/>
              </a:rPr>
              <a:t>Counts as use</a:t>
            </a:r>
            <a:endParaRPr lang="en-US" sz="1600" dirty="0"/>
          </a:p>
        </p:txBody>
      </p:sp>
      <p:sp>
        <p:nvSpPr>
          <p:cNvPr id="7" name="Text 5"/>
          <p:cNvSpPr/>
          <p:nvPr/>
        </p:nvSpPr>
        <p:spPr>
          <a:xfrm>
            <a:off x="932688" y="2523744"/>
            <a:ext cx="4663440" cy="329184"/>
          </a:xfrm>
          <a:prstGeom prst="rect">
            <a:avLst/>
          </a:prstGeom>
          <a:noFill/>
          <a:ln/>
        </p:spPr>
        <p:txBody>
          <a:bodyPr wrap="square" lIns="0" tIns="0" rIns="0" bIns="0" rtlCol="0" anchor="ctr"/>
          <a:lstStyle/>
          <a:p>
            <a:pPr marL="342900" indent="-342900">
              <a:buSzPct val="100000"/>
              <a:buChar char="•"/>
            </a:pPr>
            <a:r>
              <a:rPr lang="en-US" sz="1250" dirty="0">
                <a:solidFill>
                  <a:srgbClr val="2B3A46"/>
                </a:solidFill>
                <a:latin typeface="Calibri" pitchFamily="34" charset="0"/>
                <a:ea typeface="Calibri" pitchFamily="34" charset="-122"/>
                <a:cs typeface="Calibri" pitchFamily="34" charset="-120"/>
              </a:rPr>
              <a:t>Apex, triggers, invocable methods</a:t>
            </a:r>
            <a:endParaRPr lang="en-US" sz="1250" dirty="0"/>
          </a:p>
        </p:txBody>
      </p:sp>
      <p:sp>
        <p:nvSpPr>
          <p:cNvPr id="8" name="Text 6"/>
          <p:cNvSpPr/>
          <p:nvPr/>
        </p:nvSpPr>
        <p:spPr>
          <a:xfrm>
            <a:off x="932688" y="2926080"/>
            <a:ext cx="4663440" cy="329184"/>
          </a:xfrm>
          <a:prstGeom prst="rect">
            <a:avLst/>
          </a:prstGeom>
          <a:noFill/>
          <a:ln/>
        </p:spPr>
        <p:txBody>
          <a:bodyPr wrap="square" lIns="0" tIns="0" rIns="0" bIns="0" rtlCol="0" anchor="ctr"/>
          <a:lstStyle/>
          <a:p>
            <a:pPr marL="342900" indent="-342900">
              <a:buSzPct val="100000"/>
              <a:buChar char="•"/>
            </a:pPr>
            <a:r>
              <a:rPr lang="en-US" sz="1250" dirty="0">
                <a:solidFill>
                  <a:srgbClr val="2B3A46"/>
                </a:solidFill>
                <a:latin typeface="Calibri" pitchFamily="34" charset="0"/>
                <a:ea typeface="Calibri" pitchFamily="34" charset="-122"/>
                <a:cs typeface="Calibri" pitchFamily="34" charset="-120"/>
              </a:rPr>
              <a:t>Flows, workflow rules, approval processes</a:t>
            </a:r>
            <a:endParaRPr lang="en-US" sz="1250" dirty="0"/>
          </a:p>
        </p:txBody>
      </p:sp>
      <p:sp>
        <p:nvSpPr>
          <p:cNvPr id="9" name="Text 7"/>
          <p:cNvSpPr/>
          <p:nvPr/>
        </p:nvSpPr>
        <p:spPr>
          <a:xfrm>
            <a:off x="932688" y="3328416"/>
            <a:ext cx="4663440" cy="329184"/>
          </a:xfrm>
          <a:prstGeom prst="rect">
            <a:avLst/>
          </a:prstGeom>
          <a:noFill/>
          <a:ln/>
        </p:spPr>
        <p:txBody>
          <a:bodyPr wrap="square" lIns="0" tIns="0" rIns="0" bIns="0" rtlCol="0" anchor="ctr"/>
          <a:lstStyle/>
          <a:p>
            <a:pPr marL="342900" indent="-342900">
              <a:buSzPct val="100000"/>
              <a:buChar char="•"/>
            </a:pPr>
            <a:r>
              <a:rPr lang="en-US" sz="1250" dirty="0">
                <a:solidFill>
                  <a:srgbClr val="2B3A46"/>
                </a:solidFill>
                <a:latin typeface="Calibri" pitchFamily="34" charset="0"/>
                <a:ea typeface="Calibri" pitchFamily="34" charset="-122"/>
                <a:cs typeface="Calibri" pitchFamily="34" charset="-120"/>
              </a:rPr>
              <a:t>Validation rules and formulas</a:t>
            </a:r>
            <a:endParaRPr lang="en-US" sz="1250" dirty="0"/>
          </a:p>
        </p:txBody>
      </p:sp>
      <p:sp>
        <p:nvSpPr>
          <p:cNvPr id="10" name="Text 8"/>
          <p:cNvSpPr/>
          <p:nvPr/>
        </p:nvSpPr>
        <p:spPr>
          <a:xfrm>
            <a:off x="932688" y="3730752"/>
            <a:ext cx="4663440" cy="329184"/>
          </a:xfrm>
          <a:prstGeom prst="rect">
            <a:avLst/>
          </a:prstGeom>
          <a:noFill/>
          <a:ln/>
        </p:spPr>
        <p:txBody>
          <a:bodyPr wrap="square" lIns="0" tIns="0" rIns="0" bIns="0" rtlCol="0" anchor="ctr"/>
          <a:lstStyle/>
          <a:p>
            <a:pPr marL="342900" indent="-342900">
              <a:buSzPct val="100000"/>
              <a:buChar char="•"/>
            </a:pPr>
            <a:r>
              <a:rPr lang="en-US" sz="1250" dirty="0">
                <a:solidFill>
                  <a:srgbClr val="2B3A46"/>
                </a:solidFill>
                <a:latin typeface="Calibri" pitchFamily="34" charset="0"/>
                <a:ea typeface="Calibri" pitchFamily="34" charset="-122"/>
                <a:cs typeface="Calibri" pitchFamily="34" charset="-120"/>
              </a:rPr>
              <a:t>Reports, dashboards, list views</a:t>
            </a:r>
            <a:endParaRPr lang="en-US" sz="1250" dirty="0"/>
          </a:p>
        </p:txBody>
      </p:sp>
      <p:sp>
        <p:nvSpPr>
          <p:cNvPr id="11" name="Text 9"/>
          <p:cNvSpPr/>
          <p:nvPr/>
        </p:nvSpPr>
        <p:spPr>
          <a:xfrm>
            <a:off x="932688" y="4133088"/>
            <a:ext cx="4663440" cy="329184"/>
          </a:xfrm>
          <a:prstGeom prst="rect">
            <a:avLst/>
          </a:prstGeom>
          <a:noFill/>
          <a:ln/>
        </p:spPr>
        <p:txBody>
          <a:bodyPr wrap="square" lIns="0" tIns="0" rIns="0" bIns="0" rtlCol="0" anchor="ctr"/>
          <a:lstStyle/>
          <a:p>
            <a:pPr marL="342900" indent="-342900">
              <a:buSzPct val="100000"/>
              <a:buChar char="•"/>
            </a:pPr>
            <a:r>
              <a:rPr lang="en-US" sz="1250" dirty="0">
                <a:solidFill>
                  <a:srgbClr val="2B3A46"/>
                </a:solidFill>
                <a:latin typeface="Calibri" pitchFamily="34" charset="0"/>
                <a:ea typeface="Calibri" pitchFamily="34" charset="-122"/>
                <a:cs typeface="Calibri" pitchFamily="34" charset="-120"/>
              </a:rPr>
              <a:t>LWC, Aura, Visualforce</a:t>
            </a:r>
            <a:endParaRPr lang="en-US" sz="1250" dirty="0"/>
          </a:p>
        </p:txBody>
      </p:sp>
      <p:sp>
        <p:nvSpPr>
          <p:cNvPr id="12" name="Text 10"/>
          <p:cNvSpPr/>
          <p:nvPr/>
        </p:nvSpPr>
        <p:spPr>
          <a:xfrm>
            <a:off x="932688" y="4535424"/>
            <a:ext cx="4663440" cy="329184"/>
          </a:xfrm>
          <a:prstGeom prst="rect">
            <a:avLst/>
          </a:prstGeom>
          <a:noFill/>
          <a:ln/>
        </p:spPr>
        <p:txBody>
          <a:bodyPr wrap="square" lIns="0" tIns="0" rIns="0" bIns="0" rtlCol="0" anchor="ctr"/>
          <a:lstStyle/>
          <a:p>
            <a:pPr marL="342900" indent="-342900">
              <a:buSzPct val="100000"/>
              <a:buChar char="•"/>
            </a:pPr>
            <a:r>
              <a:rPr lang="en-US" sz="1250" dirty="0">
                <a:solidFill>
                  <a:srgbClr val="2B3A46"/>
                </a:solidFill>
                <a:latin typeface="Calibri" pitchFamily="34" charset="0"/>
                <a:ea typeface="Calibri" pitchFamily="34" charset="-122"/>
                <a:cs typeface="Calibri" pitchFamily="34" charset="-120"/>
              </a:rPr>
              <a:t>Email templates and merge fields</a:t>
            </a:r>
            <a:endParaRPr lang="en-US" sz="1250" dirty="0"/>
          </a:p>
        </p:txBody>
      </p:sp>
      <p:sp>
        <p:nvSpPr>
          <p:cNvPr id="13" name="Text 11"/>
          <p:cNvSpPr/>
          <p:nvPr/>
        </p:nvSpPr>
        <p:spPr>
          <a:xfrm>
            <a:off x="932688" y="4937760"/>
            <a:ext cx="4663440" cy="329184"/>
          </a:xfrm>
          <a:prstGeom prst="rect">
            <a:avLst/>
          </a:prstGeom>
          <a:noFill/>
          <a:ln/>
        </p:spPr>
        <p:txBody>
          <a:bodyPr wrap="square" lIns="0" tIns="0" rIns="0" bIns="0" rtlCol="0" anchor="ctr"/>
          <a:lstStyle/>
          <a:p>
            <a:pPr marL="342900" indent="-342900">
              <a:buSzPct val="100000"/>
              <a:buChar char="•"/>
            </a:pPr>
            <a:r>
              <a:rPr lang="en-US" sz="1250" dirty="0">
                <a:solidFill>
                  <a:srgbClr val="2B3A46"/>
                </a:solidFill>
                <a:latin typeface="Calibri" pitchFamily="34" charset="0"/>
                <a:ea typeface="Calibri" pitchFamily="34" charset="-122"/>
                <a:cs typeface="Calibri" pitchFamily="34" charset="-120"/>
              </a:rPr>
              <a:t>Real data in real records</a:t>
            </a:r>
            <a:endParaRPr lang="en-US" sz="1250" dirty="0"/>
          </a:p>
        </p:txBody>
      </p:sp>
      <p:sp>
        <p:nvSpPr>
          <p:cNvPr id="14" name="Text 12"/>
          <p:cNvSpPr/>
          <p:nvPr/>
        </p:nvSpPr>
        <p:spPr>
          <a:xfrm>
            <a:off x="932688" y="5340096"/>
            <a:ext cx="4663440" cy="329184"/>
          </a:xfrm>
          <a:prstGeom prst="rect">
            <a:avLst/>
          </a:prstGeom>
          <a:noFill/>
          <a:ln/>
        </p:spPr>
        <p:txBody>
          <a:bodyPr wrap="square" lIns="0" tIns="0" rIns="0" bIns="0" rtlCol="0" anchor="ctr"/>
          <a:lstStyle/>
          <a:p>
            <a:pPr marL="342900" indent="-342900">
              <a:buSzPct val="100000"/>
              <a:buChar char="•"/>
            </a:pPr>
            <a:r>
              <a:rPr lang="en-US" sz="1250" dirty="0">
                <a:solidFill>
                  <a:srgbClr val="2B3A46"/>
                </a:solidFill>
                <a:latin typeface="Calibri" pitchFamily="34" charset="0"/>
                <a:ea typeface="Calibri" pitchFamily="34" charset="-122"/>
                <a:cs typeface="Calibri" pitchFamily="34" charset="-120"/>
              </a:rPr>
              <a:t>API names stored in config records</a:t>
            </a:r>
            <a:endParaRPr lang="en-US" sz="1250" dirty="0"/>
          </a:p>
        </p:txBody>
      </p:sp>
      <p:sp>
        <p:nvSpPr>
          <p:cNvPr id="15" name="Shape 13"/>
          <p:cNvSpPr/>
          <p:nvPr/>
        </p:nvSpPr>
        <p:spPr>
          <a:xfrm>
            <a:off x="6272784" y="1847088"/>
            <a:ext cx="5349240" cy="3977640"/>
          </a:xfrm>
          <a:prstGeom prst="roundRect">
            <a:avLst>
              <a:gd name="adj" fmla="val 1379"/>
            </a:avLst>
          </a:prstGeom>
          <a:solidFill>
            <a:srgbClr val="FDF6EC"/>
          </a:solidFill>
          <a:ln w="12700">
            <a:solidFill>
              <a:srgbClr val="F0D5AC"/>
            </a:solidFill>
            <a:prstDash val="solid"/>
          </a:ln>
        </p:spPr>
      </p:sp>
      <p:sp>
        <p:nvSpPr>
          <p:cNvPr id="16" name="Text 14"/>
          <p:cNvSpPr/>
          <p:nvPr/>
        </p:nvSpPr>
        <p:spPr>
          <a:xfrm>
            <a:off x="6638544" y="2103120"/>
            <a:ext cx="4206240" cy="310896"/>
          </a:xfrm>
          <a:prstGeom prst="rect">
            <a:avLst/>
          </a:prstGeom>
          <a:noFill/>
          <a:ln/>
        </p:spPr>
        <p:txBody>
          <a:bodyPr wrap="square" lIns="0" tIns="0" rIns="0" bIns="0" rtlCol="0" anchor="ctr"/>
          <a:lstStyle/>
          <a:p>
            <a:pPr indent="0" marL="0">
              <a:buNone/>
            </a:pPr>
            <a:r>
              <a:rPr lang="en-US" sz="1600" b="1" dirty="0">
                <a:solidFill>
                  <a:srgbClr val="9A6209"/>
                </a:solidFill>
                <a:latin typeface="Arial" pitchFamily="34" charset="0"/>
                <a:ea typeface="Arial" pitchFamily="34" charset="-122"/>
                <a:cs typeface="Arial" pitchFamily="34" charset="-120"/>
              </a:rPr>
              <a:t>Does NOT count as use</a:t>
            </a:r>
            <a:endParaRPr lang="en-US" sz="1600" dirty="0"/>
          </a:p>
        </p:txBody>
      </p:sp>
      <p:sp>
        <p:nvSpPr>
          <p:cNvPr id="17" name="Text 15"/>
          <p:cNvSpPr/>
          <p:nvPr/>
        </p:nvSpPr>
        <p:spPr>
          <a:xfrm>
            <a:off x="6638544" y="2542032"/>
            <a:ext cx="4572000" cy="237744"/>
          </a:xfrm>
          <a:prstGeom prst="rect">
            <a:avLst/>
          </a:prstGeom>
          <a:noFill/>
          <a:ln/>
        </p:spPr>
        <p:txBody>
          <a:bodyPr wrap="square" lIns="0" tIns="0" rIns="0" bIns="0" rtlCol="0" anchor="ctr"/>
          <a:lstStyle/>
          <a:p>
            <a:pPr indent="0" marL="0">
              <a:buNone/>
            </a:pPr>
            <a:r>
              <a:rPr lang="en-US" sz="1300" b="1" dirty="0">
                <a:solidFill>
                  <a:srgbClr val="2B3A46"/>
                </a:solidFill>
                <a:latin typeface="Calibri" pitchFamily="34" charset="0"/>
                <a:ea typeface="Calibri" pitchFamily="34" charset="-122"/>
                <a:cs typeface="Calibri" pitchFamily="34" charset="-120"/>
              </a:rPr>
              <a:t>Page layouts</a:t>
            </a:r>
            <a:endParaRPr lang="en-US" sz="1300" dirty="0"/>
          </a:p>
        </p:txBody>
      </p:sp>
      <p:sp>
        <p:nvSpPr>
          <p:cNvPr id="18" name="Text 16"/>
          <p:cNvSpPr/>
          <p:nvPr/>
        </p:nvSpPr>
        <p:spPr>
          <a:xfrm>
            <a:off x="6638544" y="2779776"/>
            <a:ext cx="4572000" cy="237744"/>
          </a:xfrm>
          <a:prstGeom prst="rect">
            <a:avLst/>
          </a:prstGeom>
          <a:noFill/>
          <a:ln/>
        </p:spPr>
        <p:txBody>
          <a:bodyPr wrap="square" lIns="0" tIns="0" rIns="0" bIns="0" rtlCol="0" anchor="ctr"/>
          <a:lstStyle/>
          <a:p>
            <a:pPr indent="0" marL="0">
              <a:buNone/>
            </a:pPr>
            <a:r>
              <a:rPr lang="en-US" sz="1100" dirty="0">
                <a:solidFill>
                  <a:srgbClr val="7A6A52"/>
                </a:solidFill>
                <a:latin typeface="Calibri" pitchFamily="34" charset="0"/>
                <a:ea typeface="Calibri" pitchFamily="34" charset="-122"/>
                <a:cs typeface="Calibri" pitchFamily="34" charset="-120"/>
              </a:rPr>
              <a:t>every custom field gets one at creation</a:t>
            </a:r>
            <a:endParaRPr lang="en-US" sz="1100" dirty="0"/>
          </a:p>
        </p:txBody>
      </p:sp>
      <p:sp>
        <p:nvSpPr>
          <p:cNvPr id="19" name="Text 17"/>
          <p:cNvSpPr/>
          <p:nvPr/>
        </p:nvSpPr>
        <p:spPr>
          <a:xfrm>
            <a:off x="6638544" y="3090672"/>
            <a:ext cx="4572000" cy="237744"/>
          </a:xfrm>
          <a:prstGeom prst="rect">
            <a:avLst/>
          </a:prstGeom>
          <a:noFill/>
          <a:ln/>
        </p:spPr>
        <p:txBody>
          <a:bodyPr wrap="square" lIns="0" tIns="0" rIns="0" bIns="0" rtlCol="0" anchor="ctr"/>
          <a:lstStyle/>
          <a:p>
            <a:pPr indent="0" marL="0">
              <a:buNone/>
            </a:pPr>
            <a:r>
              <a:rPr lang="en-US" sz="1300" b="1" dirty="0">
                <a:solidFill>
                  <a:srgbClr val="2B3A46"/>
                </a:solidFill>
                <a:latin typeface="Calibri" pitchFamily="34" charset="0"/>
                <a:ea typeface="Calibri" pitchFamily="34" charset="-122"/>
                <a:cs typeface="Calibri" pitchFamily="34" charset="-120"/>
              </a:rPr>
              <a:t>Field-level security</a:t>
            </a:r>
            <a:endParaRPr lang="en-US" sz="1300" dirty="0"/>
          </a:p>
        </p:txBody>
      </p:sp>
      <p:sp>
        <p:nvSpPr>
          <p:cNvPr id="20" name="Text 18"/>
          <p:cNvSpPr/>
          <p:nvPr/>
        </p:nvSpPr>
        <p:spPr>
          <a:xfrm>
            <a:off x="6638544" y="3328416"/>
            <a:ext cx="4572000" cy="237744"/>
          </a:xfrm>
          <a:prstGeom prst="rect">
            <a:avLst/>
          </a:prstGeom>
          <a:noFill/>
          <a:ln/>
        </p:spPr>
        <p:txBody>
          <a:bodyPr wrap="square" lIns="0" tIns="0" rIns="0" bIns="0" rtlCol="0" anchor="ctr"/>
          <a:lstStyle/>
          <a:p>
            <a:pPr indent="0" marL="0">
              <a:buNone/>
            </a:pPr>
            <a:r>
              <a:rPr lang="en-US" sz="1100" dirty="0">
                <a:solidFill>
                  <a:srgbClr val="7A6A52"/>
                </a:solidFill>
                <a:latin typeface="Calibri" pitchFamily="34" charset="0"/>
                <a:ea typeface="Calibri" pitchFamily="34" charset="-122"/>
                <a:cs typeface="Calibri" pitchFamily="34" charset="-120"/>
              </a:rPr>
              <a:t>means someone COULD see it, not that anyone does</a:t>
            </a:r>
            <a:endParaRPr lang="en-US" sz="1100" dirty="0"/>
          </a:p>
        </p:txBody>
      </p:sp>
      <p:sp>
        <p:nvSpPr>
          <p:cNvPr id="21" name="Text 19"/>
          <p:cNvSpPr/>
          <p:nvPr/>
        </p:nvSpPr>
        <p:spPr>
          <a:xfrm>
            <a:off x="6638544" y="3639312"/>
            <a:ext cx="4572000" cy="237744"/>
          </a:xfrm>
          <a:prstGeom prst="rect">
            <a:avLst/>
          </a:prstGeom>
          <a:noFill/>
          <a:ln/>
        </p:spPr>
        <p:txBody>
          <a:bodyPr wrap="square" lIns="0" tIns="0" rIns="0" bIns="0" rtlCol="0" anchor="ctr"/>
          <a:lstStyle/>
          <a:p>
            <a:pPr indent="0" marL="0">
              <a:buNone/>
            </a:pPr>
            <a:r>
              <a:rPr lang="en-US" sz="1300" b="1" dirty="0">
                <a:solidFill>
                  <a:srgbClr val="2B3A46"/>
                </a:solidFill>
                <a:latin typeface="Calibri" pitchFamily="34" charset="0"/>
                <a:ea typeface="Calibri" pitchFamily="34" charset="-122"/>
                <a:cs typeface="Calibri" pitchFamily="34" charset="-120"/>
              </a:rPr>
              <a:t>Its own definition file</a:t>
            </a:r>
            <a:endParaRPr lang="en-US" sz="1300" dirty="0"/>
          </a:p>
        </p:txBody>
      </p:sp>
      <p:sp>
        <p:nvSpPr>
          <p:cNvPr id="22" name="Text 20"/>
          <p:cNvSpPr/>
          <p:nvPr/>
        </p:nvSpPr>
        <p:spPr>
          <a:xfrm>
            <a:off x="6638544" y="3877056"/>
            <a:ext cx="4572000" cy="237744"/>
          </a:xfrm>
          <a:prstGeom prst="rect">
            <a:avLst/>
          </a:prstGeom>
          <a:noFill/>
          <a:ln/>
        </p:spPr>
        <p:txBody>
          <a:bodyPr wrap="square" lIns="0" tIns="0" rIns="0" bIns="0" rtlCol="0" anchor="ctr"/>
          <a:lstStyle/>
          <a:p>
            <a:pPr indent="0" marL="0">
              <a:buNone/>
            </a:pPr>
            <a:r>
              <a:rPr lang="en-US" sz="1100" dirty="0">
                <a:solidFill>
                  <a:srgbClr val="7A6A52"/>
                </a:solidFill>
                <a:latin typeface="Calibri" pitchFamily="34" charset="0"/>
                <a:ea typeface="Calibri" pitchFamily="34" charset="-122"/>
                <a:cs typeface="Calibri" pitchFamily="34" charset="-120"/>
              </a:rPr>
              <a:t>a declaration, not a use</a:t>
            </a:r>
            <a:endParaRPr lang="en-US" sz="1100" dirty="0"/>
          </a:p>
        </p:txBody>
      </p:sp>
      <p:sp>
        <p:nvSpPr>
          <p:cNvPr id="23" name="Text 21"/>
          <p:cNvSpPr/>
          <p:nvPr/>
        </p:nvSpPr>
        <p:spPr>
          <a:xfrm>
            <a:off x="6638544" y="4187952"/>
            <a:ext cx="4572000" cy="237744"/>
          </a:xfrm>
          <a:prstGeom prst="rect">
            <a:avLst/>
          </a:prstGeom>
          <a:noFill/>
          <a:ln/>
        </p:spPr>
        <p:txBody>
          <a:bodyPr wrap="square" lIns="0" tIns="0" rIns="0" bIns="0" rtlCol="0" anchor="ctr"/>
          <a:lstStyle/>
          <a:p>
            <a:pPr indent="0" marL="0">
              <a:buNone/>
            </a:pPr>
            <a:r>
              <a:rPr lang="en-US" sz="1300" b="1" dirty="0">
                <a:solidFill>
                  <a:srgbClr val="2B3A46"/>
                </a:solidFill>
                <a:latin typeface="Calibri" pitchFamily="34" charset="0"/>
                <a:ea typeface="Calibri" pitchFamily="34" charset="-122"/>
                <a:cs typeface="Calibri" pitchFamily="34" charset="-120"/>
              </a:rPr>
              <a:t>Tabs and applications</a:t>
            </a:r>
            <a:endParaRPr lang="en-US" sz="1300" dirty="0"/>
          </a:p>
        </p:txBody>
      </p:sp>
      <p:sp>
        <p:nvSpPr>
          <p:cNvPr id="24" name="Text 22"/>
          <p:cNvSpPr/>
          <p:nvPr/>
        </p:nvSpPr>
        <p:spPr>
          <a:xfrm>
            <a:off x="6638544" y="4425696"/>
            <a:ext cx="4572000" cy="237744"/>
          </a:xfrm>
          <a:prstGeom prst="rect">
            <a:avLst/>
          </a:prstGeom>
          <a:noFill/>
          <a:ln/>
        </p:spPr>
        <p:txBody>
          <a:bodyPr wrap="square" lIns="0" tIns="0" rIns="0" bIns="0" rtlCol="0" anchor="ctr"/>
          <a:lstStyle/>
          <a:p>
            <a:pPr indent="0" marL="0">
              <a:buNone/>
            </a:pPr>
            <a:r>
              <a:rPr lang="en-US" sz="1100" dirty="0">
                <a:solidFill>
                  <a:srgbClr val="7A6A52"/>
                </a:solidFill>
                <a:latin typeface="Calibri" pitchFamily="34" charset="0"/>
                <a:ea typeface="Calibri" pitchFamily="34" charset="-122"/>
                <a:cs typeface="Calibri" pitchFamily="34" charset="-120"/>
              </a:rPr>
              <a:t>navigation structure</a:t>
            </a:r>
            <a:endParaRPr lang="en-US" sz="1100" dirty="0"/>
          </a:p>
        </p:txBody>
      </p:sp>
      <p:sp>
        <p:nvSpPr>
          <p:cNvPr id="25" name="Text 23"/>
          <p:cNvSpPr/>
          <p:nvPr/>
        </p:nvSpPr>
        <p:spPr>
          <a:xfrm>
            <a:off x="6638544" y="4736592"/>
            <a:ext cx="4572000" cy="237744"/>
          </a:xfrm>
          <a:prstGeom prst="rect">
            <a:avLst/>
          </a:prstGeom>
          <a:noFill/>
          <a:ln/>
        </p:spPr>
        <p:txBody>
          <a:bodyPr wrap="square" lIns="0" tIns="0" rIns="0" bIns="0" rtlCol="0" anchor="ctr"/>
          <a:lstStyle/>
          <a:p>
            <a:pPr indent="0" marL="0">
              <a:buNone/>
            </a:pPr>
            <a:r>
              <a:rPr lang="en-US" sz="1300" b="1" dirty="0">
                <a:solidFill>
                  <a:srgbClr val="2B3A46"/>
                </a:solidFill>
                <a:latin typeface="Calibri" pitchFamily="34" charset="0"/>
                <a:ea typeface="Calibri" pitchFamily="34" charset="-122"/>
                <a:cs typeface="Calibri" pitchFamily="34" charset="-120"/>
              </a:rPr>
              <a:t>Comments and dead code</a:t>
            </a:r>
            <a:endParaRPr lang="en-US" sz="1300" dirty="0"/>
          </a:p>
        </p:txBody>
      </p:sp>
      <p:sp>
        <p:nvSpPr>
          <p:cNvPr id="26" name="Text 24"/>
          <p:cNvSpPr/>
          <p:nvPr/>
        </p:nvSpPr>
        <p:spPr>
          <a:xfrm>
            <a:off x="6638544" y="4974336"/>
            <a:ext cx="4572000" cy="237744"/>
          </a:xfrm>
          <a:prstGeom prst="rect">
            <a:avLst/>
          </a:prstGeom>
          <a:noFill/>
          <a:ln/>
        </p:spPr>
        <p:txBody>
          <a:bodyPr wrap="square" lIns="0" tIns="0" rIns="0" bIns="0" rtlCol="0" anchor="ctr"/>
          <a:lstStyle/>
          <a:p>
            <a:pPr indent="0" marL="0">
              <a:buNone/>
            </a:pPr>
            <a:r>
              <a:rPr lang="en-US" sz="1100" dirty="0">
                <a:solidFill>
                  <a:srgbClr val="7A6A52"/>
                </a:solidFill>
                <a:latin typeface="Calibri" pitchFamily="34" charset="0"/>
                <a:ea typeface="Calibri" pitchFamily="34" charset="-122"/>
                <a:cs typeface="Calibri" pitchFamily="34" charset="-120"/>
              </a:rPr>
              <a:t>a stale mention is not a reference</a:t>
            </a:r>
            <a:endParaRPr lang="en-US" sz="1100" dirty="0"/>
          </a:p>
        </p:txBody>
      </p:sp>
      <p:sp>
        <p:nvSpPr>
          <p:cNvPr id="27" name="Text 25"/>
          <p:cNvSpPr/>
          <p:nvPr/>
        </p:nvSpPr>
        <p:spPr>
          <a:xfrm>
            <a:off x="6638544" y="5285232"/>
            <a:ext cx="4572000" cy="237744"/>
          </a:xfrm>
          <a:prstGeom prst="rect">
            <a:avLst/>
          </a:prstGeom>
          <a:noFill/>
          <a:ln/>
        </p:spPr>
        <p:txBody>
          <a:bodyPr wrap="square" lIns="0" tIns="0" rIns="0" bIns="0" rtlCol="0" anchor="ctr"/>
          <a:lstStyle/>
          <a:p>
            <a:pPr indent="0" marL="0">
              <a:buNone/>
            </a:pPr>
            <a:r>
              <a:rPr lang="en-US" sz="1300" b="1" dirty="0">
                <a:solidFill>
                  <a:srgbClr val="2B3A46"/>
                </a:solidFill>
                <a:latin typeface="Calibri" pitchFamily="34" charset="0"/>
                <a:ea typeface="Calibri" pitchFamily="34" charset="-122"/>
                <a:cs typeface="Calibri" pitchFamily="34" charset="-120"/>
              </a:rPr>
              <a:t>Test code alone</a:t>
            </a:r>
            <a:endParaRPr lang="en-US" sz="1300" dirty="0"/>
          </a:p>
        </p:txBody>
      </p:sp>
      <p:sp>
        <p:nvSpPr>
          <p:cNvPr id="28" name="Text 26"/>
          <p:cNvSpPr/>
          <p:nvPr/>
        </p:nvSpPr>
        <p:spPr>
          <a:xfrm>
            <a:off x="6638544" y="5522976"/>
            <a:ext cx="4572000" cy="237744"/>
          </a:xfrm>
          <a:prstGeom prst="rect">
            <a:avLst/>
          </a:prstGeom>
          <a:noFill/>
          <a:ln/>
        </p:spPr>
        <p:txBody>
          <a:bodyPr wrap="square" lIns="0" tIns="0" rIns="0" bIns="0" rtlCol="0" anchor="ctr"/>
          <a:lstStyle/>
          <a:p>
            <a:pPr indent="0" marL="0">
              <a:buNone/>
            </a:pPr>
            <a:r>
              <a:rPr lang="en-US" sz="1100" dirty="0">
                <a:solidFill>
                  <a:srgbClr val="7A6A52"/>
                </a:solidFill>
                <a:latin typeface="Calibri" pitchFamily="34" charset="0"/>
                <a:ea typeface="Calibri" pitchFamily="34" charset="-122"/>
                <a:cs typeface="Calibri" pitchFamily="34" charset="-120"/>
              </a:rPr>
              <a:t>delete it together with what it tests</a:t>
            </a:r>
            <a:endParaRPr lang="en-US" sz="1100" dirty="0"/>
          </a:p>
        </p:txBody>
      </p:sp>
      <p:sp>
        <p:nvSpPr>
          <p:cNvPr id="29" name="Text 27"/>
          <p:cNvSpPr/>
          <p:nvPr/>
        </p:nvSpPr>
        <p:spPr>
          <a:xfrm>
            <a:off x="566928" y="5998464"/>
            <a:ext cx="11064240" cy="365760"/>
          </a:xfrm>
          <a:prstGeom prst="rect">
            <a:avLst/>
          </a:prstGeom>
          <a:noFill/>
          <a:ln/>
        </p:spPr>
        <p:txBody>
          <a:bodyPr wrap="square" lIns="0" tIns="0" rIns="0" bIns="0" rtlCol="0" anchor="ctr"/>
          <a:lstStyle/>
          <a:p>
            <a:pPr indent="0" marL="0">
              <a:buNone/>
            </a:pPr>
            <a:r>
              <a:rPr lang="en-US" sz="1300" i="1" dirty="0">
                <a:solidFill>
                  <a:srgbClr val="55606E"/>
                </a:solidFill>
                <a:latin typeface="Calibri" pitchFamily="34" charset="0"/>
                <a:ea typeface="Calibri" pitchFamily="34" charset="-122"/>
                <a:cs typeface="Calibri" pitchFamily="34" charset="-120"/>
              </a:rPr>
              <a:t>Measured on a real org: counting layout presence as use produced 0 findings. Separating the two produced 25.</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11411712" y="6455664"/>
            <a:ext cx="365760" cy="274320"/>
          </a:xfrm>
          <a:prstGeom prst="rect">
            <a:avLst/>
          </a:prstGeom>
          <a:noFill/>
          <a:ln/>
        </p:spPr>
        <p:txBody>
          <a:bodyPr wrap="square" lIns="0" tIns="0" rIns="0" bIns="0" rtlCol="0" anchor="ctr"/>
          <a:lstStyle/>
          <a:p>
            <a:pPr algn="r" indent="0" marL="0">
              <a:buNone/>
            </a:pPr>
            <a:r>
              <a:rPr lang="en-US" sz="1000" dirty="0">
                <a:solidFill>
                  <a:srgbClr val="76849A"/>
                </a:solidFill>
                <a:latin typeface="Calibri" pitchFamily="34" charset="0"/>
                <a:ea typeface="Calibri" pitchFamily="34" charset="-122"/>
                <a:cs typeface="Calibri" pitchFamily="34" charset="-120"/>
              </a:rPr>
              <a:t>5</a:t>
            </a:r>
            <a:endParaRPr lang="en-US" sz="1000" dirty="0"/>
          </a:p>
        </p:txBody>
      </p:sp>
      <p:sp>
        <p:nvSpPr>
          <p:cNvPr id="3" name="Text 1"/>
          <p:cNvSpPr/>
          <p:nvPr/>
        </p:nvSpPr>
        <p:spPr>
          <a:xfrm>
            <a:off x="566928" y="402336"/>
            <a:ext cx="11055096" cy="713232"/>
          </a:xfrm>
          <a:prstGeom prst="rect">
            <a:avLst/>
          </a:prstGeom>
          <a:noFill/>
          <a:ln/>
        </p:spPr>
        <p:txBody>
          <a:bodyPr wrap="square" lIns="0" tIns="0" rIns="0" bIns="0" rtlCol="0" anchor="ctr"/>
          <a:lstStyle/>
          <a:p>
            <a:pPr indent="0" marL="0">
              <a:buNone/>
            </a:pPr>
            <a:r>
              <a:rPr lang="en-US" sz="3400" b="1" dirty="0">
                <a:solidFill>
                  <a:srgbClr val="F2F5F8"/>
                </a:solidFill>
                <a:latin typeface="Arial" pitchFamily="34" charset="0"/>
                <a:ea typeface="Arial" pitchFamily="34" charset="-122"/>
                <a:cs typeface="Arial" pitchFamily="34" charset="-120"/>
              </a:rPr>
              <a:t>Scope: the whole org, not three component types</a:t>
            </a:r>
            <a:endParaRPr lang="en-US" sz="3400" dirty="0"/>
          </a:p>
        </p:txBody>
      </p:sp>
      <p:sp>
        <p:nvSpPr>
          <p:cNvPr id="4" name="Text 2"/>
          <p:cNvSpPr/>
          <p:nvPr/>
        </p:nvSpPr>
        <p:spPr>
          <a:xfrm>
            <a:off x="566928" y="1115568"/>
            <a:ext cx="11055096" cy="402336"/>
          </a:xfrm>
          <a:prstGeom prst="rect">
            <a:avLst/>
          </a:prstGeom>
          <a:noFill/>
          <a:ln/>
        </p:spPr>
        <p:txBody>
          <a:bodyPr wrap="square" lIns="0" tIns="0" rIns="0" bIns="0" rtlCol="0" anchor="ctr"/>
          <a:lstStyle/>
          <a:p>
            <a:pPr indent="0" marL="0">
              <a:buNone/>
            </a:pPr>
            <a:r>
              <a:rPr lang="en-US" sz="1450" dirty="0">
                <a:solidFill>
                  <a:srgbClr val="A8B4C4"/>
                </a:solidFill>
                <a:latin typeface="Calibri" pitchFamily="34" charset="0"/>
                <a:ea typeface="Calibri" pitchFamily="34" charset="-122"/>
                <a:cs typeface="Calibri" pitchFamily="34" charset="-120"/>
              </a:rPr>
              <a:t>Fields, objects and Apex are where value concentrates. They are not the boundary.</a:t>
            </a:r>
            <a:endParaRPr lang="en-US" sz="1450" dirty="0"/>
          </a:p>
        </p:txBody>
      </p:sp>
      <p:sp>
        <p:nvSpPr>
          <p:cNvPr id="5" name="Shape 3"/>
          <p:cNvSpPr/>
          <p:nvPr/>
        </p:nvSpPr>
        <p:spPr>
          <a:xfrm>
            <a:off x="566928" y="1792224"/>
            <a:ext cx="3520440" cy="2029968"/>
          </a:xfrm>
          <a:prstGeom prst="roundRect">
            <a:avLst>
              <a:gd name="adj" fmla="val 2703"/>
            </a:avLst>
          </a:prstGeom>
          <a:solidFill>
            <a:srgbClr val="1A2430"/>
          </a:solidFill>
          <a:ln w="12700">
            <a:solidFill>
              <a:srgbClr val="32435A"/>
            </a:solidFill>
            <a:prstDash val="solid"/>
          </a:ln>
        </p:spPr>
      </p:sp>
      <p:sp>
        <p:nvSpPr>
          <p:cNvPr id="6" name="Shape 4"/>
          <p:cNvSpPr/>
          <p:nvPr/>
        </p:nvSpPr>
        <p:spPr>
          <a:xfrm>
            <a:off x="841248" y="2048256"/>
            <a:ext cx="182880" cy="182880"/>
          </a:xfrm>
          <a:prstGeom prst="ellipse">
            <a:avLst/>
          </a:prstGeom>
          <a:solidFill>
            <a:srgbClr val="29B6D8"/>
          </a:solidFill>
          <a:ln/>
        </p:spPr>
      </p:sp>
      <p:sp>
        <p:nvSpPr>
          <p:cNvPr id="7" name="Text 5"/>
          <p:cNvSpPr/>
          <p:nvPr/>
        </p:nvSpPr>
        <p:spPr>
          <a:xfrm>
            <a:off x="1115568" y="1975104"/>
            <a:ext cx="2834640" cy="310896"/>
          </a:xfrm>
          <a:prstGeom prst="rect">
            <a:avLst/>
          </a:prstGeom>
          <a:noFill/>
          <a:ln/>
        </p:spPr>
        <p:txBody>
          <a:bodyPr wrap="square" lIns="0" tIns="0" rIns="0" bIns="0" rtlCol="0" anchor="ctr"/>
          <a:lstStyle/>
          <a:p>
            <a:pPr indent="0" marL="0">
              <a:buNone/>
            </a:pPr>
            <a:r>
              <a:rPr lang="en-US" sz="1450" b="1" dirty="0">
                <a:solidFill>
                  <a:srgbClr val="F2F5F8"/>
                </a:solidFill>
                <a:latin typeface="Arial" pitchFamily="34" charset="0"/>
                <a:ea typeface="Arial" pitchFamily="34" charset="-122"/>
                <a:cs typeface="Arial" pitchFamily="34" charset="-120"/>
              </a:rPr>
              <a:t>Schema</a:t>
            </a:r>
            <a:endParaRPr lang="en-US" sz="1450" dirty="0"/>
          </a:p>
        </p:txBody>
      </p:sp>
      <p:sp>
        <p:nvSpPr>
          <p:cNvPr id="8" name="Text 6"/>
          <p:cNvSpPr/>
          <p:nvPr/>
        </p:nvSpPr>
        <p:spPr>
          <a:xfrm>
            <a:off x="859536" y="2395728"/>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Custom objects</a:t>
            </a:r>
            <a:endParaRPr lang="en-US" sz="1050" dirty="0"/>
          </a:p>
        </p:txBody>
      </p:sp>
      <p:sp>
        <p:nvSpPr>
          <p:cNvPr id="9" name="Text 7"/>
          <p:cNvSpPr/>
          <p:nvPr/>
        </p:nvSpPr>
        <p:spPr>
          <a:xfrm>
            <a:off x="859536" y="2624328"/>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Custom fields</a:t>
            </a:r>
            <a:endParaRPr lang="en-US" sz="1050" dirty="0"/>
          </a:p>
        </p:txBody>
      </p:sp>
      <p:sp>
        <p:nvSpPr>
          <p:cNvPr id="10" name="Text 8"/>
          <p:cNvSpPr/>
          <p:nvPr/>
        </p:nvSpPr>
        <p:spPr>
          <a:xfrm>
            <a:off x="859536" y="2852928"/>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Record types</a:t>
            </a:r>
            <a:endParaRPr lang="en-US" sz="1050" dirty="0"/>
          </a:p>
        </p:txBody>
      </p:sp>
      <p:sp>
        <p:nvSpPr>
          <p:cNvPr id="11" name="Text 9"/>
          <p:cNvSpPr/>
          <p:nvPr/>
        </p:nvSpPr>
        <p:spPr>
          <a:xfrm>
            <a:off x="859536" y="3081528"/>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Field sets</a:t>
            </a:r>
            <a:endParaRPr lang="en-US" sz="1050" dirty="0"/>
          </a:p>
        </p:txBody>
      </p:sp>
      <p:sp>
        <p:nvSpPr>
          <p:cNvPr id="12" name="Text 10"/>
          <p:cNvSpPr/>
          <p:nvPr/>
        </p:nvSpPr>
        <p:spPr>
          <a:xfrm>
            <a:off x="859536" y="3310128"/>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Picklist value sets</a:t>
            </a:r>
            <a:endParaRPr lang="en-US" sz="1050" dirty="0"/>
          </a:p>
        </p:txBody>
      </p:sp>
      <p:sp>
        <p:nvSpPr>
          <p:cNvPr id="13" name="Text 11"/>
          <p:cNvSpPr/>
          <p:nvPr/>
        </p:nvSpPr>
        <p:spPr>
          <a:xfrm>
            <a:off x="859536" y="3538728"/>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Custom metadata types</a:t>
            </a:r>
            <a:endParaRPr lang="en-US" sz="1050" dirty="0"/>
          </a:p>
        </p:txBody>
      </p:sp>
      <p:sp>
        <p:nvSpPr>
          <p:cNvPr id="14" name="Shape 12"/>
          <p:cNvSpPr/>
          <p:nvPr/>
        </p:nvSpPr>
        <p:spPr>
          <a:xfrm>
            <a:off x="4297680" y="1792224"/>
            <a:ext cx="3520440" cy="2029968"/>
          </a:xfrm>
          <a:prstGeom prst="roundRect">
            <a:avLst>
              <a:gd name="adj" fmla="val 2703"/>
            </a:avLst>
          </a:prstGeom>
          <a:solidFill>
            <a:srgbClr val="1A2430"/>
          </a:solidFill>
          <a:ln w="12700">
            <a:solidFill>
              <a:srgbClr val="32435A"/>
            </a:solidFill>
            <a:prstDash val="solid"/>
          </a:ln>
        </p:spPr>
      </p:sp>
      <p:sp>
        <p:nvSpPr>
          <p:cNvPr id="15" name="Shape 13"/>
          <p:cNvSpPr/>
          <p:nvPr/>
        </p:nvSpPr>
        <p:spPr>
          <a:xfrm>
            <a:off x="4572000" y="2048256"/>
            <a:ext cx="182880" cy="182880"/>
          </a:xfrm>
          <a:prstGeom prst="ellipse">
            <a:avLst/>
          </a:prstGeom>
          <a:solidFill>
            <a:srgbClr val="3FBF92"/>
          </a:solidFill>
          <a:ln/>
        </p:spPr>
      </p:sp>
      <p:sp>
        <p:nvSpPr>
          <p:cNvPr id="16" name="Text 14"/>
          <p:cNvSpPr/>
          <p:nvPr/>
        </p:nvSpPr>
        <p:spPr>
          <a:xfrm>
            <a:off x="4846320" y="1975104"/>
            <a:ext cx="2834640" cy="310896"/>
          </a:xfrm>
          <a:prstGeom prst="rect">
            <a:avLst/>
          </a:prstGeom>
          <a:noFill/>
          <a:ln/>
        </p:spPr>
        <p:txBody>
          <a:bodyPr wrap="square" lIns="0" tIns="0" rIns="0" bIns="0" rtlCol="0" anchor="ctr"/>
          <a:lstStyle/>
          <a:p>
            <a:pPr indent="0" marL="0">
              <a:buNone/>
            </a:pPr>
            <a:r>
              <a:rPr lang="en-US" sz="1450" b="1" dirty="0">
                <a:solidFill>
                  <a:srgbClr val="F2F5F8"/>
                </a:solidFill>
                <a:latin typeface="Arial" pitchFamily="34" charset="0"/>
                <a:ea typeface="Arial" pitchFamily="34" charset="-122"/>
                <a:cs typeface="Arial" pitchFamily="34" charset="-120"/>
              </a:rPr>
              <a:t>Code</a:t>
            </a:r>
            <a:endParaRPr lang="en-US" sz="1450" dirty="0"/>
          </a:p>
        </p:txBody>
      </p:sp>
      <p:sp>
        <p:nvSpPr>
          <p:cNvPr id="17" name="Text 15"/>
          <p:cNvSpPr/>
          <p:nvPr/>
        </p:nvSpPr>
        <p:spPr>
          <a:xfrm>
            <a:off x="4590288" y="2395728"/>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Apex classes</a:t>
            </a:r>
            <a:endParaRPr lang="en-US" sz="1050" dirty="0"/>
          </a:p>
        </p:txBody>
      </p:sp>
      <p:sp>
        <p:nvSpPr>
          <p:cNvPr id="18" name="Text 16"/>
          <p:cNvSpPr/>
          <p:nvPr/>
        </p:nvSpPr>
        <p:spPr>
          <a:xfrm>
            <a:off x="4590288" y="2624328"/>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Apex triggers</a:t>
            </a:r>
            <a:endParaRPr lang="en-US" sz="1050" dirty="0"/>
          </a:p>
        </p:txBody>
      </p:sp>
      <p:sp>
        <p:nvSpPr>
          <p:cNvPr id="19" name="Text 17"/>
          <p:cNvSpPr/>
          <p:nvPr/>
        </p:nvSpPr>
        <p:spPr>
          <a:xfrm>
            <a:off x="4590288" y="2852928"/>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Apex methods</a:t>
            </a:r>
            <a:endParaRPr lang="en-US" sz="1050" dirty="0"/>
          </a:p>
        </p:txBody>
      </p:sp>
      <p:sp>
        <p:nvSpPr>
          <p:cNvPr id="20" name="Text 18"/>
          <p:cNvSpPr/>
          <p:nvPr/>
        </p:nvSpPr>
        <p:spPr>
          <a:xfrm>
            <a:off x="4590288" y="3081528"/>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Visualforce pages</a:t>
            </a:r>
            <a:endParaRPr lang="en-US" sz="1050" dirty="0"/>
          </a:p>
        </p:txBody>
      </p:sp>
      <p:sp>
        <p:nvSpPr>
          <p:cNvPr id="21" name="Text 19"/>
          <p:cNvSpPr/>
          <p:nvPr/>
        </p:nvSpPr>
        <p:spPr>
          <a:xfrm>
            <a:off x="4590288" y="3310128"/>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Lightning web components</a:t>
            </a:r>
            <a:endParaRPr lang="en-US" sz="1050" dirty="0"/>
          </a:p>
        </p:txBody>
      </p:sp>
      <p:sp>
        <p:nvSpPr>
          <p:cNvPr id="22" name="Text 20"/>
          <p:cNvSpPr/>
          <p:nvPr/>
        </p:nvSpPr>
        <p:spPr>
          <a:xfrm>
            <a:off x="4590288" y="3538728"/>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Aura bundles</a:t>
            </a:r>
            <a:endParaRPr lang="en-US" sz="1050" dirty="0"/>
          </a:p>
        </p:txBody>
      </p:sp>
      <p:sp>
        <p:nvSpPr>
          <p:cNvPr id="23" name="Shape 21"/>
          <p:cNvSpPr/>
          <p:nvPr/>
        </p:nvSpPr>
        <p:spPr>
          <a:xfrm>
            <a:off x="8028432" y="1792224"/>
            <a:ext cx="3520440" cy="2029968"/>
          </a:xfrm>
          <a:prstGeom prst="roundRect">
            <a:avLst>
              <a:gd name="adj" fmla="val 2703"/>
            </a:avLst>
          </a:prstGeom>
          <a:solidFill>
            <a:srgbClr val="1A2430"/>
          </a:solidFill>
          <a:ln w="12700">
            <a:solidFill>
              <a:srgbClr val="32435A"/>
            </a:solidFill>
            <a:prstDash val="solid"/>
          </a:ln>
        </p:spPr>
      </p:sp>
      <p:sp>
        <p:nvSpPr>
          <p:cNvPr id="24" name="Shape 22"/>
          <p:cNvSpPr/>
          <p:nvPr/>
        </p:nvSpPr>
        <p:spPr>
          <a:xfrm>
            <a:off x="8302752" y="2048256"/>
            <a:ext cx="182880" cy="182880"/>
          </a:xfrm>
          <a:prstGeom prst="ellipse">
            <a:avLst/>
          </a:prstGeom>
          <a:solidFill>
            <a:srgbClr val="F0A030"/>
          </a:solidFill>
          <a:ln/>
        </p:spPr>
      </p:sp>
      <p:sp>
        <p:nvSpPr>
          <p:cNvPr id="25" name="Text 23"/>
          <p:cNvSpPr/>
          <p:nvPr/>
        </p:nvSpPr>
        <p:spPr>
          <a:xfrm>
            <a:off x="8577072" y="1975104"/>
            <a:ext cx="2834640" cy="310896"/>
          </a:xfrm>
          <a:prstGeom prst="rect">
            <a:avLst/>
          </a:prstGeom>
          <a:noFill/>
          <a:ln/>
        </p:spPr>
        <p:txBody>
          <a:bodyPr wrap="square" lIns="0" tIns="0" rIns="0" bIns="0" rtlCol="0" anchor="ctr"/>
          <a:lstStyle/>
          <a:p>
            <a:pPr indent="0" marL="0">
              <a:buNone/>
            </a:pPr>
            <a:r>
              <a:rPr lang="en-US" sz="1450" b="1" dirty="0">
                <a:solidFill>
                  <a:srgbClr val="F2F5F8"/>
                </a:solidFill>
                <a:latin typeface="Arial" pitchFamily="34" charset="0"/>
                <a:ea typeface="Arial" pitchFamily="34" charset="-122"/>
                <a:cs typeface="Arial" pitchFamily="34" charset="-120"/>
              </a:rPr>
              <a:t>Automation</a:t>
            </a:r>
            <a:endParaRPr lang="en-US" sz="1450" dirty="0"/>
          </a:p>
        </p:txBody>
      </p:sp>
      <p:sp>
        <p:nvSpPr>
          <p:cNvPr id="26" name="Text 24"/>
          <p:cNvSpPr/>
          <p:nvPr/>
        </p:nvSpPr>
        <p:spPr>
          <a:xfrm>
            <a:off x="8321040" y="2395728"/>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Flows and versions</a:t>
            </a:r>
            <a:endParaRPr lang="en-US" sz="1050" dirty="0"/>
          </a:p>
        </p:txBody>
      </p:sp>
      <p:sp>
        <p:nvSpPr>
          <p:cNvPr id="27" name="Text 25"/>
          <p:cNvSpPr/>
          <p:nvPr/>
        </p:nvSpPr>
        <p:spPr>
          <a:xfrm>
            <a:off x="8321040" y="2624328"/>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Workflow rules</a:t>
            </a:r>
            <a:endParaRPr lang="en-US" sz="1050" dirty="0"/>
          </a:p>
        </p:txBody>
      </p:sp>
      <p:sp>
        <p:nvSpPr>
          <p:cNvPr id="28" name="Text 26"/>
          <p:cNvSpPr/>
          <p:nvPr/>
        </p:nvSpPr>
        <p:spPr>
          <a:xfrm>
            <a:off x="8321040" y="2852928"/>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Validation rules</a:t>
            </a:r>
            <a:endParaRPr lang="en-US" sz="1050" dirty="0"/>
          </a:p>
        </p:txBody>
      </p:sp>
      <p:sp>
        <p:nvSpPr>
          <p:cNvPr id="29" name="Text 27"/>
          <p:cNvSpPr/>
          <p:nvPr/>
        </p:nvSpPr>
        <p:spPr>
          <a:xfrm>
            <a:off x="8321040" y="3081528"/>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Approval processes</a:t>
            </a:r>
            <a:endParaRPr lang="en-US" sz="1050" dirty="0"/>
          </a:p>
        </p:txBody>
      </p:sp>
      <p:sp>
        <p:nvSpPr>
          <p:cNvPr id="30" name="Text 28"/>
          <p:cNvSpPr/>
          <p:nvPr/>
        </p:nvSpPr>
        <p:spPr>
          <a:xfrm>
            <a:off x="8321040" y="3310128"/>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Assignment &amp; escalation</a:t>
            </a:r>
            <a:endParaRPr lang="en-US" sz="1050" dirty="0"/>
          </a:p>
        </p:txBody>
      </p:sp>
      <p:sp>
        <p:nvSpPr>
          <p:cNvPr id="31" name="Text 29"/>
          <p:cNvSpPr/>
          <p:nvPr/>
        </p:nvSpPr>
        <p:spPr>
          <a:xfrm>
            <a:off x="8321040" y="3538728"/>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Duplicate &amp; matching rules</a:t>
            </a:r>
            <a:endParaRPr lang="en-US" sz="1050" dirty="0"/>
          </a:p>
        </p:txBody>
      </p:sp>
      <p:sp>
        <p:nvSpPr>
          <p:cNvPr id="32" name="Shape 30"/>
          <p:cNvSpPr/>
          <p:nvPr/>
        </p:nvSpPr>
        <p:spPr>
          <a:xfrm>
            <a:off x="566928" y="4005072"/>
            <a:ext cx="3520440" cy="2029968"/>
          </a:xfrm>
          <a:prstGeom prst="roundRect">
            <a:avLst>
              <a:gd name="adj" fmla="val 2703"/>
            </a:avLst>
          </a:prstGeom>
          <a:solidFill>
            <a:srgbClr val="1A2430"/>
          </a:solidFill>
          <a:ln w="12700">
            <a:solidFill>
              <a:srgbClr val="32435A"/>
            </a:solidFill>
            <a:prstDash val="solid"/>
          </a:ln>
        </p:spPr>
      </p:sp>
      <p:sp>
        <p:nvSpPr>
          <p:cNvPr id="33" name="Shape 31"/>
          <p:cNvSpPr/>
          <p:nvPr/>
        </p:nvSpPr>
        <p:spPr>
          <a:xfrm>
            <a:off x="841248" y="4261104"/>
            <a:ext cx="182880" cy="182880"/>
          </a:xfrm>
          <a:prstGeom prst="ellipse">
            <a:avLst/>
          </a:prstGeom>
          <a:solidFill>
            <a:srgbClr val="9B84F7"/>
          </a:solidFill>
          <a:ln/>
        </p:spPr>
      </p:sp>
      <p:sp>
        <p:nvSpPr>
          <p:cNvPr id="34" name="Text 32"/>
          <p:cNvSpPr/>
          <p:nvPr/>
        </p:nvSpPr>
        <p:spPr>
          <a:xfrm>
            <a:off x="1115568" y="4187952"/>
            <a:ext cx="2834640" cy="310896"/>
          </a:xfrm>
          <a:prstGeom prst="rect">
            <a:avLst/>
          </a:prstGeom>
          <a:noFill/>
          <a:ln/>
        </p:spPr>
        <p:txBody>
          <a:bodyPr wrap="square" lIns="0" tIns="0" rIns="0" bIns="0" rtlCol="0" anchor="ctr"/>
          <a:lstStyle/>
          <a:p>
            <a:pPr indent="0" marL="0">
              <a:buNone/>
            </a:pPr>
            <a:r>
              <a:rPr lang="en-US" sz="1450" b="1" dirty="0">
                <a:solidFill>
                  <a:srgbClr val="F2F5F8"/>
                </a:solidFill>
                <a:latin typeface="Arial" pitchFamily="34" charset="0"/>
                <a:ea typeface="Arial" pitchFamily="34" charset="-122"/>
                <a:cs typeface="Arial" pitchFamily="34" charset="-120"/>
              </a:rPr>
              <a:t>Presentation</a:t>
            </a:r>
            <a:endParaRPr lang="en-US" sz="1450" dirty="0"/>
          </a:p>
        </p:txBody>
      </p:sp>
      <p:sp>
        <p:nvSpPr>
          <p:cNvPr id="35" name="Text 33"/>
          <p:cNvSpPr/>
          <p:nvPr/>
        </p:nvSpPr>
        <p:spPr>
          <a:xfrm>
            <a:off x="859536" y="4608576"/>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Page layouts</a:t>
            </a:r>
            <a:endParaRPr lang="en-US" sz="1050" dirty="0"/>
          </a:p>
        </p:txBody>
      </p:sp>
      <p:sp>
        <p:nvSpPr>
          <p:cNvPr id="36" name="Text 34"/>
          <p:cNvSpPr/>
          <p:nvPr/>
        </p:nvSpPr>
        <p:spPr>
          <a:xfrm>
            <a:off x="859536" y="4837176"/>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Lightning pages</a:t>
            </a:r>
            <a:endParaRPr lang="en-US" sz="1050" dirty="0"/>
          </a:p>
        </p:txBody>
      </p:sp>
      <p:sp>
        <p:nvSpPr>
          <p:cNvPr id="37" name="Text 35"/>
          <p:cNvSpPr/>
          <p:nvPr/>
        </p:nvSpPr>
        <p:spPr>
          <a:xfrm>
            <a:off x="859536" y="5065776"/>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Quick actions</a:t>
            </a:r>
            <a:endParaRPr lang="en-US" sz="1050" dirty="0"/>
          </a:p>
        </p:txBody>
      </p:sp>
      <p:sp>
        <p:nvSpPr>
          <p:cNvPr id="38" name="Text 36"/>
          <p:cNvSpPr/>
          <p:nvPr/>
        </p:nvSpPr>
        <p:spPr>
          <a:xfrm>
            <a:off x="859536" y="5294376"/>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Buttons and links</a:t>
            </a:r>
            <a:endParaRPr lang="en-US" sz="1050" dirty="0"/>
          </a:p>
        </p:txBody>
      </p:sp>
      <p:sp>
        <p:nvSpPr>
          <p:cNvPr id="39" name="Text 37"/>
          <p:cNvSpPr/>
          <p:nvPr/>
        </p:nvSpPr>
        <p:spPr>
          <a:xfrm>
            <a:off x="859536" y="5522976"/>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Compact layouts</a:t>
            </a:r>
            <a:endParaRPr lang="en-US" sz="1050" dirty="0"/>
          </a:p>
        </p:txBody>
      </p:sp>
      <p:sp>
        <p:nvSpPr>
          <p:cNvPr id="40" name="Text 38"/>
          <p:cNvSpPr/>
          <p:nvPr/>
        </p:nvSpPr>
        <p:spPr>
          <a:xfrm>
            <a:off x="859536" y="5751576"/>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Path assistants</a:t>
            </a:r>
            <a:endParaRPr lang="en-US" sz="1050" dirty="0"/>
          </a:p>
        </p:txBody>
      </p:sp>
      <p:sp>
        <p:nvSpPr>
          <p:cNvPr id="41" name="Shape 39"/>
          <p:cNvSpPr/>
          <p:nvPr/>
        </p:nvSpPr>
        <p:spPr>
          <a:xfrm>
            <a:off x="4297680" y="4005072"/>
            <a:ext cx="3520440" cy="2029968"/>
          </a:xfrm>
          <a:prstGeom prst="roundRect">
            <a:avLst>
              <a:gd name="adj" fmla="val 2703"/>
            </a:avLst>
          </a:prstGeom>
          <a:solidFill>
            <a:srgbClr val="1A2430"/>
          </a:solidFill>
          <a:ln w="12700">
            <a:solidFill>
              <a:srgbClr val="32435A"/>
            </a:solidFill>
            <a:prstDash val="solid"/>
          </a:ln>
        </p:spPr>
      </p:sp>
      <p:sp>
        <p:nvSpPr>
          <p:cNvPr id="42" name="Shape 40"/>
          <p:cNvSpPr/>
          <p:nvPr/>
        </p:nvSpPr>
        <p:spPr>
          <a:xfrm>
            <a:off x="4572000" y="4261104"/>
            <a:ext cx="182880" cy="182880"/>
          </a:xfrm>
          <a:prstGeom prst="ellipse">
            <a:avLst/>
          </a:prstGeom>
          <a:solidFill>
            <a:srgbClr val="29B6D8"/>
          </a:solidFill>
          <a:ln/>
        </p:spPr>
      </p:sp>
      <p:sp>
        <p:nvSpPr>
          <p:cNvPr id="43" name="Text 41"/>
          <p:cNvSpPr/>
          <p:nvPr/>
        </p:nvSpPr>
        <p:spPr>
          <a:xfrm>
            <a:off x="4846320" y="4187952"/>
            <a:ext cx="2834640" cy="310896"/>
          </a:xfrm>
          <a:prstGeom prst="rect">
            <a:avLst/>
          </a:prstGeom>
          <a:noFill/>
          <a:ln/>
        </p:spPr>
        <p:txBody>
          <a:bodyPr wrap="square" lIns="0" tIns="0" rIns="0" bIns="0" rtlCol="0" anchor="ctr"/>
          <a:lstStyle/>
          <a:p>
            <a:pPr indent="0" marL="0">
              <a:buNone/>
            </a:pPr>
            <a:r>
              <a:rPr lang="en-US" sz="1450" b="1" dirty="0">
                <a:solidFill>
                  <a:srgbClr val="F2F5F8"/>
                </a:solidFill>
                <a:latin typeface="Arial" pitchFamily="34" charset="0"/>
                <a:ea typeface="Arial" pitchFamily="34" charset="-122"/>
                <a:cs typeface="Arial" pitchFamily="34" charset="-120"/>
              </a:rPr>
              <a:t>Reporting</a:t>
            </a:r>
            <a:endParaRPr lang="en-US" sz="1450" dirty="0"/>
          </a:p>
        </p:txBody>
      </p:sp>
      <p:sp>
        <p:nvSpPr>
          <p:cNvPr id="44" name="Text 42"/>
          <p:cNvSpPr/>
          <p:nvPr/>
        </p:nvSpPr>
        <p:spPr>
          <a:xfrm>
            <a:off x="4590288" y="4608576"/>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Reports</a:t>
            </a:r>
            <a:endParaRPr lang="en-US" sz="1050" dirty="0"/>
          </a:p>
        </p:txBody>
      </p:sp>
      <p:sp>
        <p:nvSpPr>
          <p:cNvPr id="45" name="Text 43"/>
          <p:cNvSpPr/>
          <p:nvPr/>
        </p:nvSpPr>
        <p:spPr>
          <a:xfrm>
            <a:off x="4590288" y="4837176"/>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Dashboards</a:t>
            </a:r>
            <a:endParaRPr lang="en-US" sz="1050" dirty="0"/>
          </a:p>
        </p:txBody>
      </p:sp>
      <p:sp>
        <p:nvSpPr>
          <p:cNvPr id="46" name="Text 44"/>
          <p:cNvSpPr/>
          <p:nvPr/>
        </p:nvSpPr>
        <p:spPr>
          <a:xfrm>
            <a:off x="4590288" y="5065776"/>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Report types</a:t>
            </a:r>
            <a:endParaRPr lang="en-US" sz="1050" dirty="0"/>
          </a:p>
        </p:txBody>
      </p:sp>
      <p:sp>
        <p:nvSpPr>
          <p:cNvPr id="47" name="Text 45"/>
          <p:cNvSpPr/>
          <p:nvPr/>
        </p:nvSpPr>
        <p:spPr>
          <a:xfrm>
            <a:off x="4590288" y="5294376"/>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List views</a:t>
            </a:r>
            <a:endParaRPr lang="en-US" sz="1050" dirty="0"/>
          </a:p>
        </p:txBody>
      </p:sp>
      <p:sp>
        <p:nvSpPr>
          <p:cNvPr id="48" name="Text 46"/>
          <p:cNvSpPr/>
          <p:nvPr/>
        </p:nvSpPr>
        <p:spPr>
          <a:xfrm>
            <a:off x="4590288" y="5522976"/>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Reporting snapshots</a:t>
            </a:r>
            <a:endParaRPr lang="en-US" sz="1050" dirty="0"/>
          </a:p>
        </p:txBody>
      </p:sp>
      <p:sp>
        <p:nvSpPr>
          <p:cNvPr id="49" name="Text 47"/>
          <p:cNvSpPr/>
          <p:nvPr/>
        </p:nvSpPr>
        <p:spPr>
          <a:xfrm>
            <a:off x="4590288" y="5751576"/>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Email templates</a:t>
            </a:r>
            <a:endParaRPr lang="en-US" sz="1050" dirty="0"/>
          </a:p>
        </p:txBody>
      </p:sp>
      <p:sp>
        <p:nvSpPr>
          <p:cNvPr id="50" name="Shape 48"/>
          <p:cNvSpPr/>
          <p:nvPr/>
        </p:nvSpPr>
        <p:spPr>
          <a:xfrm>
            <a:off x="8028432" y="4005072"/>
            <a:ext cx="3520440" cy="2029968"/>
          </a:xfrm>
          <a:prstGeom prst="roundRect">
            <a:avLst>
              <a:gd name="adj" fmla="val 2703"/>
            </a:avLst>
          </a:prstGeom>
          <a:solidFill>
            <a:srgbClr val="1A2430"/>
          </a:solidFill>
          <a:ln w="12700">
            <a:solidFill>
              <a:srgbClr val="32435A"/>
            </a:solidFill>
            <a:prstDash val="solid"/>
          </a:ln>
        </p:spPr>
      </p:sp>
      <p:sp>
        <p:nvSpPr>
          <p:cNvPr id="51" name="Shape 49"/>
          <p:cNvSpPr/>
          <p:nvPr/>
        </p:nvSpPr>
        <p:spPr>
          <a:xfrm>
            <a:off x="8302752" y="4261104"/>
            <a:ext cx="182880" cy="182880"/>
          </a:xfrm>
          <a:prstGeom prst="ellipse">
            <a:avLst/>
          </a:prstGeom>
          <a:solidFill>
            <a:srgbClr val="3FBF92"/>
          </a:solidFill>
          <a:ln/>
        </p:spPr>
      </p:sp>
      <p:sp>
        <p:nvSpPr>
          <p:cNvPr id="52" name="Text 50"/>
          <p:cNvSpPr/>
          <p:nvPr/>
        </p:nvSpPr>
        <p:spPr>
          <a:xfrm>
            <a:off x="8577072" y="4187952"/>
            <a:ext cx="2834640" cy="310896"/>
          </a:xfrm>
          <a:prstGeom prst="rect">
            <a:avLst/>
          </a:prstGeom>
          <a:noFill/>
          <a:ln/>
        </p:spPr>
        <p:txBody>
          <a:bodyPr wrap="square" lIns="0" tIns="0" rIns="0" bIns="0" rtlCol="0" anchor="ctr"/>
          <a:lstStyle/>
          <a:p>
            <a:pPr indent="0" marL="0">
              <a:buNone/>
            </a:pPr>
            <a:r>
              <a:rPr lang="en-US" sz="1450" b="1" dirty="0">
                <a:solidFill>
                  <a:srgbClr val="F2F5F8"/>
                </a:solidFill>
                <a:latin typeface="Arial" pitchFamily="34" charset="0"/>
                <a:ea typeface="Arial" pitchFamily="34" charset="-122"/>
                <a:cs typeface="Arial" pitchFamily="34" charset="-120"/>
              </a:rPr>
              <a:t>Access &amp; integration</a:t>
            </a:r>
            <a:endParaRPr lang="en-US" sz="1450" dirty="0"/>
          </a:p>
        </p:txBody>
      </p:sp>
      <p:sp>
        <p:nvSpPr>
          <p:cNvPr id="53" name="Text 51"/>
          <p:cNvSpPr/>
          <p:nvPr/>
        </p:nvSpPr>
        <p:spPr>
          <a:xfrm>
            <a:off x="8321040" y="4608576"/>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Profiles</a:t>
            </a:r>
            <a:endParaRPr lang="en-US" sz="1050" dirty="0"/>
          </a:p>
        </p:txBody>
      </p:sp>
      <p:sp>
        <p:nvSpPr>
          <p:cNvPr id="54" name="Text 52"/>
          <p:cNvSpPr/>
          <p:nvPr/>
        </p:nvSpPr>
        <p:spPr>
          <a:xfrm>
            <a:off x="8321040" y="4837176"/>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Permission sets</a:t>
            </a:r>
            <a:endParaRPr lang="en-US" sz="1050" dirty="0"/>
          </a:p>
        </p:txBody>
      </p:sp>
      <p:sp>
        <p:nvSpPr>
          <p:cNvPr id="55" name="Text 53"/>
          <p:cNvSpPr/>
          <p:nvPr/>
        </p:nvSpPr>
        <p:spPr>
          <a:xfrm>
            <a:off x="8321040" y="5065776"/>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Custom permissions</a:t>
            </a:r>
            <a:endParaRPr lang="en-US" sz="1050" dirty="0"/>
          </a:p>
        </p:txBody>
      </p:sp>
      <p:sp>
        <p:nvSpPr>
          <p:cNvPr id="56" name="Text 54"/>
          <p:cNvSpPr/>
          <p:nvPr/>
        </p:nvSpPr>
        <p:spPr>
          <a:xfrm>
            <a:off x="8321040" y="5294376"/>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Connected apps</a:t>
            </a:r>
            <a:endParaRPr lang="en-US" sz="1050" dirty="0"/>
          </a:p>
        </p:txBody>
      </p:sp>
      <p:sp>
        <p:nvSpPr>
          <p:cNvPr id="57" name="Text 55"/>
          <p:cNvSpPr/>
          <p:nvPr/>
        </p:nvSpPr>
        <p:spPr>
          <a:xfrm>
            <a:off x="8321040" y="5522976"/>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Named credentials</a:t>
            </a:r>
            <a:endParaRPr lang="en-US" sz="1050" dirty="0"/>
          </a:p>
        </p:txBody>
      </p:sp>
      <p:sp>
        <p:nvSpPr>
          <p:cNvPr id="58" name="Text 56"/>
          <p:cNvSpPr/>
          <p:nvPr/>
        </p:nvSpPr>
        <p:spPr>
          <a:xfrm>
            <a:off x="8321040" y="5751576"/>
            <a:ext cx="3108960" cy="219456"/>
          </a:xfrm>
          <a:prstGeom prst="rect">
            <a:avLst/>
          </a:prstGeom>
          <a:noFill/>
          <a:ln/>
        </p:spPr>
        <p:txBody>
          <a:bodyPr wrap="square" lIns="0" tIns="0" rIns="0" bIns="0" rtlCol="0" anchor="ctr"/>
          <a:lstStyle/>
          <a:p>
            <a:pPr indent="0" marL="0">
              <a:buNone/>
            </a:pPr>
            <a:r>
              <a:rPr lang="en-US" sz="1050" dirty="0">
                <a:solidFill>
                  <a:srgbClr val="A8B4C4"/>
                </a:solidFill>
                <a:latin typeface="Calibri" pitchFamily="34" charset="0"/>
                <a:ea typeface="Calibri" pitchFamily="34" charset="-122"/>
                <a:cs typeface="Calibri" pitchFamily="34" charset="-120"/>
              </a:rPr>
              <a:t>Platform events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11712" y="6455664"/>
            <a:ext cx="365760" cy="274320"/>
          </a:xfrm>
          <a:prstGeom prst="rect">
            <a:avLst/>
          </a:prstGeom>
          <a:noFill/>
          <a:ln/>
        </p:spPr>
        <p:txBody>
          <a:bodyPr wrap="square" lIns="0" tIns="0" rIns="0" bIns="0" rtlCol="0" anchor="ctr"/>
          <a:lstStyle/>
          <a:p>
            <a:pPr algn="r" indent="0" marL="0">
              <a:buNone/>
            </a:pPr>
            <a:r>
              <a:rPr lang="en-US" sz="1000" dirty="0">
                <a:solidFill>
                  <a:srgbClr val="A0A8B4"/>
                </a:solidFill>
                <a:latin typeface="Calibri" pitchFamily="34" charset="0"/>
                <a:ea typeface="Calibri" pitchFamily="34" charset="-122"/>
                <a:cs typeface="Calibri" pitchFamily="34" charset="-120"/>
              </a:rPr>
              <a:t>6</a:t>
            </a:r>
            <a:endParaRPr lang="en-US" sz="1000" dirty="0"/>
          </a:p>
        </p:txBody>
      </p:sp>
      <p:sp>
        <p:nvSpPr>
          <p:cNvPr id="3" name="Text 1"/>
          <p:cNvSpPr/>
          <p:nvPr/>
        </p:nvSpPr>
        <p:spPr>
          <a:xfrm>
            <a:off x="566928" y="402336"/>
            <a:ext cx="11055096" cy="713232"/>
          </a:xfrm>
          <a:prstGeom prst="rect">
            <a:avLst/>
          </a:prstGeom>
          <a:noFill/>
          <a:ln/>
        </p:spPr>
        <p:txBody>
          <a:bodyPr wrap="square" lIns="0" tIns="0" rIns="0" bIns="0" rtlCol="0" anchor="ctr"/>
          <a:lstStyle/>
          <a:p>
            <a:pPr indent="0" marL="0">
              <a:buNone/>
            </a:pPr>
            <a:r>
              <a:rPr lang="en-US" sz="3400" b="1" dirty="0">
                <a:solidFill>
                  <a:srgbClr val="0F1620"/>
                </a:solidFill>
                <a:latin typeface="Arial" pitchFamily="34" charset="0"/>
                <a:ea typeface="Arial" pitchFamily="34" charset="-122"/>
                <a:cs typeface="Arial" pitchFamily="34" charset="-120"/>
              </a:rPr>
              <a:t>Agent, workflow, or hybrid?</a:t>
            </a:r>
            <a:endParaRPr lang="en-US" sz="3400" dirty="0"/>
          </a:p>
        </p:txBody>
      </p:sp>
      <p:sp>
        <p:nvSpPr>
          <p:cNvPr id="4" name="Text 2"/>
          <p:cNvSpPr/>
          <p:nvPr/>
        </p:nvSpPr>
        <p:spPr>
          <a:xfrm>
            <a:off x="566928" y="1115568"/>
            <a:ext cx="11055096" cy="402336"/>
          </a:xfrm>
          <a:prstGeom prst="rect">
            <a:avLst/>
          </a:prstGeom>
          <a:noFill/>
          <a:ln/>
        </p:spPr>
        <p:txBody>
          <a:bodyPr wrap="square" lIns="0" tIns="0" rIns="0" bIns="0" rtlCol="0" anchor="ctr"/>
          <a:lstStyle/>
          <a:p>
            <a:pPr indent="0" marL="0">
              <a:buNone/>
            </a:pPr>
            <a:r>
              <a:rPr lang="en-US" sz="1450" dirty="0">
                <a:solidFill>
                  <a:srgbClr val="55606E"/>
                </a:solidFill>
                <a:latin typeface="Calibri" pitchFamily="34" charset="0"/>
                <a:ea typeface="Calibri" pitchFamily="34" charset="-122"/>
                <a:cs typeface="Calibri" pitchFamily="34" charset="-120"/>
              </a:rPr>
              <a:t>The architecture decision that determines whether this is trustworthy.</a:t>
            </a:r>
            <a:endParaRPr lang="en-US" sz="1450" dirty="0"/>
          </a:p>
        </p:txBody>
      </p:sp>
      <p:sp>
        <p:nvSpPr>
          <p:cNvPr id="5" name="Shape 3"/>
          <p:cNvSpPr/>
          <p:nvPr/>
        </p:nvSpPr>
        <p:spPr>
          <a:xfrm>
            <a:off x="566928" y="1792224"/>
            <a:ext cx="3520440" cy="4224528"/>
          </a:xfrm>
          <a:prstGeom prst="roundRect">
            <a:avLst>
              <a:gd name="adj" fmla="val 1558"/>
            </a:avLst>
          </a:prstGeom>
          <a:solidFill>
            <a:srgbClr val="E8ECF2"/>
          </a:solidFill>
          <a:ln w="12700">
            <a:solidFill>
              <a:srgbClr val="8A94A4"/>
            </a:solidFill>
            <a:prstDash val="solid"/>
          </a:ln>
        </p:spPr>
      </p:sp>
      <p:sp>
        <p:nvSpPr>
          <p:cNvPr id="6" name="Text 4"/>
          <p:cNvSpPr/>
          <p:nvPr/>
        </p:nvSpPr>
        <p:spPr>
          <a:xfrm>
            <a:off x="841248" y="2011680"/>
            <a:ext cx="3017520" cy="329184"/>
          </a:xfrm>
          <a:prstGeom prst="rect">
            <a:avLst/>
          </a:prstGeom>
          <a:noFill/>
          <a:ln/>
        </p:spPr>
        <p:txBody>
          <a:bodyPr wrap="square" lIns="0" tIns="0" rIns="0" bIns="0" rtlCol="0" anchor="ctr"/>
          <a:lstStyle/>
          <a:p>
            <a:pPr indent="0" marL="0">
              <a:buNone/>
            </a:pPr>
            <a:r>
              <a:rPr lang="en-US" sz="1550" b="1" dirty="0">
                <a:solidFill>
                  <a:srgbClr val="3A4553"/>
                </a:solidFill>
                <a:latin typeface="Arial" pitchFamily="34" charset="0"/>
                <a:ea typeface="Arial" pitchFamily="34" charset="-122"/>
                <a:cs typeface="Arial" pitchFamily="34" charset="-120"/>
              </a:rPr>
              <a:t>Pure agent</a:t>
            </a:r>
            <a:endParaRPr lang="en-US" sz="1550" dirty="0"/>
          </a:p>
        </p:txBody>
      </p:sp>
      <p:sp>
        <p:nvSpPr>
          <p:cNvPr id="7" name="Text 5"/>
          <p:cNvSpPr/>
          <p:nvPr/>
        </p:nvSpPr>
        <p:spPr>
          <a:xfrm>
            <a:off x="841248" y="2487168"/>
            <a:ext cx="3017520" cy="237744"/>
          </a:xfrm>
          <a:prstGeom prst="rect">
            <a:avLst/>
          </a:prstGeom>
          <a:noFill/>
          <a:ln/>
        </p:spPr>
        <p:txBody>
          <a:bodyPr wrap="square" lIns="0" tIns="0" rIns="0" bIns="0" rtlCol="0" anchor="ctr"/>
          <a:lstStyle/>
          <a:p>
            <a:pPr indent="0" marL="0">
              <a:buNone/>
            </a:pPr>
            <a:r>
              <a:rPr lang="en-US" sz="1200" b="1" dirty="0">
                <a:solidFill>
                  <a:srgbClr val="2B3A46"/>
                </a:solidFill>
                <a:latin typeface="Calibri" pitchFamily="34" charset="0"/>
                <a:ea typeface="Calibri" pitchFamily="34" charset="-122"/>
                <a:cs typeface="Calibri" pitchFamily="34" charset="-120"/>
              </a:rPr>
              <a:t>Non-deterministic</a:t>
            </a:r>
            <a:endParaRPr lang="en-US" sz="1200" dirty="0"/>
          </a:p>
        </p:txBody>
      </p:sp>
      <p:sp>
        <p:nvSpPr>
          <p:cNvPr id="8" name="Text 6"/>
          <p:cNvSpPr/>
          <p:nvPr/>
        </p:nvSpPr>
        <p:spPr>
          <a:xfrm>
            <a:off x="841248" y="2724912"/>
            <a:ext cx="3017520" cy="420624"/>
          </a:xfrm>
          <a:prstGeom prst="rect">
            <a:avLst/>
          </a:prstGeom>
          <a:noFill/>
          <a:ln/>
        </p:spPr>
        <p:txBody>
          <a:bodyPr wrap="square" lIns="0" tIns="0" rIns="0" bIns="0" rtlCol="0" anchor="ctr"/>
          <a:lstStyle/>
          <a:p>
            <a:pPr indent="0" marL="0">
              <a:lnSpc>
                <a:spcPts val="1300"/>
              </a:lnSpc>
              <a:buNone/>
            </a:pPr>
            <a:r>
              <a:rPr lang="en-US" sz="1050" dirty="0">
                <a:solidFill>
                  <a:srgbClr val="6B7686"/>
                </a:solidFill>
                <a:latin typeface="Calibri" pitchFamily="34" charset="0"/>
                <a:ea typeface="Calibri" pitchFamily="34" charset="-122"/>
                <a:cs typeface="Calibri" pitchFamily="34" charset="-120"/>
              </a:rPr>
              <a:t>the same org yields different answers run to run</a:t>
            </a:r>
            <a:endParaRPr lang="en-US" sz="1050" dirty="0"/>
          </a:p>
        </p:txBody>
      </p:sp>
      <p:sp>
        <p:nvSpPr>
          <p:cNvPr id="9" name="Text 7"/>
          <p:cNvSpPr/>
          <p:nvPr/>
        </p:nvSpPr>
        <p:spPr>
          <a:xfrm>
            <a:off x="841248" y="3182112"/>
            <a:ext cx="3017520" cy="237744"/>
          </a:xfrm>
          <a:prstGeom prst="rect">
            <a:avLst/>
          </a:prstGeom>
          <a:noFill/>
          <a:ln/>
        </p:spPr>
        <p:txBody>
          <a:bodyPr wrap="square" lIns="0" tIns="0" rIns="0" bIns="0" rtlCol="0" anchor="ctr"/>
          <a:lstStyle/>
          <a:p>
            <a:pPr indent="0" marL="0">
              <a:buNone/>
            </a:pPr>
            <a:r>
              <a:rPr lang="en-US" sz="1200" b="1" dirty="0">
                <a:solidFill>
                  <a:srgbClr val="2B3A46"/>
                </a:solidFill>
                <a:latin typeface="Calibri" pitchFamily="34" charset="0"/>
                <a:ea typeface="Calibri" pitchFamily="34" charset="-122"/>
                <a:cs typeface="Calibri" pitchFamily="34" charset="-120"/>
              </a:rPr>
              <a:t>Token cost repeats</a:t>
            </a:r>
            <a:endParaRPr lang="en-US" sz="1200" dirty="0"/>
          </a:p>
        </p:txBody>
      </p:sp>
      <p:sp>
        <p:nvSpPr>
          <p:cNvPr id="10" name="Text 8"/>
          <p:cNvSpPr/>
          <p:nvPr/>
        </p:nvSpPr>
        <p:spPr>
          <a:xfrm>
            <a:off x="841248" y="3419856"/>
            <a:ext cx="3017520" cy="420624"/>
          </a:xfrm>
          <a:prstGeom prst="rect">
            <a:avLst/>
          </a:prstGeom>
          <a:noFill/>
          <a:ln/>
        </p:spPr>
        <p:txBody>
          <a:bodyPr wrap="square" lIns="0" tIns="0" rIns="0" bIns="0" rtlCol="0" anchor="ctr"/>
          <a:lstStyle/>
          <a:p>
            <a:pPr indent="0" marL="0">
              <a:lnSpc>
                <a:spcPts val="1300"/>
              </a:lnSpc>
              <a:buNone/>
            </a:pPr>
            <a:r>
              <a:rPr lang="en-US" sz="1050" dirty="0">
                <a:solidFill>
                  <a:srgbClr val="6B7686"/>
                </a:solidFill>
                <a:latin typeface="Calibri" pitchFamily="34" charset="0"/>
                <a:ea typeface="Calibri" pitchFamily="34" charset="-122"/>
                <a:cs typeface="Calibri" pitchFamily="34" charset="-120"/>
              </a:rPr>
              <a:t>every run re-reads every component from scratch</a:t>
            </a:r>
            <a:endParaRPr lang="en-US" sz="1050" dirty="0"/>
          </a:p>
        </p:txBody>
      </p:sp>
      <p:sp>
        <p:nvSpPr>
          <p:cNvPr id="11" name="Text 9"/>
          <p:cNvSpPr/>
          <p:nvPr/>
        </p:nvSpPr>
        <p:spPr>
          <a:xfrm>
            <a:off x="841248" y="3877056"/>
            <a:ext cx="3017520" cy="237744"/>
          </a:xfrm>
          <a:prstGeom prst="rect">
            <a:avLst/>
          </a:prstGeom>
          <a:noFill/>
          <a:ln/>
        </p:spPr>
        <p:txBody>
          <a:bodyPr wrap="square" lIns="0" tIns="0" rIns="0" bIns="0" rtlCol="0" anchor="ctr"/>
          <a:lstStyle/>
          <a:p>
            <a:pPr indent="0" marL="0">
              <a:buNone/>
            </a:pPr>
            <a:r>
              <a:rPr lang="en-US" sz="1200" b="1" dirty="0">
                <a:solidFill>
                  <a:srgbClr val="2B3A46"/>
                </a:solidFill>
                <a:latin typeface="Calibri" pitchFamily="34" charset="0"/>
                <a:ea typeface="Calibri" pitchFamily="34" charset="-122"/>
                <a:cs typeface="Calibri" pitchFamily="34" charset="-120"/>
              </a:rPr>
              <a:t>Silent omissions</a:t>
            </a:r>
            <a:endParaRPr lang="en-US" sz="1200" dirty="0"/>
          </a:p>
        </p:txBody>
      </p:sp>
      <p:sp>
        <p:nvSpPr>
          <p:cNvPr id="12" name="Text 10"/>
          <p:cNvSpPr/>
          <p:nvPr/>
        </p:nvSpPr>
        <p:spPr>
          <a:xfrm>
            <a:off x="841248" y="4114800"/>
            <a:ext cx="3017520" cy="420624"/>
          </a:xfrm>
          <a:prstGeom prst="rect">
            <a:avLst/>
          </a:prstGeom>
          <a:noFill/>
          <a:ln/>
        </p:spPr>
        <p:txBody>
          <a:bodyPr wrap="square" lIns="0" tIns="0" rIns="0" bIns="0" rtlCol="0" anchor="ctr"/>
          <a:lstStyle/>
          <a:p>
            <a:pPr indent="0" marL="0">
              <a:lnSpc>
                <a:spcPts val="1300"/>
              </a:lnSpc>
              <a:buNone/>
            </a:pPr>
            <a:r>
              <a:rPr lang="en-US" sz="1050" dirty="0">
                <a:solidFill>
                  <a:srgbClr val="6B7686"/>
                </a:solidFill>
                <a:latin typeface="Calibri" pitchFamily="34" charset="0"/>
                <a:ea typeface="Calibri" pitchFamily="34" charset="-122"/>
                <a:cs typeface="Calibri" pitchFamily="34" charset="-120"/>
              </a:rPr>
              <a:t>no way to know which checks it chose to skip</a:t>
            </a:r>
            <a:endParaRPr lang="en-US" sz="1050" dirty="0"/>
          </a:p>
        </p:txBody>
      </p:sp>
      <p:sp>
        <p:nvSpPr>
          <p:cNvPr id="13" name="Text 11"/>
          <p:cNvSpPr/>
          <p:nvPr/>
        </p:nvSpPr>
        <p:spPr>
          <a:xfrm>
            <a:off x="841248" y="4572000"/>
            <a:ext cx="3017520" cy="237744"/>
          </a:xfrm>
          <a:prstGeom prst="rect">
            <a:avLst/>
          </a:prstGeom>
          <a:noFill/>
          <a:ln/>
        </p:spPr>
        <p:txBody>
          <a:bodyPr wrap="square" lIns="0" tIns="0" rIns="0" bIns="0" rtlCol="0" anchor="ctr"/>
          <a:lstStyle/>
          <a:p>
            <a:pPr indent="0" marL="0">
              <a:buNone/>
            </a:pPr>
            <a:r>
              <a:rPr lang="en-US" sz="1200" b="1" dirty="0">
                <a:solidFill>
                  <a:srgbClr val="2B3A46"/>
                </a:solidFill>
                <a:latin typeface="Calibri" pitchFamily="34" charset="0"/>
                <a:ea typeface="Calibri" pitchFamily="34" charset="-122"/>
                <a:cs typeface="Calibri" pitchFamily="34" charset="-120"/>
              </a:rPr>
              <a:t>Unauditable</a:t>
            </a:r>
            <a:endParaRPr lang="en-US" sz="1200" dirty="0"/>
          </a:p>
        </p:txBody>
      </p:sp>
      <p:sp>
        <p:nvSpPr>
          <p:cNvPr id="14" name="Text 12"/>
          <p:cNvSpPr/>
          <p:nvPr/>
        </p:nvSpPr>
        <p:spPr>
          <a:xfrm>
            <a:off x="841248" y="4809744"/>
            <a:ext cx="3017520" cy="420624"/>
          </a:xfrm>
          <a:prstGeom prst="rect">
            <a:avLst/>
          </a:prstGeom>
          <a:noFill/>
          <a:ln/>
        </p:spPr>
        <p:txBody>
          <a:bodyPr wrap="square" lIns="0" tIns="0" rIns="0" bIns="0" rtlCol="0" anchor="ctr"/>
          <a:lstStyle/>
          <a:p>
            <a:pPr indent="0" marL="0">
              <a:lnSpc>
                <a:spcPts val="1300"/>
              </a:lnSpc>
              <a:buNone/>
            </a:pPr>
            <a:r>
              <a:rPr lang="en-US" sz="1050" dirty="0">
                <a:solidFill>
                  <a:srgbClr val="6B7686"/>
                </a:solidFill>
                <a:latin typeface="Calibri" pitchFamily="34" charset="0"/>
                <a:ea typeface="Calibri" pitchFamily="34" charset="-122"/>
                <a:cs typeface="Calibri" pitchFamily="34" charset="-120"/>
              </a:rPr>
              <a:t>"it decided" is not a defensible reason to delete</a:t>
            </a:r>
            <a:endParaRPr lang="en-US" sz="1050" dirty="0"/>
          </a:p>
        </p:txBody>
      </p:sp>
      <p:sp>
        <p:nvSpPr>
          <p:cNvPr id="15" name="Text 13"/>
          <p:cNvSpPr/>
          <p:nvPr/>
        </p:nvSpPr>
        <p:spPr>
          <a:xfrm>
            <a:off x="841248" y="5266944"/>
            <a:ext cx="3017520" cy="237744"/>
          </a:xfrm>
          <a:prstGeom prst="rect">
            <a:avLst/>
          </a:prstGeom>
          <a:noFill/>
          <a:ln/>
        </p:spPr>
        <p:txBody>
          <a:bodyPr wrap="square" lIns="0" tIns="0" rIns="0" bIns="0" rtlCol="0" anchor="ctr"/>
          <a:lstStyle/>
          <a:p>
            <a:pPr indent="0" marL="0">
              <a:buNone/>
            </a:pPr>
            <a:r>
              <a:rPr lang="en-US" sz="1200" b="1" dirty="0">
                <a:solidFill>
                  <a:srgbClr val="2B3A46"/>
                </a:solidFill>
                <a:latin typeface="Calibri" pitchFamily="34" charset="0"/>
                <a:ea typeface="Calibri" pitchFamily="34" charset="-122"/>
                <a:cs typeface="Calibri" pitchFamily="34" charset="-120"/>
              </a:rPr>
              <a:t>No coverage guarantee</a:t>
            </a:r>
            <a:endParaRPr lang="en-US" sz="1200" dirty="0"/>
          </a:p>
        </p:txBody>
      </p:sp>
      <p:sp>
        <p:nvSpPr>
          <p:cNvPr id="16" name="Text 14"/>
          <p:cNvSpPr/>
          <p:nvPr/>
        </p:nvSpPr>
        <p:spPr>
          <a:xfrm>
            <a:off x="841248" y="5504688"/>
            <a:ext cx="3017520" cy="420624"/>
          </a:xfrm>
          <a:prstGeom prst="rect">
            <a:avLst/>
          </a:prstGeom>
          <a:noFill/>
          <a:ln/>
        </p:spPr>
        <p:txBody>
          <a:bodyPr wrap="square" lIns="0" tIns="0" rIns="0" bIns="0" rtlCol="0" anchor="ctr"/>
          <a:lstStyle/>
          <a:p>
            <a:pPr indent="0" marL="0">
              <a:lnSpc>
                <a:spcPts val="1300"/>
              </a:lnSpc>
              <a:buNone/>
            </a:pPr>
            <a:r>
              <a:rPr lang="en-US" sz="1050" dirty="0">
                <a:solidFill>
                  <a:srgbClr val="6B7686"/>
                </a:solidFill>
                <a:latin typeface="Calibri" pitchFamily="34" charset="0"/>
                <a:ea typeface="Calibri" pitchFamily="34" charset="-122"/>
                <a:cs typeface="Calibri" pitchFamily="34" charset="-120"/>
              </a:rPr>
              <a:t>cannot prove a source was searched</a:t>
            </a:r>
            <a:endParaRPr lang="en-US" sz="1050" dirty="0"/>
          </a:p>
        </p:txBody>
      </p:sp>
      <p:sp>
        <p:nvSpPr>
          <p:cNvPr id="17" name="Shape 15"/>
          <p:cNvSpPr/>
          <p:nvPr/>
        </p:nvSpPr>
        <p:spPr>
          <a:xfrm>
            <a:off x="4297680" y="1792224"/>
            <a:ext cx="3520440" cy="4224528"/>
          </a:xfrm>
          <a:prstGeom prst="roundRect">
            <a:avLst>
              <a:gd name="adj" fmla="val 1558"/>
            </a:avLst>
          </a:prstGeom>
          <a:solidFill>
            <a:srgbClr val="E8ECF2"/>
          </a:solidFill>
          <a:ln w="12700">
            <a:solidFill>
              <a:srgbClr val="8A94A4"/>
            </a:solidFill>
            <a:prstDash val="solid"/>
          </a:ln>
        </p:spPr>
      </p:sp>
      <p:sp>
        <p:nvSpPr>
          <p:cNvPr id="18" name="Text 16"/>
          <p:cNvSpPr/>
          <p:nvPr/>
        </p:nvSpPr>
        <p:spPr>
          <a:xfrm>
            <a:off x="4572000" y="2011680"/>
            <a:ext cx="3017520" cy="329184"/>
          </a:xfrm>
          <a:prstGeom prst="rect">
            <a:avLst/>
          </a:prstGeom>
          <a:noFill/>
          <a:ln/>
        </p:spPr>
        <p:txBody>
          <a:bodyPr wrap="square" lIns="0" tIns="0" rIns="0" bIns="0" rtlCol="0" anchor="ctr"/>
          <a:lstStyle/>
          <a:p>
            <a:pPr indent="0" marL="0">
              <a:buNone/>
            </a:pPr>
            <a:r>
              <a:rPr lang="en-US" sz="1550" b="1" dirty="0">
                <a:solidFill>
                  <a:srgbClr val="3A4553"/>
                </a:solidFill>
                <a:latin typeface="Arial" pitchFamily="34" charset="0"/>
                <a:ea typeface="Arial" pitchFamily="34" charset="-122"/>
                <a:cs typeface="Arial" pitchFamily="34" charset="-120"/>
              </a:rPr>
              <a:t>Pure workflow</a:t>
            </a:r>
            <a:endParaRPr lang="en-US" sz="1550" dirty="0"/>
          </a:p>
        </p:txBody>
      </p:sp>
      <p:sp>
        <p:nvSpPr>
          <p:cNvPr id="19" name="Text 17"/>
          <p:cNvSpPr/>
          <p:nvPr/>
        </p:nvSpPr>
        <p:spPr>
          <a:xfrm>
            <a:off x="4572000" y="2487168"/>
            <a:ext cx="3017520" cy="237744"/>
          </a:xfrm>
          <a:prstGeom prst="rect">
            <a:avLst/>
          </a:prstGeom>
          <a:noFill/>
          <a:ln/>
        </p:spPr>
        <p:txBody>
          <a:bodyPr wrap="square" lIns="0" tIns="0" rIns="0" bIns="0" rtlCol="0" anchor="ctr"/>
          <a:lstStyle/>
          <a:p>
            <a:pPr indent="0" marL="0">
              <a:buNone/>
            </a:pPr>
            <a:r>
              <a:rPr lang="en-US" sz="1200" b="1" dirty="0">
                <a:solidFill>
                  <a:srgbClr val="2B3A46"/>
                </a:solidFill>
                <a:latin typeface="Calibri" pitchFamily="34" charset="0"/>
                <a:ea typeface="Calibri" pitchFamily="34" charset="-122"/>
                <a:cs typeface="Calibri" pitchFamily="34" charset="-120"/>
              </a:rPr>
              <a:t>Fully deterministic</a:t>
            </a:r>
            <a:endParaRPr lang="en-US" sz="1200" dirty="0"/>
          </a:p>
        </p:txBody>
      </p:sp>
      <p:sp>
        <p:nvSpPr>
          <p:cNvPr id="20" name="Text 18"/>
          <p:cNvSpPr/>
          <p:nvPr/>
        </p:nvSpPr>
        <p:spPr>
          <a:xfrm>
            <a:off x="4572000" y="2724912"/>
            <a:ext cx="3017520" cy="420624"/>
          </a:xfrm>
          <a:prstGeom prst="rect">
            <a:avLst/>
          </a:prstGeom>
          <a:noFill/>
          <a:ln/>
        </p:spPr>
        <p:txBody>
          <a:bodyPr wrap="square" lIns="0" tIns="0" rIns="0" bIns="0" rtlCol="0" anchor="ctr"/>
          <a:lstStyle/>
          <a:p>
            <a:pPr indent="0" marL="0">
              <a:lnSpc>
                <a:spcPts val="1300"/>
              </a:lnSpc>
              <a:buNone/>
            </a:pPr>
            <a:r>
              <a:rPr lang="en-US" sz="1050" dirty="0">
                <a:solidFill>
                  <a:srgbClr val="6B7686"/>
                </a:solidFill>
                <a:latin typeface="Calibri" pitchFamily="34" charset="0"/>
                <a:ea typeface="Calibri" pitchFamily="34" charset="-122"/>
                <a:cs typeface="Calibri" pitchFamily="34" charset="-120"/>
              </a:rPr>
              <a:t>reproducible, explainable, cheap to re-run</a:t>
            </a:r>
            <a:endParaRPr lang="en-US" sz="1050" dirty="0"/>
          </a:p>
        </p:txBody>
      </p:sp>
      <p:sp>
        <p:nvSpPr>
          <p:cNvPr id="21" name="Text 19"/>
          <p:cNvSpPr/>
          <p:nvPr/>
        </p:nvSpPr>
        <p:spPr>
          <a:xfrm>
            <a:off x="4572000" y="3182112"/>
            <a:ext cx="3017520" cy="237744"/>
          </a:xfrm>
          <a:prstGeom prst="rect">
            <a:avLst/>
          </a:prstGeom>
          <a:noFill/>
          <a:ln/>
        </p:spPr>
        <p:txBody>
          <a:bodyPr wrap="square" lIns="0" tIns="0" rIns="0" bIns="0" rtlCol="0" anchor="ctr"/>
          <a:lstStyle/>
          <a:p>
            <a:pPr indent="0" marL="0">
              <a:buNone/>
            </a:pPr>
            <a:r>
              <a:rPr lang="en-US" sz="1200" b="1" dirty="0">
                <a:solidFill>
                  <a:srgbClr val="2B3A46"/>
                </a:solidFill>
                <a:latin typeface="Calibri" pitchFamily="34" charset="0"/>
                <a:ea typeface="Calibri" pitchFamily="34" charset="-122"/>
                <a:cs typeface="Calibri" pitchFamily="34" charset="-120"/>
              </a:rPr>
              <a:t>Rigid</a:t>
            </a:r>
            <a:endParaRPr lang="en-US" sz="1200" dirty="0"/>
          </a:p>
        </p:txBody>
      </p:sp>
      <p:sp>
        <p:nvSpPr>
          <p:cNvPr id="22" name="Text 20"/>
          <p:cNvSpPr/>
          <p:nvPr/>
        </p:nvSpPr>
        <p:spPr>
          <a:xfrm>
            <a:off x="4572000" y="3419856"/>
            <a:ext cx="3017520" cy="420624"/>
          </a:xfrm>
          <a:prstGeom prst="rect">
            <a:avLst/>
          </a:prstGeom>
          <a:noFill/>
          <a:ln/>
        </p:spPr>
        <p:txBody>
          <a:bodyPr wrap="square" lIns="0" tIns="0" rIns="0" bIns="0" rtlCol="0" anchor="ctr"/>
          <a:lstStyle/>
          <a:p>
            <a:pPr indent="0" marL="0">
              <a:lnSpc>
                <a:spcPts val="1300"/>
              </a:lnSpc>
              <a:buNone/>
            </a:pPr>
            <a:r>
              <a:rPr lang="en-US" sz="1050" dirty="0">
                <a:solidFill>
                  <a:srgbClr val="6B7686"/>
                </a:solidFill>
                <a:latin typeface="Calibri" pitchFamily="34" charset="0"/>
                <a:ea typeface="Calibri" pitchFamily="34" charset="-122"/>
                <a:cs typeface="Calibri" pitchFamily="34" charset="-120"/>
              </a:rPr>
              <a:t>cannot read intent from unfamiliar code</a:t>
            </a:r>
            <a:endParaRPr lang="en-US" sz="1050" dirty="0"/>
          </a:p>
        </p:txBody>
      </p:sp>
      <p:sp>
        <p:nvSpPr>
          <p:cNvPr id="23" name="Text 21"/>
          <p:cNvSpPr/>
          <p:nvPr/>
        </p:nvSpPr>
        <p:spPr>
          <a:xfrm>
            <a:off x="4572000" y="3877056"/>
            <a:ext cx="3017520" cy="237744"/>
          </a:xfrm>
          <a:prstGeom prst="rect">
            <a:avLst/>
          </a:prstGeom>
          <a:noFill/>
          <a:ln/>
        </p:spPr>
        <p:txBody>
          <a:bodyPr wrap="square" lIns="0" tIns="0" rIns="0" bIns="0" rtlCol="0" anchor="ctr"/>
          <a:lstStyle/>
          <a:p>
            <a:pPr indent="0" marL="0">
              <a:buNone/>
            </a:pPr>
            <a:r>
              <a:rPr lang="en-US" sz="1200" b="1" dirty="0">
                <a:solidFill>
                  <a:srgbClr val="2B3A46"/>
                </a:solidFill>
                <a:latin typeface="Calibri" pitchFamily="34" charset="0"/>
                <a:ea typeface="Calibri" pitchFamily="34" charset="-122"/>
                <a:cs typeface="Calibri" pitchFamily="34" charset="-120"/>
              </a:rPr>
              <a:t>No narrative</a:t>
            </a:r>
            <a:endParaRPr lang="en-US" sz="1200" dirty="0"/>
          </a:p>
        </p:txBody>
      </p:sp>
      <p:sp>
        <p:nvSpPr>
          <p:cNvPr id="24" name="Text 22"/>
          <p:cNvSpPr/>
          <p:nvPr/>
        </p:nvSpPr>
        <p:spPr>
          <a:xfrm>
            <a:off x="4572000" y="4114800"/>
            <a:ext cx="3017520" cy="420624"/>
          </a:xfrm>
          <a:prstGeom prst="rect">
            <a:avLst/>
          </a:prstGeom>
          <a:noFill/>
          <a:ln/>
        </p:spPr>
        <p:txBody>
          <a:bodyPr wrap="square" lIns="0" tIns="0" rIns="0" bIns="0" rtlCol="0" anchor="ctr"/>
          <a:lstStyle/>
          <a:p>
            <a:pPr indent="0" marL="0">
              <a:lnSpc>
                <a:spcPts val="1300"/>
              </a:lnSpc>
              <a:buNone/>
            </a:pPr>
            <a:r>
              <a:rPr lang="en-US" sz="1050" dirty="0">
                <a:solidFill>
                  <a:srgbClr val="6B7686"/>
                </a:solidFill>
                <a:latin typeface="Calibri" pitchFamily="34" charset="0"/>
                <a:ea typeface="Calibri" pitchFamily="34" charset="-122"/>
                <a:cs typeface="Calibri" pitchFamily="34" charset="-120"/>
              </a:rPr>
              <a:t>produces codes, not explanations a reviewer can use</a:t>
            </a:r>
            <a:endParaRPr lang="en-US" sz="1050" dirty="0"/>
          </a:p>
        </p:txBody>
      </p:sp>
      <p:sp>
        <p:nvSpPr>
          <p:cNvPr id="25" name="Text 23"/>
          <p:cNvSpPr/>
          <p:nvPr/>
        </p:nvSpPr>
        <p:spPr>
          <a:xfrm>
            <a:off x="4572000" y="4572000"/>
            <a:ext cx="3017520" cy="237744"/>
          </a:xfrm>
          <a:prstGeom prst="rect">
            <a:avLst/>
          </a:prstGeom>
          <a:noFill/>
          <a:ln/>
        </p:spPr>
        <p:txBody>
          <a:bodyPr wrap="square" lIns="0" tIns="0" rIns="0" bIns="0" rtlCol="0" anchor="ctr"/>
          <a:lstStyle/>
          <a:p>
            <a:pPr indent="0" marL="0">
              <a:buNone/>
            </a:pPr>
            <a:r>
              <a:rPr lang="en-US" sz="1200" b="1" dirty="0">
                <a:solidFill>
                  <a:srgbClr val="2B3A46"/>
                </a:solidFill>
                <a:latin typeface="Calibri" pitchFamily="34" charset="0"/>
                <a:ea typeface="Calibri" pitchFamily="34" charset="-122"/>
                <a:cs typeface="Calibri" pitchFamily="34" charset="-120"/>
              </a:rPr>
              <a:t>Brittle at the edges</a:t>
            </a:r>
            <a:endParaRPr lang="en-US" sz="1200" dirty="0"/>
          </a:p>
        </p:txBody>
      </p:sp>
      <p:sp>
        <p:nvSpPr>
          <p:cNvPr id="26" name="Text 24"/>
          <p:cNvSpPr/>
          <p:nvPr/>
        </p:nvSpPr>
        <p:spPr>
          <a:xfrm>
            <a:off x="4572000" y="4809744"/>
            <a:ext cx="3017520" cy="420624"/>
          </a:xfrm>
          <a:prstGeom prst="rect">
            <a:avLst/>
          </a:prstGeom>
          <a:noFill/>
          <a:ln/>
        </p:spPr>
        <p:txBody>
          <a:bodyPr wrap="square" lIns="0" tIns="0" rIns="0" bIns="0" rtlCol="0" anchor="ctr"/>
          <a:lstStyle/>
          <a:p>
            <a:pPr indent="0" marL="0">
              <a:lnSpc>
                <a:spcPts val="1300"/>
              </a:lnSpc>
              <a:buNone/>
            </a:pPr>
            <a:r>
              <a:rPr lang="en-US" sz="1050" dirty="0">
                <a:solidFill>
                  <a:srgbClr val="6B7686"/>
                </a:solidFill>
                <a:latin typeface="Calibri" pitchFamily="34" charset="0"/>
                <a:ea typeface="Calibri" pitchFamily="34" charset="-122"/>
                <a:cs typeface="Calibri" pitchFamily="34" charset="-120"/>
              </a:rPr>
              <a:t>dynamic and config-driven patterns defeat it</a:t>
            </a:r>
            <a:endParaRPr lang="en-US" sz="1050" dirty="0"/>
          </a:p>
        </p:txBody>
      </p:sp>
      <p:sp>
        <p:nvSpPr>
          <p:cNvPr id="27" name="Text 25"/>
          <p:cNvSpPr/>
          <p:nvPr/>
        </p:nvSpPr>
        <p:spPr>
          <a:xfrm>
            <a:off x="4572000" y="5266944"/>
            <a:ext cx="3017520" cy="237744"/>
          </a:xfrm>
          <a:prstGeom prst="rect">
            <a:avLst/>
          </a:prstGeom>
          <a:noFill/>
          <a:ln/>
        </p:spPr>
        <p:txBody>
          <a:bodyPr wrap="square" lIns="0" tIns="0" rIns="0" bIns="0" rtlCol="0" anchor="ctr"/>
          <a:lstStyle/>
          <a:p>
            <a:pPr indent="0" marL="0">
              <a:buNone/>
            </a:pPr>
            <a:r>
              <a:rPr lang="en-US" sz="1200" b="1" dirty="0">
                <a:solidFill>
                  <a:srgbClr val="2B3A46"/>
                </a:solidFill>
                <a:latin typeface="Calibri" pitchFamily="34" charset="0"/>
                <a:ea typeface="Calibri" pitchFamily="34" charset="-122"/>
                <a:cs typeface="Calibri" pitchFamily="34" charset="-120"/>
              </a:rPr>
              <a:t>Cannot refactor</a:t>
            </a:r>
            <a:endParaRPr lang="en-US" sz="1200" dirty="0"/>
          </a:p>
        </p:txBody>
      </p:sp>
      <p:sp>
        <p:nvSpPr>
          <p:cNvPr id="28" name="Text 26"/>
          <p:cNvSpPr/>
          <p:nvPr/>
        </p:nvSpPr>
        <p:spPr>
          <a:xfrm>
            <a:off x="4572000" y="5504688"/>
            <a:ext cx="3017520" cy="420624"/>
          </a:xfrm>
          <a:prstGeom prst="rect">
            <a:avLst/>
          </a:prstGeom>
          <a:noFill/>
          <a:ln/>
        </p:spPr>
        <p:txBody>
          <a:bodyPr wrap="square" lIns="0" tIns="0" rIns="0" bIns="0" rtlCol="0" anchor="ctr"/>
          <a:lstStyle/>
          <a:p>
            <a:pPr indent="0" marL="0">
              <a:lnSpc>
                <a:spcPts val="1300"/>
              </a:lnSpc>
              <a:buNone/>
            </a:pPr>
            <a:r>
              <a:rPr lang="en-US" sz="1050" dirty="0">
                <a:solidFill>
                  <a:srgbClr val="6B7686"/>
                </a:solidFill>
                <a:latin typeface="Calibri" pitchFamily="34" charset="0"/>
                <a:ea typeface="Calibri" pitchFamily="34" charset="-122"/>
                <a:cs typeface="Calibri" pitchFamily="34" charset="-120"/>
              </a:rPr>
              <a:t>finding is not the same as fixing</a:t>
            </a:r>
            <a:endParaRPr lang="en-US" sz="1050" dirty="0"/>
          </a:p>
        </p:txBody>
      </p:sp>
      <p:sp>
        <p:nvSpPr>
          <p:cNvPr id="29" name="Shape 27"/>
          <p:cNvSpPr/>
          <p:nvPr/>
        </p:nvSpPr>
        <p:spPr>
          <a:xfrm>
            <a:off x="8028432" y="1792224"/>
            <a:ext cx="3520440" cy="4224528"/>
          </a:xfrm>
          <a:prstGeom prst="roundRect">
            <a:avLst>
              <a:gd name="adj" fmla="val 1558"/>
            </a:avLst>
          </a:prstGeom>
          <a:solidFill>
            <a:srgbClr val="F2FAF6"/>
          </a:solidFill>
          <a:ln w="12700">
            <a:solidFill>
              <a:srgbClr val="3FBF92"/>
            </a:solidFill>
            <a:prstDash val="solid"/>
          </a:ln>
        </p:spPr>
      </p:sp>
      <p:sp>
        <p:nvSpPr>
          <p:cNvPr id="30" name="Text 28"/>
          <p:cNvSpPr/>
          <p:nvPr/>
        </p:nvSpPr>
        <p:spPr>
          <a:xfrm>
            <a:off x="8302752" y="2011680"/>
            <a:ext cx="3017520" cy="329184"/>
          </a:xfrm>
          <a:prstGeom prst="rect">
            <a:avLst/>
          </a:prstGeom>
          <a:noFill/>
          <a:ln/>
        </p:spPr>
        <p:txBody>
          <a:bodyPr wrap="square" lIns="0" tIns="0" rIns="0" bIns="0" rtlCol="0" anchor="ctr"/>
          <a:lstStyle/>
          <a:p>
            <a:pPr indent="0" marL="0">
              <a:buNone/>
            </a:pPr>
            <a:r>
              <a:rPr lang="en-US" sz="1550" b="1" dirty="0">
                <a:solidFill>
                  <a:srgbClr val="1B7A55"/>
                </a:solidFill>
                <a:latin typeface="Arial" pitchFamily="34" charset="0"/>
                <a:ea typeface="Arial" pitchFamily="34" charset="-122"/>
                <a:cs typeface="Arial" pitchFamily="34" charset="-120"/>
              </a:rPr>
              <a:t>Hybrid — our approach</a:t>
            </a:r>
            <a:endParaRPr lang="en-US" sz="1550" dirty="0"/>
          </a:p>
        </p:txBody>
      </p:sp>
      <p:sp>
        <p:nvSpPr>
          <p:cNvPr id="31" name="Text 29"/>
          <p:cNvSpPr/>
          <p:nvPr/>
        </p:nvSpPr>
        <p:spPr>
          <a:xfrm>
            <a:off x="8302752" y="2487168"/>
            <a:ext cx="3017520" cy="237744"/>
          </a:xfrm>
          <a:prstGeom prst="rect">
            <a:avLst/>
          </a:prstGeom>
          <a:noFill/>
          <a:ln/>
        </p:spPr>
        <p:txBody>
          <a:bodyPr wrap="square" lIns="0" tIns="0" rIns="0" bIns="0" rtlCol="0" anchor="ctr"/>
          <a:lstStyle/>
          <a:p>
            <a:pPr indent="0" marL="0">
              <a:buNone/>
            </a:pPr>
            <a:r>
              <a:rPr lang="en-US" sz="1200" b="1" dirty="0">
                <a:solidFill>
                  <a:srgbClr val="2B3A46"/>
                </a:solidFill>
                <a:latin typeface="Calibri" pitchFamily="34" charset="0"/>
                <a:ea typeface="Calibri" pitchFamily="34" charset="-122"/>
                <a:cs typeface="Calibri" pitchFamily="34" charset="-120"/>
              </a:rPr>
              <a:t>Deterministic core</a:t>
            </a:r>
            <a:endParaRPr lang="en-US" sz="1200" dirty="0"/>
          </a:p>
        </p:txBody>
      </p:sp>
      <p:sp>
        <p:nvSpPr>
          <p:cNvPr id="32" name="Text 30"/>
          <p:cNvSpPr/>
          <p:nvPr/>
        </p:nvSpPr>
        <p:spPr>
          <a:xfrm>
            <a:off x="8302752" y="2724912"/>
            <a:ext cx="3017520" cy="420624"/>
          </a:xfrm>
          <a:prstGeom prst="rect">
            <a:avLst/>
          </a:prstGeom>
          <a:noFill/>
          <a:ln/>
        </p:spPr>
        <p:txBody>
          <a:bodyPr wrap="square" lIns="0" tIns="0" rIns="0" bIns="0" rtlCol="0" anchor="ctr"/>
          <a:lstStyle/>
          <a:p>
            <a:pPr indent="0" marL="0">
              <a:lnSpc>
                <a:spcPts val="1300"/>
              </a:lnSpc>
              <a:buNone/>
            </a:pPr>
            <a:r>
              <a:rPr lang="en-US" sz="1050" dirty="0">
                <a:solidFill>
                  <a:srgbClr val="6B7686"/>
                </a:solidFill>
                <a:latin typeface="Calibri" pitchFamily="34" charset="0"/>
                <a:ea typeface="Calibri" pitchFamily="34" charset="-122"/>
                <a:cs typeface="Calibri" pitchFamily="34" charset="-120"/>
              </a:rPr>
              <a:t>rules decide every verdict; results are reproducible</a:t>
            </a:r>
            <a:endParaRPr lang="en-US" sz="1050" dirty="0"/>
          </a:p>
        </p:txBody>
      </p:sp>
      <p:sp>
        <p:nvSpPr>
          <p:cNvPr id="33" name="Text 31"/>
          <p:cNvSpPr/>
          <p:nvPr/>
        </p:nvSpPr>
        <p:spPr>
          <a:xfrm>
            <a:off x="8302752" y="3182112"/>
            <a:ext cx="3017520" cy="237744"/>
          </a:xfrm>
          <a:prstGeom prst="rect">
            <a:avLst/>
          </a:prstGeom>
          <a:noFill/>
          <a:ln/>
        </p:spPr>
        <p:txBody>
          <a:bodyPr wrap="square" lIns="0" tIns="0" rIns="0" bIns="0" rtlCol="0" anchor="ctr"/>
          <a:lstStyle/>
          <a:p>
            <a:pPr indent="0" marL="0">
              <a:buNone/>
            </a:pPr>
            <a:r>
              <a:rPr lang="en-US" sz="1200" b="1" dirty="0">
                <a:solidFill>
                  <a:srgbClr val="2B3A46"/>
                </a:solidFill>
                <a:latin typeface="Calibri" pitchFamily="34" charset="0"/>
                <a:ea typeface="Calibri" pitchFamily="34" charset="-122"/>
                <a:cs typeface="Calibri" pitchFamily="34" charset="-120"/>
              </a:rPr>
              <a:t>AI where it reads</a:t>
            </a:r>
            <a:endParaRPr lang="en-US" sz="1200" dirty="0"/>
          </a:p>
        </p:txBody>
      </p:sp>
      <p:sp>
        <p:nvSpPr>
          <p:cNvPr id="34" name="Text 32"/>
          <p:cNvSpPr/>
          <p:nvPr/>
        </p:nvSpPr>
        <p:spPr>
          <a:xfrm>
            <a:off x="8302752" y="3419856"/>
            <a:ext cx="3017520" cy="420624"/>
          </a:xfrm>
          <a:prstGeom prst="rect">
            <a:avLst/>
          </a:prstGeom>
          <a:noFill/>
          <a:ln/>
        </p:spPr>
        <p:txBody>
          <a:bodyPr wrap="square" lIns="0" tIns="0" rIns="0" bIns="0" rtlCol="0" anchor="ctr"/>
          <a:lstStyle/>
          <a:p>
            <a:pPr indent="0" marL="0">
              <a:lnSpc>
                <a:spcPts val="1300"/>
              </a:lnSpc>
              <a:buNone/>
            </a:pPr>
            <a:r>
              <a:rPr lang="en-US" sz="1050" dirty="0">
                <a:solidFill>
                  <a:srgbClr val="6B7686"/>
                </a:solidFill>
                <a:latin typeface="Calibri" pitchFamily="34" charset="0"/>
                <a:ea typeface="Calibri" pitchFamily="34" charset="-122"/>
                <a:cs typeface="Calibri" pitchFamily="34" charset="-120"/>
              </a:rPr>
              <a:t>summarising intent, drafting refactors</a:t>
            </a:r>
            <a:endParaRPr lang="en-US" sz="1050" dirty="0"/>
          </a:p>
        </p:txBody>
      </p:sp>
      <p:sp>
        <p:nvSpPr>
          <p:cNvPr id="35" name="Text 33"/>
          <p:cNvSpPr/>
          <p:nvPr/>
        </p:nvSpPr>
        <p:spPr>
          <a:xfrm>
            <a:off x="8302752" y="3877056"/>
            <a:ext cx="3017520" cy="237744"/>
          </a:xfrm>
          <a:prstGeom prst="rect">
            <a:avLst/>
          </a:prstGeom>
          <a:noFill/>
          <a:ln/>
        </p:spPr>
        <p:txBody>
          <a:bodyPr wrap="square" lIns="0" tIns="0" rIns="0" bIns="0" rtlCol="0" anchor="ctr"/>
          <a:lstStyle/>
          <a:p>
            <a:pPr indent="0" marL="0">
              <a:buNone/>
            </a:pPr>
            <a:r>
              <a:rPr lang="en-US" sz="1200" b="1" dirty="0">
                <a:solidFill>
                  <a:srgbClr val="2B3A46"/>
                </a:solidFill>
                <a:latin typeface="Calibri" pitchFamily="34" charset="0"/>
                <a:ea typeface="Calibri" pitchFamily="34" charset="-122"/>
                <a:cs typeface="Calibri" pitchFamily="34" charset="-120"/>
              </a:rPr>
              <a:t>Bounded token cost</a:t>
            </a:r>
            <a:endParaRPr lang="en-US" sz="1200" dirty="0"/>
          </a:p>
        </p:txBody>
      </p:sp>
      <p:sp>
        <p:nvSpPr>
          <p:cNvPr id="36" name="Text 34"/>
          <p:cNvSpPr/>
          <p:nvPr/>
        </p:nvSpPr>
        <p:spPr>
          <a:xfrm>
            <a:off x="8302752" y="4114800"/>
            <a:ext cx="3017520" cy="420624"/>
          </a:xfrm>
          <a:prstGeom prst="rect">
            <a:avLst/>
          </a:prstGeom>
          <a:noFill/>
          <a:ln/>
        </p:spPr>
        <p:txBody>
          <a:bodyPr wrap="square" lIns="0" tIns="0" rIns="0" bIns="0" rtlCol="0" anchor="ctr"/>
          <a:lstStyle/>
          <a:p>
            <a:pPr indent="0" marL="0">
              <a:lnSpc>
                <a:spcPts val="1300"/>
              </a:lnSpc>
              <a:buNone/>
            </a:pPr>
            <a:r>
              <a:rPr lang="en-US" sz="1050" dirty="0">
                <a:solidFill>
                  <a:srgbClr val="6B7686"/>
                </a:solidFill>
                <a:latin typeface="Calibri" pitchFamily="34" charset="0"/>
                <a:ea typeface="Calibri" pitchFamily="34" charset="-122"/>
                <a:cs typeface="Calibri" pitchFamily="34" charset="-120"/>
              </a:rPr>
              <a:t>AI sees only what survived the deterministic filter</a:t>
            </a:r>
            <a:endParaRPr lang="en-US" sz="1050" dirty="0"/>
          </a:p>
        </p:txBody>
      </p:sp>
      <p:sp>
        <p:nvSpPr>
          <p:cNvPr id="37" name="Text 35"/>
          <p:cNvSpPr/>
          <p:nvPr/>
        </p:nvSpPr>
        <p:spPr>
          <a:xfrm>
            <a:off x="8302752" y="4572000"/>
            <a:ext cx="3017520" cy="237744"/>
          </a:xfrm>
          <a:prstGeom prst="rect">
            <a:avLst/>
          </a:prstGeom>
          <a:noFill/>
          <a:ln/>
        </p:spPr>
        <p:txBody>
          <a:bodyPr wrap="square" lIns="0" tIns="0" rIns="0" bIns="0" rtlCol="0" anchor="ctr"/>
          <a:lstStyle/>
          <a:p>
            <a:pPr indent="0" marL="0">
              <a:buNone/>
            </a:pPr>
            <a:r>
              <a:rPr lang="en-US" sz="1200" b="1" dirty="0">
                <a:solidFill>
                  <a:srgbClr val="2B3A46"/>
                </a:solidFill>
                <a:latin typeface="Calibri" pitchFamily="34" charset="0"/>
                <a:ea typeface="Calibri" pitchFamily="34" charset="-122"/>
                <a:cs typeface="Calibri" pitchFamily="34" charset="-120"/>
              </a:rPr>
              <a:t>Provable coverage</a:t>
            </a:r>
            <a:endParaRPr lang="en-US" sz="1200" dirty="0"/>
          </a:p>
        </p:txBody>
      </p:sp>
      <p:sp>
        <p:nvSpPr>
          <p:cNvPr id="38" name="Text 36"/>
          <p:cNvSpPr/>
          <p:nvPr/>
        </p:nvSpPr>
        <p:spPr>
          <a:xfrm>
            <a:off x="8302752" y="4809744"/>
            <a:ext cx="3017520" cy="420624"/>
          </a:xfrm>
          <a:prstGeom prst="rect">
            <a:avLst/>
          </a:prstGeom>
          <a:noFill/>
          <a:ln/>
        </p:spPr>
        <p:txBody>
          <a:bodyPr wrap="square" lIns="0" tIns="0" rIns="0" bIns="0" rtlCol="0" anchor="ctr"/>
          <a:lstStyle/>
          <a:p>
            <a:pPr indent="0" marL="0">
              <a:lnSpc>
                <a:spcPts val="1300"/>
              </a:lnSpc>
              <a:buNone/>
            </a:pPr>
            <a:r>
              <a:rPr lang="en-US" sz="1050" dirty="0">
                <a:solidFill>
                  <a:srgbClr val="6B7686"/>
                </a:solidFill>
                <a:latin typeface="Calibri" pitchFamily="34" charset="0"/>
                <a:ea typeface="Calibri" pitchFamily="34" charset="-122"/>
                <a:cs typeface="Calibri" pitchFamily="34" charset="-120"/>
              </a:rPr>
              <a:t>every check records that it ran, hit or miss</a:t>
            </a:r>
            <a:endParaRPr lang="en-US" sz="1050" dirty="0"/>
          </a:p>
        </p:txBody>
      </p:sp>
      <p:sp>
        <p:nvSpPr>
          <p:cNvPr id="39" name="Text 37"/>
          <p:cNvSpPr/>
          <p:nvPr/>
        </p:nvSpPr>
        <p:spPr>
          <a:xfrm>
            <a:off x="8302752" y="5266944"/>
            <a:ext cx="3017520" cy="237744"/>
          </a:xfrm>
          <a:prstGeom prst="rect">
            <a:avLst/>
          </a:prstGeom>
          <a:noFill/>
          <a:ln/>
        </p:spPr>
        <p:txBody>
          <a:bodyPr wrap="square" lIns="0" tIns="0" rIns="0" bIns="0" rtlCol="0" anchor="ctr"/>
          <a:lstStyle/>
          <a:p>
            <a:pPr indent="0" marL="0">
              <a:buNone/>
            </a:pPr>
            <a:r>
              <a:rPr lang="en-US" sz="1200" b="1" dirty="0">
                <a:solidFill>
                  <a:srgbClr val="2B3A46"/>
                </a:solidFill>
                <a:latin typeface="Calibri" pitchFamily="34" charset="0"/>
                <a:ea typeface="Calibri" pitchFamily="34" charset="-122"/>
                <a:cs typeface="Calibri" pitchFamily="34" charset="-120"/>
              </a:rPr>
              <a:t>Human in the loop</a:t>
            </a:r>
            <a:endParaRPr lang="en-US" sz="1200" dirty="0"/>
          </a:p>
        </p:txBody>
      </p:sp>
      <p:sp>
        <p:nvSpPr>
          <p:cNvPr id="40" name="Text 38"/>
          <p:cNvSpPr/>
          <p:nvPr/>
        </p:nvSpPr>
        <p:spPr>
          <a:xfrm>
            <a:off x="8302752" y="5504688"/>
            <a:ext cx="3017520" cy="420624"/>
          </a:xfrm>
          <a:prstGeom prst="rect">
            <a:avLst/>
          </a:prstGeom>
          <a:noFill/>
          <a:ln/>
        </p:spPr>
        <p:txBody>
          <a:bodyPr wrap="square" lIns="0" tIns="0" rIns="0" bIns="0" rtlCol="0" anchor="ctr"/>
          <a:lstStyle/>
          <a:p>
            <a:pPr indent="0" marL="0">
              <a:lnSpc>
                <a:spcPts val="1300"/>
              </a:lnSpc>
              <a:buNone/>
            </a:pPr>
            <a:r>
              <a:rPr lang="en-US" sz="1050" dirty="0">
                <a:solidFill>
                  <a:srgbClr val="6B7686"/>
                </a:solidFill>
                <a:latin typeface="Calibri" pitchFamily="34" charset="0"/>
                <a:ea typeface="Calibri" pitchFamily="34" charset="-122"/>
                <a:cs typeface="Calibri" pitchFamily="34" charset="-120"/>
              </a:rPr>
              <a:t>people approve; agents execute the approved change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11411712" y="6455664"/>
            <a:ext cx="365760" cy="274320"/>
          </a:xfrm>
          <a:prstGeom prst="rect">
            <a:avLst/>
          </a:prstGeom>
          <a:noFill/>
          <a:ln/>
        </p:spPr>
        <p:txBody>
          <a:bodyPr wrap="square" lIns="0" tIns="0" rIns="0" bIns="0" rtlCol="0" anchor="ctr"/>
          <a:lstStyle/>
          <a:p>
            <a:pPr algn="r" indent="0" marL="0">
              <a:buNone/>
            </a:pPr>
            <a:r>
              <a:rPr lang="en-US" sz="1000" dirty="0">
                <a:solidFill>
                  <a:srgbClr val="76849A"/>
                </a:solidFill>
                <a:latin typeface="Calibri" pitchFamily="34" charset="0"/>
                <a:ea typeface="Calibri" pitchFamily="34" charset="-122"/>
                <a:cs typeface="Calibri" pitchFamily="34" charset="-120"/>
              </a:rPr>
              <a:t>7</a:t>
            </a:r>
            <a:endParaRPr lang="en-US" sz="1000" dirty="0"/>
          </a:p>
        </p:txBody>
      </p:sp>
      <p:sp>
        <p:nvSpPr>
          <p:cNvPr id="3" name="Text 1"/>
          <p:cNvSpPr/>
          <p:nvPr/>
        </p:nvSpPr>
        <p:spPr>
          <a:xfrm>
            <a:off x="566928" y="402336"/>
            <a:ext cx="11055096" cy="713232"/>
          </a:xfrm>
          <a:prstGeom prst="rect">
            <a:avLst/>
          </a:prstGeom>
          <a:noFill/>
          <a:ln/>
        </p:spPr>
        <p:txBody>
          <a:bodyPr wrap="square" lIns="0" tIns="0" rIns="0" bIns="0" rtlCol="0" anchor="ctr"/>
          <a:lstStyle/>
          <a:p>
            <a:pPr indent="0" marL="0">
              <a:buNone/>
            </a:pPr>
            <a:r>
              <a:rPr lang="en-US" sz="3400" b="1" dirty="0">
                <a:solidFill>
                  <a:srgbClr val="F2F5F8"/>
                </a:solidFill>
                <a:latin typeface="Arial" pitchFamily="34" charset="0"/>
                <a:ea typeface="Arial" pitchFamily="34" charset="-122"/>
                <a:cs typeface="Arial" pitchFamily="34" charset="-120"/>
              </a:rPr>
              <a:t>Each part does what only it can do</a:t>
            </a:r>
            <a:endParaRPr lang="en-US" sz="3400" dirty="0"/>
          </a:p>
        </p:txBody>
      </p:sp>
      <p:sp>
        <p:nvSpPr>
          <p:cNvPr id="4" name="Shape 2"/>
          <p:cNvSpPr/>
          <p:nvPr/>
        </p:nvSpPr>
        <p:spPr>
          <a:xfrm>
            <a:off x="566928" y="1700784"/>
            <a:ext cx="365760" cy="365760"/>
          </a:xfrm>
          <a:prstGeom prst="ellipse">
            <a:avLst/>
          </a:prstGeom>
          <a:solidFill>
            <a:srgbClr val="29B6D8"/>
          </a:solidFill>
          <a:ln/>
        </p:spPr>
      </p:sp>
      <p:sp>
        <p:nvSpPr>
          <p:cNvPr id="5" name="Text 3"/>
          <p:cNvSpPr/>
          <p:nvPr/>
        </p:nvSpPr>
        <p:spPr>
          <a:xfrm>
            <a:off x="566928" y="1700784"/>
            <a:ext cx="365760" cy="365760"/>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1</a:t>
            </a:r>
            <a:endParaRPr lang="en-US" sz="1250" dirty="0"/>
          </a:p>
        </p:txBody>
      </p:sp>
      <p:sp>
        <p:nvSpPr>
          <p:cNvPr id="6" name="Text 4"/>
          <p:cNvSpPr/>
          <p:nvPr/>
        </p:nvSpPr>
        <p:spPr>
          <a:xfrm>
            <a:off x="1133856" y="1609344"/>
            <a:ext cx="3017520" cy="292608"/>
          </a:xfrm>
          <a:prstGeom prst="rect">
            <a:avLst/>
          </a:prstGeom>
          <a:noFill/>
          <a:ln/>
        </p:spPr>
        <p:txBody>
          <a:bodyPr wrap="square" lIns="0" tIns="0" rIns="0" bIns="0" rtlCol="0" anchor="ctr"/>
          <a:lstStyle/>
          <a:p>
            <a:pPr indent="0" marL="0">
              <a:buNone/>
            </a:pPr>
            <a:r>
              <a:rPr lang="en-US" sz="1500" b="1" dirty="0">
                <a:solidFill>
                  <a:srgbClr val="F2F5F8"/>
                </a:solidFill>
                <a:latin typeface="Arial" pitchFamily="34" charset="0"/>
                <a:ea typeface="Arial" pitchFamily="34" charset="-122"/>
                <a:cs typeface="Arial" pitchFamily="34" charset="-120"/>
              </a:rPr>
              <a:t>Deterministic checks</a:t>
            </a:r>
            <a:endParaRPr lang="en-US" sz="1500" dirty="0"/>
          </a:p>
        </p:txBody>
      </p:sp>
      <p:sp>
        <p:nvSpPr>
          <p:cNvPr id="7" name="Text 5"/>
          <p:cNvSpPr/>
          <p:nvPr/>
        </p:nvSpPr>
        <p:spPr>
          <a:xfrm>
            <a:off x="4206240" y="1609344"/>
            <a:ext cx="7680960" cy="658368"/>
          </a:xfrm>
          <a:prstGeom prst="rect">
            <a:avLst/>
          </a:prstGeom>
          <a:noFill/>
          <a:ln/>
        </p:spPr>
        <p:txBody>
          <a:bodyPr wrap="square" lIns="0" tIns="0" rIns="0" bIns="0" rtlCol="0" anchor="ctr"/>
          <a:lstStyle/>
          <a:p>
            <a:pPr indent="0" marL="0">
              <a:lnSpc>
                <a:spcPts val="1700"/>
              </a:lnSpc>
              <a:buNone/>
            </a:pPr>
            <a:r>
              <a:rPr lang="en-US" sz="1250" dirty="0">
                <a:solidFill>
                  <a:srgbClr val="A8B4C4"/>
                </a:solidFill>
                <a:latin typeface="Calibri" pitchFamily="34" charset="0"/>
                <a:ea typeface="Calibri" pitchFamily="34" charset="-122"/>
                <a:cs typeface="Calibri" pitchFamily="34" charset="-120"/>
              </a:rPr>
              <a:t>Search, count, traverse, compare. Exhaustive and repeatable. Records what it searched AND what it did not find.</a:t>
            </a:r>
            <a:endParaRPr lang="en-US" sz="1250" dirty="0"/>
          </a:p>
        </p:txBody>
      </p:sp>
      <p:sp>
        <p:nvSpPr>
          <p:cNvPr id="8" name="Shape 6"/>
          <p:cNvSpPr/>
          <p:nvPr/>
        </p:nvSpPr>
        <p:spPr>
          <a:xfrm>
            <a:off x="566928" y="2496312"/>
            <a:ext cx="365760" cy="365760"/>
          </a:xfrm>
          <a:prstGeom prst="ellipse">
            <a:avLst/>
          </a:prstGeom>
          <a:solidFill>
            <a:srgbClr val="29B6D8"/>
          </a:solidFill>
          <a:ln/>
        </p:spPr>
      </p:sp>
      <p:sp>
        <p:nvSpPr>
          <p:cNvPr id="9" name="Text 7"/>
          <p:cNvSpPr/>
          <p:nvPr/>
        </p:nvSpPr>
        <p:spPr>
          <a:xfrm>
            <a:off x="566928" y="2496312"/>
            <a:ext cx="365760" cy="365760"/>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2</a:t>
            </a:r>
            <a:endParaRPr lang="en-US" sz="1250" dirty="0"/>
          </a:p>
        </p:txBody>
      </p:sp>
      <p:sp>
        <p:nvSpPr>
          <p:cNvPr id="10" name="Text 8"/>
          <p:cNvSpPr/>
          <p:nvPr/>
        </p:nvSpPr>
        <p:spPr>
          <a:xfrm>
            <a:off x="1133856" y="2404872"/>
            <a:ext cx="3017520" cy="292608"/>
          </a:xfrm>
          <a:prstGeom prst="rect">
            <a:avLst/>
          </a:prstGeom>
          <a:noFill/>
          <a:ln/>
        </p:spPr>
        <p:txBody>
          <a:bodyPr wrap="square" lIns="0" tIns="0" rIns="0" bIns="0" rtlCol="0" anchor="ctr"/>
          <a:lstStyle/>
          <a:p>
            <a:pPr indent="0" marL="0">
              <a:buNone/>
            </a:pPr>
            <a:r>
              <a:rPr lang="en-US" sz="1500" b="1" dirty="0">
                <a:solidFill>
                  <a:srgbClr val="F2F5F8"/>
                </a:solidFill>
                <a:latin typeface="Arial" pitchFamily="34" charset="0"/>
                <a:ea typeface="Arial" pitchFamily="34" charset="-122"/>
                <a:cs typeface="Arial" pitchFamily="34" charset="-120"/>
              </a:rPr>
              <a:t>Rule-based classification</a:t>
            </a:r>
            <a:endParaRPr lang="en-US" sz="1500" dirty="0"/>
          </a:p>
        </p:txBody>
      </p:sp>
      <p:sp>
        <p:nvSpPr>
          <p:cNvPr id="11" name="Text 9"/>
          <p:cNvSpPr/>
          <p:nvPr/>
        </p:nvSpPr>
        <p:spPr>
          <a:xfrm>
            <a:off x="4206240" y="2404872"/>
            <a:ext cx="7680960" cy="658368"/>
          </a:xfrm>
          <a:prstGeom prst="rect">
            <a:avLst/>
          </a:prstGeom>
          <a:noFill/>
          <a:ln/>
        </p:spPr>
        <p:txBody>
          <a:bodyPr wrap="square" lIns="0" tIns="0" rIns="0" bIns="0" rtlCol="0" anchor="ctr"/>
          <a:lstStyle/>
          <a:p>
            <a:pPr indent="0" marL="0">
              <a:lnSpc>
                <a:spcPts val="1700"/>
              </a:lnSpc>
              <a:buNone/>
            </a:pPr>
            <a:r>
              <a:rPr lang="en-US" sz="1250" dirty="0">
                <a:solidFill>
                  <a:srgbClr val="A8B4C4"/>
                </a:solidFill>
                <a:latin typeface="Calibri" pitchFamily="34" charset="0"/>
                <a:ea typeface="Calibri" pitchFamily="34" charset="-122"/>
                <a:cs typeface="Calibri" pitchFamily="34" charset="-120"/>
              </a:rPr>
              <a:t>Ordered rules, first match wins. No score is ever allowed to cross into a deletion verdict.</a:t>
            </a:r>
            <a:endParaRPr lang="en-US" sz="1250" dirty="0"/>
          </a:p>
        </p:txBody>
      </p:sp>
      <p:sp>
        <p:nvSpPr>
          <p:cNvPr id="12" name="Shape 10"/>
          <p:cNvSpPr/>
          <p:nvPr/>
        </p:nvSpPr>
        <p:spPr>
          <a:xfrm>
            <a:off x="566928" y="3291840"/>
            <a:ext cx="365760" cy="365760"/>
          </a:xfrm>
          <a:prstGeom prst="ellipse">
            <a:avLst/>
          </a:prstGeom>
          <a:solidFill>
            <a:srgbClr val="9B84F7"/>
          </a:solidFill>
          <a:ln/>
        </p:spPr>
      </p:sp>
      <p:sp>
        <p:nvSpPr>
          <p:cNvPr id="13" name="Text 11"/>
          <p:cNvSpPr/>
          <p:nvPr/>
        </p:nvSpPr>
        <p:spPr>
          <a:xfrm>
            <a:off x="566928" y="3291840"/>
            <a:ext cx="365760" cy="365760"/>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3</a:t>
            </a:r>
            <a:endParaRPr lang="en-US" sz="1250" dirty="0"/>
          </a:p>
        </p:txBody>
      </p:sp>
      <p:sp>
        <p:nvSpPr>
          <p:cNvPr id="14" name="Text 12"/>
          <p:cNvSpPr/>
          <p:nvPr/>
        </p:nvSpPr>
        <p:spPr>
          <a:xfrm>
            <a:off x="1133856" y="3200400"/>
            <a:ext cx="3017520" cy="292608"/>
          </a:xfrm>
          <a:prstGeom prst="rect">
            <a:avLst/>
          </a:prstGeom>
          <a:noFill/>
          <a:ln/>
        </p:spPr>
        <p:txBody>
          <a:bodyPr wrap="square" lIns="0" tIns="0" rIns="0" bIns="0" rtlCol="0" anchor="ctr"/>
          <a:lstStyle/>
          <a:p>
            <a:pPr indent="0" marL="0">
              <a:buNone/>
            </a:pPr>
            <a:r>
              <a:rPr lang="en-US" sz="1500" b="1" dirty="0">
                <a:solidFill>
                  <a:srgbClr val="F2F5F8"/>
                </a:solidFill>
                <a:latin typeface="Arial" pitchFamily="34" charset="0"/>
                <a:ea typeface="Arial" pitchFamily="34" charset="-122"/>
                <a:cs typeface="Arial" pitchFamily="34" charset="-120"/>
              </a:rPr>
              <a:t>AI review</a:t>
            </a:r>
            <a:endParaRPr lang="en-US" sz="1500" dirty="0"/>
          </a:p>
        </p:txBody>
      </p:sp>
      <p:sp>
        <p:nvSpPr>
          <p:cNvPr id="15" name="Text 13"/>
          <p:cNvSpPr/>
          <p:nvPr/>
        </p:nvSpPr>
        <p:spPr>
          <a:xfrm>
            <a:off x="4206240" y="3200400"/>
            <a:ext cx="7680960" cy="658368"/>
          </a:xfrm>
          <a:prstGeom prst="rect">
            <a:avLst/>
          </a:prstGeom>
          <a:noFill/>
          <a:ln/>
        </p:spPr>
        <p:txBody>
          <a:bodyPr wrap="square" lIns="0" tIns="0" rIns="0" bIns="0" rtlCol="0" anchor="ctr"/>
          <a:lstStyle/>
          <a:p>
            <a:pPr indent="0" marL="0">
              <a:lnSpc>
                <a:spcPts val="1700"/>
              </a:lnSpc>
              <a:buNone/>
            </a:pPr>
            <a:r>
              <a:rPr lang="en-US" sz="1250" dirty="0">
                <a:solidFill>
                  <a:srgbClr val="A8B4C4"/>
                </a:solidFill>
                <a:latin typeface="Calibri" pitchFamily="34" charset="0"/>
                <a:ea typeface="Calibri" pitchFamily="34" charset="-122"/>
                <a:cs typeface="Calibri" pitchFamily="34" charset="-120"/>
              </a:rPr>
              <a:t>Reads code and explains intent. Can raise a concern that downgrades a verdict — never promote one.</a:t>
            </a:r>
            <a:endParaRPr lang="en-US" sz="1250" dirty="0"/>
          </a:p>
        </p:txBody>
      </p:sp>
      <p:sp>
        <p:nvSpPr>
          <p:cNvPr id="16" name="Shape 14"/>
          <p:cNvSpPr/>
          <p:nvPr/>
        </p:nvSpPr>
        <p:spPr>
          <a:xfrm>
            <a:off x="566928" y="4087368"/>
            <a:ext cx="365760" cy="365760"/>
          </a:xfrm>
          <a:prstGeom prst="ellipse">
            <a:avLst/>
          </a:prstGeom>
          <a:solidFill>
            <a:srgbClr val="3FBF92"/>
          </a:solidFill>
          <a:ln/>
        </p:spPr>
      </p:sp>
      <p:sp>
        <p:nvSpPr>
          <p:cNvPr id="17" name="Text 15"/>
          <p:cNvSpPr/>
          <p:nvPr/>
        </p:nvSpPr>
        <p:spPr>
          <a:xfrm>
            <a:off x="566928" y="4087368"/>
            <a:ext cx="365760" cy="365760"/>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4</a:t>
            </a:r>
            <a:endParaRPr lang="en-US" sz="1250" dirty="0"/>
          </a:p>
        </p:txBody>
      </p:sp>
      <p:sp>
        <p:nvSpPr>
          <p:cNvPr id="18" name="Text 16"/>
          <p:cNvSpPr/>
          <p:nvPr/>
        </p:nvSpPr>
        <p:spPr>
          <a:xfrm>
            <a:off x="1133856" y="3995928"/>
            <a:ext cx="3017520" cy="292608"/>
          </a:xfrm>
          <a:prstGeom prst="rect">
            <a:avLst/>
          </a:prstGeom>
          <a:noFill/>
          <a:ln/>
        </p:spPr>
        <p:txBody>
          <a:bodyPr wrap="square" lIns="0" tIns="0" rIns="0" bIns="0" rtlCol="0" anchor="ctr"/>
          <a:lstStyle/>
          <a:p>
            <a:pPr indent="0" marL="0">
              <a:buNone/>
            </a:pPr>
            <a:r>
              <a:rPr lang="en-US" sz="1500" b="1" dirty="0">
                <a:solidFill>
                  <a:srgbClr val="F2F5F8"/>
                </a:solidFill>
                <a:latin typeface="Arial" pitchFamily="34" charset="0"/>
                <a:ea typeface="Arial" pitchFamily="34" charset="-122"/>
                <a:cs typeface="Arial" pitchFamily="34" charset="-120"/>
              </a:rPr>
              <a:t>Server validation</a:t>
            </a:r>
            <a:endParaRPr lang="en-US" sz="1500" dirty="0"/>
          </a:p>
        </p:txBody>
      </p:sp>
      <p:sp>
        <p:nvSpPr>
          <p:cNvPr id="19" name="Text 17"/>
          <p:cNvSpPr/>
          <p:nvPr/>
        </p:nvSpPr>
        <p:spPr>
          <a:xfrm>
            <a:off x="4206240" y="3995928"/>
            <a:ext cx="7680960" cy="658368"/>
          </a:xfrm>
          <a:prstGeom prst="rect">
            <a:avLst/>
          </a:prstGeom>
          <a:noFill/>
          <a:ln/>
        </p:spPr>
        <p:txBody>
          <a:bodyPr wrap="square" lIns="0" tIns="0" rIns="0" bIns="0" rtlCol="0" anchor="ctr"/>
          <a:lstStyle/>
          <a:p>
            <a:pPr indent="0" marL="0">
              <a:lnSpc>
                <a:spcPts val="1700"/>
              </a:lnSpc>
              <a:buNone/>
            </a:pPr>
            <a:r>
              <a:rPr lang="en-US" sz="1250" dirty="0">
                <a:solidFill>
                  <a:srgbClr val="A8B4C4"/>
                </a:solidFill>
                <a:latin typeface="Calibri" pitchFamily="34" charset="0"/>
                <a:ea typeface="Calibri" pitchFamily="34" charset="-122"/>
                <a:cs typeface="Calibri" pitchFamily="34" charset="-120"/>
              </a:rPr>
              <a:t>Salesforce itself is asked whether the delete would succeed. The only non-inferred signal in the system.</a:t>
            </a:r>
            <a:endParaRPr lang="en-US" sz="1250" dirty="0"/>
          </a:p>
        </p:txBody>
      </p:sp>
      <p:sp>
        <p:nvSpPr>
          <p:cNvPr id="20" name="Shape 18"/>
          <p:cNvSpPr/>
          <p:nvPr/>
        </p:nvSpPr>
        <p:spPr>
          <a:xfrm>
            <a:off x="566928" y="4882896"/>
            <a:ext cx="365760" cy="365760"/>
          </a:xfrm>
          <a:prstGeom prst="ellipse">
            <a:avLst/>
          </a:prstGeom>
          <a:solidFill>
            <a:srgbClr val="F0A030"/>
          </a:solidFill>
          <a:ln/>
        </p:spPr>
      </p:sp>
      <p:sp>
        <p:nvSpPr>
          <p:cNvPr id="21" name="Text 19"/>
          <p:cNvSpPr/>
          <p:nvPr/>
        </p:nvSpPr>
        <p:spPr>
          <a:xfrm>
            <a:off x="566928" y="4882896"/>
            <a:ext cx="365760" cy="365760"/>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5</a:t>
            </a:r>
            <a:endParaRPr lang="en-US" sz="1250" dirty="0"/>
          </a:p>
        </p:txBody>
      </p:sp>
      <p:sp>
        <p:nvSpPr>
          <p:cNvPr id="22" name="Text 20"/>
          <p:cNvSpPr/>
          <p:nvPr/>
        </p:nvSpPr>
        <p:spPr>
          <a:xfrm>
            <a:off x="1133856" y="4791456"/>
            <a:ext cx="3017520" cy="292608"/>
          </a:xfrm>
          <a:prstGeom prst="rect">
            <a:avLst/>
          </a:prstGeom>
          <a:noFill/>
          <a:ln/>
        </p:spPr>
        <p:txBody>
          <a:bodyPr wrap="square" lIns="0" tIns="0" rIns="0" bIns="0" rtlCol="0" anchor="ctr"/>
          <a:lstStyle/>
          <a:p>
            <a:pPr indent="0" marL="0">
              <a:buNone/>
            </a:pPr>
            <a:r>
              <a:rPr lang="en-US" sz="1500" b="1" dirty="0">
                <a:solidFill>
                  <a:srgbClr val="F2F5F8"/>
                </a:solidFill>
                <a:latin typeface="Arial" pitchFamily="34" charset="0"/>
                <a:ea typeface="Arial" pitchFamily="34" charset="-122"/>
                <a:cs typeface="Arial" pitchFamily="34" charset="-120"/>
              </a:rPr>
              <a:t>Human approval</a:t>
            </a:r>
            <a:endParaRPr lang="en-US" sz="1500" dirty="0"/>
          </a:p>
        </p:txBody>
      </p:sp>
      <p:sp>
        <p:nvSpPr>
          <p:cNvPr id="23" name="Text 21"/>
          <p:cNvSpPr/>
          <p:nvPr/>
        </p:nvSpPr>
        <p:spPr>
          <a:xfrm>
            <a:off x="4206240" y="4791456"/>
            <a:ext cx="7680960" cy="658368"/>
          </a:xfrm>
          <a:prstGeom prst="rect">
            <a:avLst/>
          </a:prstGeom>
          <a:noFill/>
          <a:ln/>
        </p:spPr>
        <p:txBody>
          <a:bodyPr wrap="square" lIns="0" tIns="0" rIns="0" bIns="0" rtlCol="0" anchor="ctr"/>
          <a:lstStyle/>
          <a:p>
            <a:pPr indent="0" marL="0">
              <a:lnSpc>
                <a:spcPts val="1700"/>
              </a:lnSpc>
              <a:buNone/>
            </a:pPr>
            <a:r>
              <a:rPr lang="en-US" sz="1250" dirty="0">
                <a:solidFill>
                  <a:srgbClr val="A8B4C4"/>
                </a:solidFill>
                <a:latin typeface="Calibri" pitchFamily="34" charset="0"/>
                <a:ea typeface="Calibri" pitchFamily="34" charset="-122"/>
                <a:cs typeface="Calibri" pitchFamily="34" charset="-120"/>
              </a:rPr>
              <a:t>A person sees the evidence and decides. Nothing is removed without this.</a:t>
            </a:r>
            <a:endParaRPr lang="en-US" sz="1250" dirty="0"/>
          </a:p>
        </p:txBody>
      </p:sp>
      <p:sp>
        <p:nvSpPr>
          <p:cNvPr id="24" name="Shape 22"/>
          <p:cNvSpPr/>
          <p:nvPr/>
        </p:nvSpPr>
        <p:spPr>
          <a:xfrm>
            <a:off x="566928" y="5678424"/>
            <a:ext cx="365760" cy="365760"/>
          </a:xfrm>
          <a:prstGeom prst="ellipse">
            <a:avLst/>
          </a:prstGeom>
          <a:solidFill>
            <a:srgbClr val="29B6D8"/>
          </a:solidFill>
          <a:ln/>
        </p:spPr>
      </p:sp>
      <p:sp>
        <p:nvSpPr>
          <p:cNvPr id="25" name="Text 23"/>
          <p:cNvSpPr/>
          <p:nvPr/>
        </p:nvSpPr>
        <p:spPr>
          <a:xfrm>
            <a:off x="566928" y="5678424"/>
            <a:ext cx="365760" cy="365760"/>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6</a:t>
            </a:r>
            <a:endParaRPr lang="en-US" sz="1250" dirty="0"/>
          </a:p>
        </p:txBody>
      </p:sp>
      <p:sp>
        <p:nvSpPr>
          <p:cNvPr id="26" name="Text 24"/>
          <p:cNvSpPr/>
          <p:nvPr/>
        </p:nvSpPr>
        <p:spPr>
          <a:xfrm>
            <a:off x="1133856" y="5586984"/>
            <a:ext cx="3017520" cy="292608"/>
          </a:xfrm>
          <a:prstGeom prst="rect">
            <a:avLst/>
          </a:prstGeom>
          <a:noFill/>
          <a:ln/>
        </p:spPr>
        <p:txBody>
          <a:bodyPr wrap="square" lIns="0" tIns="0" rIns="0" bIns="0" rtlCol="0" anchor="ctr"/>
          <a:lstStyle/>
          <a:p>
            <a:pPr indent="0" marL="0">
              <a:buNone/>
            </a:pPr>
            <a:r>
              <a:rPr lang="en-US" sz="1500" b="1" dirty="0">
                <a:solidFill>
                  <a:srgbClr val="F2F5F8"/>
                </a:solidFill>
                <a:latin typeface="Arial" pitchFamily="34" charset="0"/>
                <a:ea typeface="Arial" pitchFamily="34" charset="-122"/>
                <a:cs typeface="Arial" pitchFamily="34" charset="-120"/>
              </a:rPr>
              <a:t>Removal agent</a:t>
            </a:r>
            <a:endParaRPr lang="en-US" sz="1500" dirty="0"/>
          </a:p>
        </p:txBody>
      </p:sp>
      <p:sp>
        <p:nvSpPr>
          <p:cNvPr id="27" name="Text 25"/>
          <p:cNvSpPr/>
          <p:nvPr/>
        </p:nvSpPr>
        <p:spPr>
          <a:xfrm>
            <a:off x="4206240" y="5586984"/>
            <a:ext cx="7680960" cy="658368"/>
          </a:xfrm>
          <a:prstGeom prst="rect">
            <a:avLst/>
          </a:prstGeom>
          <a:noFill/>
          <a:ln/>
        </p:spPr>
        <p:txBody>
          <a:bodyPr wrap="square" lIns="0" tIns="0" rIns="0" bIns="0" rtlCol="0" anchor="ctr"/>
          <a:lstStyle/>
          <a:p>
            <a:pPr indent="0" marL="0">
              <a:lnSpc>
                <a:spcPts val="1700"/>
              </a:lnSpc>
              <a:buNone/>
            </a:pPr>
            <a:r>
              <a:rPr lang="en-US" sz="1250" dirty="0">
                <a:solidFill>
                  <a:srgbClr val="A8B4C4"/>
                </a:solidFill>
                <a:latin typeface="Calibri" pitchFamily="34" charset="0"/>
                <a:ea typeface="Calibri" pitchFamily="34" charset="-122"/>
                <a:cs typeface="Calibri" pitchFamily="34" charset="-120"/>
              </a:rPr>
              <a:t>Executes the approved change: deletes metadata, refactors callers, opens a pull request.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11712" y="6455664"/>
            <a:ext cx="365760" cy="274320"/>
          </a:xfrm>
          <a:prstGeom prst="rect">
            <a:avLst/>
          </a:prstGeom>
          <a:noFill/>
          <a:ln/>
        </p:spPr>
        <p:txBody>
          <a:bodyPr wrap="square" lIns="0" tIns="0" rIns="0" bIns="0" rtlCol="0" anchor="ctr"/>
          <a:lstStyle/>
          <a:p>
            <a:pPr algn="r" indent="0" marL="0">
              <a:buNone/>
            </a:pPr>
            <a:r>
              <a:rPr lang="en-US" sz="1000" dirty="0">
                <a:solidFill>
                  <a:srgbClr val="A0A8B4"/>
                </a:solidFill>
                <a:latin typeface="Calibri" pitchFamily="34" charset="0"/>
                <a:ea typeface="Calibri" pitchFamily="34" charset="-122"/>
                <a:cs typeface="Calibri" pitchFamily="34" charset="-120"/>
              </a:rPr>
              <a:t>8</a:t>
            </a:r>
            <a:endParaRPr lang="en-US" sz="1000" dirty="0"/>
          </a:p>
        </p:txBody>
      </p:sp>
      <p:sp>
        <p:nvSpPr>
          <p:cNvPr id="3" name="Text 1"/>
          <p:cNvSpPr/>
          <p:nvPr/>
        </p:nvSpPr>
        <p:spPr>
          <a:xfrm>
            <a:off x="566928" y="402336"/>
            <a:ext cx="11055096" cy="713232"/>
          </a:xfrm>
          <a:prstGeom prst="rect">
            <a:avLst/>
          </a:prstGeom>
          <a:noFill/>
          <a:ln/>
        </p:spPr>
        <p:txBody>
          <a:bodyPr wrap="square" lIns="0" tIns="0" rIns="0" bIns="0" rtlCol="0" anchor="ctr"/>
          <a:lstStyle/>
          <a:p>
            <a:pPr indent="0" marL="0">
              <a:buNone/>
            </a:pPr>
            <a:r>
              <a:rPr lang="en-US" sz="3400" b="1" dirty="0">
                <a:solidFill>
                  <a:srgbClr val="0F1620"/>
                </a:solidFill>
                <a:latin typeface="Arial" pitchFamily="34" charset="0"/>
                <a:ea typeface="Arial" pitchFamily="34" charset="-122"/>
                <a:cs typeface="Arial" pitchFamily="34" charset="-120"/>
              </a:rPr>
              <a:t>System architecture</a:t>
            </a:r>
            <a:endParaRPr lang="en-US" sz="3400" dirty="0"/>
          </a:p>
        </p:txBody>
      </p:sp>
      <p:sp>
        <p:nvSpPr>
          <p:cNvPr id="4" name="Text 2"/>
          <p:cNvSpPr/>
          <p:nvPr/>
        </p:nvSpPr>
        <p:spPr>
          <a:xfrm>
            <a:off x="566928" y="1115568"/>
            <a:ext cx="11055096" cy="402336"/>
          </a:xfrm>
          <a:prstGeom prst="rect">
            <a:avLst/>
          </a:prstGeom>
          <a:noFill/>
          <a:ln/>
        </p:spPr>
        <p:txBody>
          <a:bodyPr wrap="square" lIns="0" tIns="0" rIns="0" bIns="0" rtlCol="0" anchor="ctr"/>
          <a:lstStyle/>
          <a:p>
            <a:pPr indent="0" marL="0">
              <a:buNone/>
            </a:pPr>
            <a:r>
              <a:rPr lang="en-US" sz="1450" dirty="0">
                <a:solidFill>
                  <a:srgbClr val="55606E"/>
                </a:solidFill>
                <a:latin typeface="Calibri" pitchFamily="34" charset="0"/>
                <a:ea typeface="Calibri" pitchFamily="34" charset="-122"/>
                <a:cs typeface="Calibri" pitchFamily="34" charset="-120"/>
              </a:rPr>
              <a:t>Four layers, one org connection, and a database that is the single source of truth for every run.</a:t>
            </a:r>
            <a:endParaRPr lang="en-US" sz="1450" dirty="0"/>
          </a:p>
        </p:txBody>
      </p:sp>
      <p:sp>
        <p:nvSpPr>
          <p:cNvPr id="5" name="Shape 3"/>
          <p:cNvSpPr/>
          <p:nvPr/>
        </p:nvSpPr>
        <p:spPr>
          <a:xfrm>
            <a:off x="566928" y="1755648"/>
            <a:ext cx="7973568" cy="804672"/>
          </a:xfrm>
          <a:prstGeom prst="roundRect">
            <a:avLst>
              <a:gd name="adj" fmla="val 6818"/>
            </a:avLst>
          </a:prstGeom>
          <a:solidFill>
            <a:srgbClr val="FFFFFF"/>
          </a:solidFill>
          <a:ln w="12700">
            <a:solidFill>
              <a:srgbClr val="DDE4EC"/>
            </a:solidFill>
            <a:prstDash val="solid"/>
          </a:ln>
        </p:spPr>
      </p:sp>
      <p:sp>
        <p:nvSpPr>
          <p:cNvPr id="6" name="Shape 4"/>
          <p:cNvSpPr/>
          <p:nvPr/>
        </p:nvSpPr>
        <p:spPr>
          <a:xfrm>
            <a:off x="822960" y="2075688"/>
            <a:ext cx="173736" cy="173736"/>
          </a:xfrm>
          <a:prstGeom prst="ellipse">
            <a:avLst/>
          </a:prstGeom>
          <a:solidFill>
            <a:srgbClr val="29B6D8"/>
          </a:solidFill>
          <a:ln/>
        </p:spPr>
      </p:sp>
      <p:sp>
        <p:nvSpPr>
          <p:cNvPr id="7" name="Text 5"/>
          <p:cNvSpPr/>
          <p:nvPr/>
        </p:nvSpPr>
        <p:spPr>
          <a:xfrm>
            <a:off x="1115568" y="1874520"/>
            <a:ext cx="1600200" cy="274320"/>
          </a:xfrm>
          <a:prstGeom prst="rect">
            <a:avLst/>
          </a:prstGeom>
          <a:noFill/>
          <a:ln/>
        </p:spPr>
        <p:txBody>
          <a:bodyPr wrap="square" lIns="0" tIns="0" rIns="0" bIns="0" rtlCol="0" anchor="ctr"/>
          <a:lstStyle/>
          <a:p>
            <a:pPr indent="0" marL="0">
              <a:buNone/>
            </a:pPr>
            <a:r>
              <a:rPr lang="en-US" sz="1450" b="1" dirty="0">
                <a:solidFill>
                  <a:srgbClr val="0F1620"/>
                </a:solidFill>
                <a:latin typeface="Arial" pitchFamily="34" charset="0"/>
                <a:ea typeface="Arial" pitchFamily="34" charset="-122"/>
                <a:cs typeface="Arial" pitchFamily="34" charset="-120"/>
              </a:rPr>
              <a:t>Browser</a:t>
            </a:r>
            <a:endParaRPr lang="en-US" sz="1450" dirty="0"/>
          </a:p>
        </p:txBody>
      </p:sp>
      <p:sp>
        <p:nvSpPr>
          <p:cNvPr id="8" name="Text 6"/>
          <p:cNvSpPr/>
          <p:nvPr/>
        </p:nvSpPr>
        <p:spPr>
          <a:xfrm>
            <a:off x="1115568" y="2157984"/>
            <a:ext cx="1920240" cy="256032"/>
          </a:xfrm>
          <a:prstGeom prst="rect">
            <a:avLst/>
          </a:prstGeom>
          <a:noFill/>
          <a:ln/>
        </p:spPr>
        <p:txBody>
          <a:bodyPr wrap="square" lIns="0" tIns="0" rIns="0" bIns="0" rtlCol="0" anchor="ctr"/>
          <a:lstStyle/>
          <a:p>
            <a:pPr indent="0" marL="0">
              <a:buNone/>
            </a:pPr>
            <a:r>
              <a:rPr lang="en-US" sz="1050" dirty="0">
                <a:solidFill>
                  <a:srgbClr val="8A94A4"/>
                </a:solidFill>
                <a:latin typeface="Calibri" pitchFamily="34" charset="0"/>
                <a:ea typeface="Calibri" pitchFamily="34" charset="-122"/>
                <a:cs typeface="Calibri" pitchFamily="34" charset="-120"/>
              </a:rPr>
              <a:t>React 19 · TypeScript · Vite</a:t>
            </a:r>
            <a:endParaRPr lang="en-US" sz="1050" dirty="0"/>
          </a:p>
        </p:txBody>
      </p:sp>
      <p:sp>
        <p:nvSpPr>
          <p:cNvPr id="9" name="Text 7"/>
          <p:cNvSpPr/>
          <p:nvPr/>
        </p:nvSpPr>
        <p:spPr>
          <a:xfrm>
            <a:off x="3182112" y="1901952"/>
            <a:ext cx="5120640" cy="530352"/>
          </a:xfrm>
          <a:prstGeom prst="rect">
            <a:avLst/>
          </a:prstGeom>
          <a:noFill/>
          <a:ln/>
        </p:spPr>
        <p:txBody>
          <a:bodyPr wrap="square" lIns="0" tIns="0" rIns="0" bIns="0" rtlCol="0" anchor="ctr"/>
          <a:lstStyle/>
          <a:p>
            <a:pPr indent="0" marL="0">
              <a:lnSpc>
                <a:spcPts val="1500"/>
              </a:lnSpc>
              <a:buNone/>
            </a:pPr>
            <a:r>
              <a:rPr lang="en-US" sz="1100" dirty="0">
                <a:solidFill>
                  <a:srgbClr val="5A6472"/>
                </a:solidFill>
                <a:latin typeface="Calibri" pitchFamily="34" charset="0"/>
                <a:ea typeface="Calibri" pitchFamily="34" charset="-122"/>
                <a:cs typeface="Calibri" pitchFamily="34" charset="-120"/>
              </a:rPr>
              <a:t>Dashboard  ·  live pipeline console  ·  dependency graph (Cytoscape)  ·  review queue  ·  in-app docs</a:t>
            </a:r>
            <a:endParaRPr lang="en-US" sz="1100" dirty="0"/>
          </a:p>
        </p:txBody>
      </p:sp>
      <p:sp>
        <p:nvSpPr>
          <p:cNvPr id="10" name="Shape 8"/>
          <p:cNvSpPr/>
          <p:nvPr/>
        </p:nvSpPr>
        <p:spPr>
          <a:xfrm rot="10800000">
            <a:off x="4608576" y="2596896"/>
            <a:ext cx="182880" cy="118872"/>
          </a:xfrm>
          <a:prstGeom prst="triangle">
            <a:avLst/>
          </a:prstGeom>
          <a:solidFill>
            <a:srgbClr val="B0BCCA"/>
          </a:solidFill>
          <a:ln/>
        </p:spPr>
      </p:sp>
      <p:sp>
        <p:nvSpPr>
          <p:cNvPr id="11" name="Shape 9"/>
          <p:cNvSpPr/>
          <p:nvPr/>
        </p:nvSpPr>
        <p:spPr>
          <a:xfrm>
            <a:off x="566928" y="2670048"/>
            <a:ext cx="7973568" cy="804672"/>
          </a:xfrm>
          <a:prstGeom prst="roundRect">
            <a:avLst>
              <a:gd name="adj" fmla="val 6818"/>
            </a:avLst>
          </a:prstGeom>
          <a:solidFill>
            <a:srgbClr val="F6F8FB"/>
          </a:solidFill>
          <a:ln w="12700">
            <a:solidFill>
              <a:srgbClr val="DDE4EC"/>
            </a:solidFill>
            <a:prstDash val="solid"/>
          </a:ln>
        </p:spPr>
      </p:sp>
      <p:sp>
        <p:nvSpPr>
          <p:cNvPr id="12" name="Shape 10"/>
          <p:cNvSpPr/>
          <p:nvPr/>
        </p:nvSpPr>
        <p:spPr>
          <a:xfrm>
            <a:off x="822960" y="2990088"/>
            <a:ext cx="173736" cy="173736"/>
          </a:xfrm>
          <a:prstGeom prst="ellipse">
            <a:avLst/>
          </a:prstGeom>
          <a:solidFill>
            <a:srgbClr val="29B6D8"/>
          </a:solidFill>
          <a:ln/>
        </p:spPr>
      </p:sp>
      <p:sp>
        <p:nvSpPr>
          <p:cNvPr id="13" name="Text 11"/>
          <p:cNvSpPr/>
          <p:nvPr/>
        </p:nvSpPr>
        <p:spPr>
          <a:xfrm>
            <a:off x="1115568" y="2788920"/>
            <a:ext cx="1600200" cy="274320"/>
          </a:xfrm>
          <a:prstGeom prst="rect">
            <a:avLst/>
          </a:prstGeom>
          <a:noFill/>
          <a:ln/>
        </p:spPr>
        <p:txBody>
          <a:bodyPr wrap="square" lIns="0" tIns="0" rIns="0" bIns="0" rtlCol="0" anchor="ctr"/>
          <a:lstStyle/>
          <a:p>
            <a:pPr indent="0" marL="0">
              <a:buNone/>
            </a:pPr>
            <a:r>
              <a:rPr lang="en-US" sz="1450" b="1" dirty="0">
                <a:solidFill>
                  <a:srgbClr val="0F1620"/>
                </a:solidFill>
                <a:latin typeface="Arial" pitchFamily="34" charset="0"/>
                <a:ea typeface="Arial" pitchFamily="34" charset="-122"/>
                <a:cs typeface="Arial" pitchFamily="34" charset="-120"/>
              </a:rPr>
              <a:t>API</a:t>
            </a:r>
            <a:endParaRPr lang="en-US" sz="1450" dirty="0"/>
          </a:p>
        </p:txBody>
      </p:sp>
      <p:sp>
        <p:nvSpPr>
          <p:cNvPr id="14" name="Text 12"/>
          <p:cNvSpPr/>
          <p:nvPr/>
        </p:nvSpPr>
        <p:spPr>
          <a:xfrm>
            <a:off x="1115568" y="3072384"/>
            <a:ext cx="1920240" cy="256032"/>
          </a:xfrm>
          <a:prstGeom prst="rect">
            <a:avLst/>
          </a:prstGeom>
          <a:noFill/>
          <a:ln/>
        </p:spPr>
        <p:txBody>
          <a:bodyPr wrap="square" lIns="0" tIns="0" rIns="0" bIns="0" rtlCol="0" anchor="ctr"/>
          <a:lstStyle/>
          <a:p>
            <a:pPr indent="0" marL="0">
              <a:buNone/>
            </a:pPr>
            <a:r>
              <a:rPr lang="en-US" sz="1050" dirty="0">
                <a:solidFill>
                  <a:srgbClr val="8A94A4"/>
                </a:solidFill>
                <a:latin typeface="Calibri" pitchFamily="34" charset="0"/>
                <a:ea typeface="Calibri" pitchFamily="34" charset="-122"/>
                <a:cs typeface="Calibri" pitchFamily="34" charset="-120"/>
              </a:rPr>
              <a:t>FastAPI, fully async</a:t>
            </a:r>
            <a:endParaRPr lang="en-US" sz="1050" dirty="0"/>
          </a:p>
        </p:txBody>
      </p:sp>
      <p:sp>
        <p:nvSpPr>
          <p:cNvPr id="15" name="Text 13"/>
          <p:cNvSpPr/>
          <p:nvPr/>
        </p:nvSpPr>
        <p:spPr>
          <a:xfrm>
            <a:off x="3182112" y="2816352"/>
            <a:ext cx="5120640" cy="530352"/>
          </a:xfrm>
          <a:prstGeom prst="rect">
            <a:avLst/>
          </a:prstGeom>
          <a:noFill/>
          <a:ln/>
        </p:spPr>
        <p:txBody>
          <a:bodyPr wrap="square" lIns="0" tIns="0" rIns="0" bIns="0" rtlCol="0" anchor="ctr"/>
          <a:lstStyle/>
          <a:p>
            <a:pPr indent="0" marL="0">
              <a:lnSpc>
                <a:spcPts val="1500"/>
              </a:lnSpc>
              <a:buNone/>
            </a:pPr>
            <a:r>
              <a:rPr lang="en-US" sz="1100" dirty="0">
                <a:solidFill>
                  <a:srgbClr val="5A6472"/>
                </a:solidFill>
                <a:latin typeface="Calibri" pitchFamily="34" charset="0"/>
                <a:ea typeface="Calibri" pitchFamily="34" charset="-122"/>
                <a:cs typeface="Calibri" pitchFamily="34" charset="-120"/>
              </a:rPr>
              <a:t>Runs, components and evidence over REST  ·  SSE stream with Last-Event-ID replay  ·  report download</a:t>
            </a:r>
            <a:endParaRPr lang="en-US" sz="1100" dirty="0"/>
          </a:p>
        </p:txBody>
      </p:sp>
      <p:sp>
        <p:nvSpPr>
          <p:cNvPr id="16" name="Shape 14"/>
          <p:cNvSpPr/>
          <p:nvPr/>
        </p:nvSpPr>
        <p:spPr>
          <a:xfrm rot="10800000">
            <a:off x="4608576" y="3511296"/>
            <a:ext cx="182880" cy="118872"/>
          </a:xfrm>
          <a:prstGeom prst="triangle">
            <a:avLst/>
          </a:prstGeom>
          <a:solidFill>
            <a:srgbClr val="B0BCCA"/>
          </a:solidFill>
          <a:ln/>
        </p:spPr>
      </p:sp>
      <p:sp>
        <p:nvSpPr>
          <p:cNvPr id="17" name="Shape 15"/>
          <p:cNvSpPr/>
          <p:nvPr/>
        </p:nvSpPr>
        <p:spPr>
          <a:xfrm>
            <a:off x="566928" y="3584448"/>
            <a:ext cx="7973568" cy="804672"/>
          </a:xfrm>
          <a:prstGeom prst="roundRect">
            <a:avLst>
              <a:gd name="adj" fmla="val 6818"/>
            </a:avLst>
          </a:prstGeom>
          <a:solidFill>
            <a:srgbClr val="FFFFFF"/>
          </a:solidFill>
          <a:ln w="12700">
            <a:solidFill>
              <a:srgbClr val="DDE4EC"/>
            </a:solidFill>
            <a:prstDash val="solid"/>
          </a:ln>
        </p:spPr>
      </p:sp>
      <p:sp>
        <p:nvSpPr>
          <p:cNvPr id="18" name="Shape 16"/>
          <p:cNvSpPr/>
          <p:nvPr/>
        </p:nvSpPr>
        <p:spPr>
          <a:xfrm>
            <a:off x="822960" y="3904488"/>
            <a:ext cx="173736" cy="173736"/>
          </a:xfrm>
          <a:prstGeom prst="ellipse">
            <a:avLst/>
          </a:prstGeom>
          <a:solidFill>
            <a:srgbClr val="F0A030"/>
          </a:solidFill>
          <a:ln/>
        </p:spPr>
      </p:sp>
      <p:sp>
        <p:nvSpPr>
          <p:cNvPr id="19" name="Text 17"/>
          <p:cNvSpPr/>
          <p:nvPr/>
        </p:nvSpPr>
        <p:spPr>
          <a:xfrm>
            <a:off x="1115568" y="3703320"/>
            <a:ext cx="1600200" cy="274320"/>
          </a:xfrm>
          <a:prstGeom prst="rect">
            <a:avLst/>
          </a:prstGeom>
          <a:noFill/>
          <a:ln/>
        </p:spPr>
        <p:txBody>
          <a:bodyPr wrap="square" lIns="0" tIns="0" rIns="0" bIns="0" rtlCol="0" anchor="ctr"/>
          <a:lstStyle/>
          <a:p>
            <a:pPr indent="0" marL="0">
              <a:buNone/>
            </a:pPr>
            <a:r>
              <a:rPr lang="en-US" sz="1450" b="1" dirty="0">
                <a:solidFill>
                  <a:srgbClr val="0F1620"/>
                </a:solidFill>
                <a:latin typeface="Arial" pitchFamily="34" charset="0"/>
                <a:ea typeface="Arial" pitchFamily="34" charset="-122"/>
                <a:cs typeface="Arial" pitchFamily="34" charset="-120"/>
              </a:rPr>
              <a:t>Orchestrator</a:t>
            </a:r>
            <a:endParaRPr lang="en-US" sz="1450" dirty="0"/>
          </a:p>
        </p:txBody>
      </p:sp>
      <p:sp>
        <p:nvSpPr>
          <p:cNvPr id="20" name="Text 18"/>
          <p:cNvSpPr/>
          <p:nvPr/>
        </p:nvSpPr>
        <p:spPr>
          <a:xfrm>
            <a:off x="1115568" y="3986784"/>
            <a:ext cx="1920240" cy="256032"/>
          </a:xfrm>
          <a:prstGeom prst="rect">
            <a:avLst/>
          </a:prstGeom>
          <a:noFill/>
          <a:ln/>
        </p:spPr>
        <p:txBody>
          <a:bodyPr wrap="square" lIns="0" tIns="0" rIns="0" bIns="0" rtlCol="0" anchor="ctr"/>
          <a:lstStyle/>
          <a:p>
            <a:pPr indent="0" marL="0">
              <a:buNone/>
            </a:pPr>
            <a:r>
              <a:rPr lang="en-US" sz="1050" dirty="0">
                <a:solidFill>
                  <a:srgbClr val="8A94A4"/>
                </a:solidFill>
                <a:latin typeface="Calibri" pitchFamily="34" charset="0"/>
                <a:ea typeface="Calibri" pitchFamily="34" charset="-122"/>
                <a:cs typeface="Calibri" pitchFamily="34" charset="-120"/>
              </a:rPr>
              <a:t>Stage runner + event bus</a:t>
            </a:r>
            <a:endParaRPr lang="en-US" sz="1050" dirty="0"/>
          </a:p>
        </p:txBody>
      </p:sp>
      <p:sp>
        <p:nvSpPr>
          <p:cNvPr id="21" name="Text 19"/>
          <p:cNvSpPr/>
          <p:nvPr/>
        </p:nvSpPr>
        <p:spPr>
          <a:xfrm>
            <a:off x="3182112" y="3730752"/>
            <a:ext cx="5120640" cy="530352"/>
          </a:xfrm>
          <a:prstGeom prst="rect">
            <a:avLst/>
          </a:prstGeom>
          <a:noFill/>
          <a:ln/>
        </p:spPr>
        <p:txBody>
          <a:bodyPr wrap="square" lIns="0" tIns="0" rIns="0" bIns="0" rtlCol="0" anchor="ctr"/>
          <a:lstStyle/>
          <a:p>
            <a:pPr indent="0" marL="0">
              <a:lnSpc>
                <a:spcPts val="1500"/>
              </a:lnSpc>
              <a:buNone/>
            </a:pPr>
            <a:r>
              <a:rPr lang="en-US" sz="1100" dirty="0">
                <a:solidFill>
                  <a:srgbClr val="5A6472"/>
                </a:solidFill>
                <a:latin typeface="Calibri" pitchFamily="34" charset="0"/>
                <a:ea typeface="Calibri" pitchFamily="34" charset="-122"/>
                <a:cs typeface="Calibri" pitchFamily="34" charset="-120"/>
              </a:rPr>
              <a:t>Ten stages, each recording its own state  ·  single writer coroutine keeps the event log gapless  ·  one active run per org</a:t>
            </a:r>
            <a:endParaRPr lang="en-US" sz="1100" dirty="0"/>
          </a:p>
        </p:txBody>
      </p:sp>
      <p:sp>
        <p:nvSpPr>
          <p:cNvPr id="22" name="Shape 20"/>
          <p:cNvSpPr/>
          <p:nvPr/>
        </p:nvSpPr>
        <p:spPr>
          <a:xfrm rot="10800000">
            <a:off x="4608576" y="4425696"/>
            <a:ext cx="182880" cy="118872"/>
          </a:xfrm>
          <a:prstGeom prst="triangle">
            <a:avLst/>
          </a:prstGeom>
          <a:solidFill>
            <a:srgbClr val="B0BCCA"/>
          </a:solidFill>
          <a:ln/>
        </p:spPr>
      </p:sp>
      <p:sp>
        <p:nvSpPr>
          <p:cNvPr id="23" name="Shape 21"/>
          <p:cNvSpPr/>
          <p:nvPr/>
        </p:nvSpPr>
        <p:spPr>
          <a:xfrm>
            <a:off x="566928" y="4498848"/>
            <a:ext cx="7973568" cy="804672"/>
          </a:xfrm>
          <a:prstGeom prst="roundRect">
            <a:avLst>
              <a:gd name="adj" fmla="val 6818"/>
            </a:avLst>
          </a:prstGeom>
          <a:solidFill>
            <a:srgbClr val="F6F8FB"/>
          </a:solidFill>
          <a:ln w="12700">
            <a:solidFill>
              <a:srgbClr val="DDE4EC"/>
            </a:solidFill>
            <a:prstDash val="solid"/>
          </a:ln>
        </p:spPr>
      </p:sp>
      <p:sp>
        <p:nvSpPr>
          <p:cNvPr id="24" name="Shape 22"/>
          <p:cNvSpPr/>
          <p:nvPr/>
        </p:nvSpPr>
        <p:spPr>
          <a:xfrm>
            <a:off x="822960" y="4818888"/>
            <a:ext cx="173736" cy="173736"/>
          </a:xfrm>
          <a:prstGeom prst="ellipse">
            <a:avLst/>
          </a:prstGeom>
          <a:solidFill>
            <a:srgbClr val="3FBF92"/>
          </a:solidFill>
          <a:ln/>
        </p:spPr>
      </p:sp>
      <p:sp>
        <p:nvSpPr>
          <p:cNvPr id="25" name="Text 23"/>
          <p:cNvSpPr/>
          <p:nvPr/>
        </p:nvSpPr>
        <p:spPr>
          <a:xfrm>
            <a:off x="1115568" y="4617720"/>
            <a:ext cx="1600200" cy="274320"/>
          </a:xfrm>
          <a:prstGeom prst="rect">
            <a:avLst/>
          </a:prstGeom>
          <a:noFill/>
          <a:ln/>
        </p:spPr>
        <p:txBody>
          <a:bodyPr wrap="square" lIns="0" tIns="0" rIns="0" bIns="0" rtlCol="0" anchor="ctr"/>
          <a:lstStyle/>
          <a:p>
            <a:pPr indent="0" marL="0">
              <a:buNone/>
            </a:pPr>
            <a:r>
              <a:rPr lang="en-US" sz="1450" b="1" dirty="0">
                <a:solidFill>
                  <a:srgbClr val="0F1620"/>
                </a:solidFill>
                <a:latin typeface="Arial" pitchFamily="34" charset="0"/>
                <a:ea typeface="Arial" pitchFamily="34" charset="-122"/>
                <a:cs typeface="Arial" pitchFamily="34" charset="-120"/>
              </a:rPr>
              <a:t>Analysis</a:t>
            </a:r>
            <a:endParaRPr lang="en-US" sz="1450" dirty="0"/>
          </a:p>
        </p:txBody>
      </p:sp>
      <p:sp>
        <p:nvSpPr>
          <p:cNvPr id="26" name="Text 24"/>
          <p:cNvSpPr/>
          <p:nvPr/>
        </p:nvSpPr>
        <p:spPr>
          <a:xfrm>
            <a:off x="1115568" y="4901184"/>
            <a:ext cx="1920240" cy="256032"/>
          </a:xfrm>
          <a:prstGeom prst="rect">
            <a:avLst/>
          </a:prstGeom>
          <a:noFill/>
          <a:ln/>
        </p:spPr>
        <p:txBody>
          <a:bodyPr wrap="square" lIns="0" tIns="0" rIns="0" bIns="0" rtlCol="0" anchor="ctr"/>
          <a:lstStyle/>
          <a:p>
            <a:pPr indent="0" marL="0">
              <a:buNone/>
            </a:pPr>
            <a:r>
              <a:rPr lang="en-US" sz="1050" dirty="0">
                <a:solidFill>
                  <a:srgbClr val="8A94A4"/>
                </a:solidFill>
                <a:latin typeface="Calibri" pitchFamily="34" charset="0"/>
                <a:ea typeface="Calibri" pitchFamily="34" charset="-122"/>
                <a:cs typeface="Calibri" pitchFamily="34" charset="-120"/>
              </a:rPr>
              <a:t>The pipeline modules</a:t>
            </a:r>
            <a:endParaRPr lang="en-US" sz="1050" dirty="0"/>
          </a:p>
        </p:txBody>
      </p:sp>
      <p:sp>
        <p:nvSpPr>
          <p:cNvPr id="27" name="Text 25"/>
          <p:cNvSpPr/>
          <p:nvPr/>
        </p:nvSpPr>
        <p:spPr>
          <a:xfrm>
            <a:off x="3182112" y="4645152"/>
            <a:ext cx="5120640" cy="530352"/>
          </a:xfrm>
          <a:prstGeom prst="rect">
            <a:avLst/>
          </a:prstGeom>
          <a:noFill/>
          <a:ln/>
        </p:spPr>
        <p:txBody>
          <a:bodyPr wrap="square" lIns="0" tIns="0" rIns="0" bIns="0" rtlCol="0" anchor="ctr"/>
          <a:lstStyle/>
          <a:p>
            <a:pPr indent="0" marL="0">
              <a:lnSpc>
                <a:spcPts val="1500"/>
              </a:lnSpc>
              <a:buNone/>
            </a:pPr>
            <a:r>
              <a:rPr lang="en-US" sz="1100" dirty="0">
                <a:solidFill>
                  <a:srgbClr val="5A6472"/>
                </a:solidFill>
                <a:latin typeface="Calibri" pitchFamily="34" charset="0"/>
                <a:ea typeface="Calibri" pitchFamily="34" charset="-122"/>
                <a:cs typeface="Calibri" pitchFamily="34" charset="-120"/>
              </a:rPr>
              <a:t>Inventory  ·  retrieve  ·  index  ·  nine collectors  ·  reachability graph  ·  classifier  ·  narrator  ·  report builder</a:t>
            </a:r>
            <a:endParaRPr lang="en-US" sz="1100" dirty="0"/>
          </a:p>
        </p:txBody>
      </p:sp>
      <p:sp>
        <p:nvSpPr>
          <p:cNvPr id="28" name="Shape 26"/>
          <p:cNvSpPr/>
          <p:nvPr/>
        </p:nvSpPr>
        <p:spPr>
          <a:xfrm rot="10800000">
            <a:off x="4608576" y="5340096"/>
            <a:ext cx="182880" cy="118872"/>
          </a:xfrm>
          <a:prstGeom prst="triangle">
            <a:avLst/>
          </a:prstGeom>
          <a:solidFill>
            <a:srgbClr val="B0BCCA"/>
          </a:solidFill>
          <a:ln/>
        </p:spPr>
      </p:sp>
      <p:sp>
        <p:nvSpPr>
          <p:cNvPr id="29" name="Shape 27"/>
          <p:cNvSpPr/>
          <p:nvPr/>
        </p:nvSpPr>
        <p:spPr>
          <a:xfrm>
            <a:off x="566928" y="5413248"/>
            <a:ext cx="7973568" cy="804672"/>
          </a:xfrm>
          <a:prstGeom prst="roundRect">
            <a:avLst>
              <a:gd name="adj" fmla="val 6818"/>
            </a:avLst>
          </a:prstGeom>
          <a:solidFill>
            <a:srgbClr val="FFFFFF"/>
          </a:solidFill>
          <a:ln w="12700">
            <a:solidFill>
              <a:srgbClr val="DDE4EC"/>
            </a:solidFill>
            <a:prstDash val="solid"/>
          </a:ln>
        </p:spPr>
      </p:sp>
      <p:sp>
        <p:nvSpPr>
          <p:cNvPr id="30" name="Shape 28"/>
          <p:cNvSpPr/>
          <p:nvPr/>
        </p:nvSpPr>
        <p:spPr>
          <a:xfrm>
            <a:off x="822960" y="5733288"/>
            <a:ext cx="173736" cy="173736"/>
          </a:xfrm>
          <a:prstGeom prst="ellipse">
            <a:avLst/>
          </a:prstGeom>
          <a:solidFill>
            <a:srgbClr val="9B84F7"/>
          </a:solidFill>
          <a:ln/>
        </p:spPr>
      </p:sp>
      <p:sp>
        <p:nvSpPr>
          <p:cNvPr id="31" name="Text 29"/>
          <p:cNvSpPr/>
          <p:nvPr/>
        </p:nvSpPr>
        <p:spPr>
          <a:xfrm>
            <a:off x="1115568" y="5532120"/>
            <a:ext cx="1600200" cy="274320"/>
          </a:xfrm>
          <a:prstGeom prst="rect">
            <a:avLst/>
          </a:prstGeom>
          <a:noFill/>
          <a:ln/>
        </p:spPr>
        <p:txBody>
          <a:bodyPr wrap="square" lIns="0" tIns="0" rIns="0" bIns="0" rtlCol="0" anchor="ctr"/>
          <a:lstStyle/>
          <a:p>
            <a:pPr indent="0" marL="0">
              <a:buNone/>
            </a:pPr>
            <a:r>
              <a:rPr lang="en-US" sz="1450" b="1" dirty="0">
                <a:solidFill>
                  <a:srgbClr val="0F1620"/>
                </a:solidFill>
                <a:latin typeface="Arial" pitchFamily="34" charset="0"/>
                <a:ea typeface="Arial" pitchFamily="34" charset="-122"/>
                <a:cs typeface="Arial" pitchFamily="34" charset="-120"/>
              </a:rPr>
              <a:t>Storage</a:t>
            </a:r>
            <a:endParaRPr lang="en-US" sz="1450" dirty="0"/>
          </a:p>
        </p:txBody>
      </p:sp>
      <p:sp>
        <p:nvSpPr>
          <p:cNvPr id="32" name="Text 30"/>
          <p:cNvSpPr/>
          <p:nvPr/>
        </p:nvSpPr>
        <p:spPr>
          <a:xfrm>
            <a:off x="1115568" y="5815584"/>
            <a:ext cx="1920240" cy="256032"/>
          </a:xfrm>
          <a:prstGeom prst="rect">
            <a:avLst/>
          </a:prstGeom>
          <a:noFill/>
          <a:ln/>
        </p:spPr>
        <p:txBody>
          <a:bodyPr wrap="square" lIns="0" tIns="0" rIns="0" bIns="0" rtlCol="0" anchor="ctr"/>
          <a:lstStyle/>
          <a:p>
            <a:pPr indent="0" marL="0">
              <a:buNone/>
            </a:pPr>
            <a:r>
              <a:rPr lang="en-US" sz="1050" dirty="0">
                <a:solidFill>
                  <a:srgbClr val="8A94A4"/>
                </a:solidFill>
                <a:latin typeface="Calibri" pitchFamily="34" charset="0"/>
                <a:ea typeface="Calibri" pitchFamily="34" charset="-122"/>
                <a:cs typeface="Calibri" pitchFamily="34" charset="-120"/>
              </a:rPr>
              <a:t>Postgres 16 · Redis · disk</a:t>
            </a:r>
            <a:endParaRPr lang="en-US" sz="1050" dirty="0"/>
          </a:p>
        </p:txBody>
      </p:sp>
      <p:sp>
        <p:nvSpPr>
          <p:cNvPr id="33" name="Text 31"/>
          <p:cNvSpPr/>
          <p:nvPr/>
        </p:nvSpPr>
        <p:spPr>
          <a:xfrm>
            <a:off x="3182112" y="5559552"/>
            <a:ext cx="5120640" cy="530352"/>
          </a:xfrm>
          <a:prstGeom prst="rect">
            <a:avLst/>
          </a:prstGeom>
          <a:noFill/>
          <a:ln/>
        </p:spPr>
        <p:txBody>
          <a:bodyPr wrap="square" lIns="0" tIns="0" rIns="0" bIns="0" rtlCol="0" anchor="ctr"/>
          <a:lstStyle/>
          <a:p>
            <a:pPr indent="0" marL="0">
              <a:lnSpc>
                <a:spcPts val="1500"/>
              </a:lnSpc>
              <a:buNone/>
            </a:pPr>
            <a:r>
              <a:rPr lang="en-US" sz="1100" dirty="0">
                <a:solidFill>
                  <a:srgbClr val="5A6472"/>
                </a:solidFill>
                <a:latin typeface="Calibri" pitchFamily="34" charset="0"/>
                <a:ea typeface="Calibri" pitchFamily="34" charset="-122"/>
                <a:cs typeface="Calibri" pitchFamily="34" charset="-120"/>
              </a:rPr>
              <a:t>Nineteen tables including negative evidence and coverage gaps  ·  retrieved metadata cached on disk</a:t>
            </a:r>
            <a:endParaRPr lang="en-US" sz="1100" dirty="0"/>
          </a:p>
        </p:txBody>
      </p:sp>
      <p:sp>
        <p:nvSpPr>
          <p:cNvPr id="34" name="Text 32"/>
          <p:cNvSpPr/>
          <p:nvPr/>
        </p:nvSpPr>
        <p:spPr>
          <a:xfrm>
            <a:off x="8833104" y="1773936"/>
            <a:ext cx="2743200" cy="237744"/>
          </a:xfrm>
          <a:prstGeom prst="rect">
            <a:avLst/>
          </a:prstGeom>
          <a:noFill/>
          <a:ln/>
        </p:spPr>
        <p:txBody>
          <a:bodyPr wrap="square" lIns="0" tIns="0" rIns="0" bIns="0" rtlCol="0" anchor="ctr"/>
          <a:lstStyle/>
          <a:p>
            <a:pPr indent="0" marL="0">
              <a:buNone/>
            </a:pPr>
            <a:r>
              <a:rPr lang="en-US" sz="1000" b="1" spc="200" kern="0" dirty="0">
                <a:solidFill>
                  <a:srgbClr val="8A94A4"/>
                </a:solidFill>
                <a:latin typeface="Arial" pitchFamily="34" charset="0"/>
                <a:ea typeface="Arial" pitchFamily="34" charset="-122"/>
                <a:cs typeface="Arial" pitchFamily="34" charset="-120"/>
              </a:rPr>
              <a:t>EXTERNAL</a:t>
            </a:r>
            <a:endParaRPr lang="en-US" sz="1000" dirty="0"/>
          </a:p>
        </p:txBody>
      </p:sp>
      <p:sp>
        <p:nvSpPr>
          <p:cNvPr id="35" name="Shape 33"/>
          <p:cNvSpPr/>
          <p:nvPr/>
        </p:nvSpPr>
        <p:spPr>
          <a:xfrm>
            <a:off x="8833104" y="2103120"/>
            <a:ext cx="2788920" cy="1828800"/>
          </a:xfrm>
          <a:prstGeom prst="roundRect">
            <a:avLst>
              <a:gd name="adj" fmla="val 3000"/>
            </a:avLst>
          </a:prstGeom>
          <a:solidFill>
            <a:srgbClr val="F6F8FB"/>
          </a:solidFill>
          <a:ln w="12700">
            <a:solidFill>
              <a:srgbClr val="DDE4EC"/>
            </a:solidFill>
            <a:prstDash val="solid"/>
          </a:ln>
        </p:spPr>
      </p:sp>
      <p:sp>
        <p:nvSpPr>
          <p:cNvPr id="36" name="Shape 34"/>
          <p:cNvSpPr/>
          <p:nvPr/>
        </p:nvSpPr>
        <p:spPr>
          <a:xfrm>
            <a:off x="9089136" y="2322576"/>
            <a:ext cx="173736" cy="173736"/>
          </a:xfrm>
          <a:prstGeom prst="ellipse">
            <a:avLst/>
          </a:prstGeom>
          <a:solidFill>
            <a:srgbClr val="29B6D8"/>
          </a:solidFill>
          <a:ln/>
        </p:spPr>
      </p:sp>
      <p:sp>
        <p:nvSpPr>
          <p:cNvPr id="37" name="Text 35"/>
          <p:cNvSpPr/>
          <p:nvPr/>
        </p:nvSpPr>
        <p:spPr>
          <a:xfrm>
            <a:off x="9381744" y="2249424"/>
            <a:ext cx="2194560" cy="274320"/>
          </a:xfrm>
          <a:prstGeom prst="rect">
            <a:avLst/>
          </a:prstGeom>
          <a:noFill/>
          <a:ln/>
        </p:spPr>
        <p:txBody>
          <a:bodyPr wrap="square" lIns="0" tIns="0" rIns="0" bIns="0" rtlCol="0" anchor="ctr"/>
          <a:lstStyle/>
          <a:p>
            <a:pPr indent="0" marL="0">
              <a:buNone/>
            </a:pPr>
            <a:r>
              <a:rPr lang="en-US" sz="1300" b="1" dirty="0">
                <a:solidFill>
                  <a:srgbClr val="0F1620"/>
                </a:solidFill>
                <a:latin typeface="Arial" pitchFamily="34" charset="0"/>
                <a:ea typeface="Arial" pitchFamily="34" charset="-122"/>
                <a:cs typeface="Arial" pitchFamily="34" charset="-120"/>
              </a:rPr>
              <a:t>Salesforce org</a:t>
            </a:r>
            <a:endParaRPr lang="en-US" sz="1300" dirty="0"/>
          </a:p>
        </p:txBody>
      </p:sp>
      <p:sp>
        <p:nvSpPr>
          <p:cNvPr id="38" name="Text 36"/>
          <p:cNvSpPr/>
          <p:nvPr/>
        </p:nvSpPr>
        <p:spPr>
          <a:xfrm>
            <a:off x="9089136" y="2578608"/>
            <a:ext cx="2377440" cy="1280160"/>
          </a:xfrm>
          <a:prstGeom prst="rect">
            <a:avLst/>
          </a:prstGeom>
          <a:noFill/>
          <a:ln/>
        </p:spPr>
        <p:txBody>
          <a:bodyPr wrap="square" lIns="0" tIns="0" rIns="0" bIns="0" rtlCol="0" anchor="ctr"/>
          <a:lstStyle/>
          <a:p>
            <a:pPr indent="0" marL="0">
              <a:lnSpc>
                <a:spcPts val="1300"/>
              </a:lnSpc>
              <a:buNone/>
            </a:pPr>
            <a:r>
              <a:rPr lang="en-US" sz="1000" dirty="0">
                <a:solidFill>
                  <a:srgbClr val="6B7686"/>
                </a:solidFill>
                <a:latin typeface="Calibri" pitchFamily="34" charset="0"/>
                <a:ea typeface="Calibri" pitchFamily="34" charset="-122"/>
                <a:cs typeface="Calibri" pitchFamily="34" charset="-120"/>
              </a:rPr>
              <a:t>REST  ·  Tooling  ·  Metadata</a:t>
            </a:r>
            <a:endParaRPr lang="en-US" sz="1000" dirty="0"/>
          </a:p>
          <a:p>
            <a:pPr indent="0" marL="0">
              <a:lnSpc>
                <a:spcPts val="1300"/>
              </a:lnSpc>
              <a:buNone/>
            </a:pPr>
            <a:r>
              <a:rPr lang="en-US" sz="1000" dirty="0">
                <a:solidFill>
                  <a:srgbClr val="6B7686"/>
                </a:solidFill>
                <a:latin typeface="Calibri" pitchFamily="34" charset="0"/>
                <a:ea typeface="Calibri" pitchFamily="34" charset="-122"/>
                <a:cs typeface="Calibri" pitchFamily="34" charset="-120"/>
              </a:rPr>
              <a:t>sf CLI for retrieve and</a:t>
            </a:r>
            <a:endParaRPr lang="en-US" sz="1000" dirty="0"/>
          </a:p>
          <a:p>
            <a:pPr indent="0" marL="0">
              <a:lnSpc>
                <a:spcPts val="1300"/>
              </a:lnSpc>
              <a:buNone/>
            </a:pPr>
            <a:r>
              <a:rPr lang="en-US" sz="1000" dirty="0">
                <a:solidFill>
                  <a:srgbClr val="6B7686"/>
                </a:solidFill>
                <a:latin typeface="Calibri" pitchFamily="34" charset="0"/>
                <a:ea typeface="Calibri" pitchFamily="34" charset="-122"/>
                <a:cs typeface="Calibri" pitchFamily="34" charset="-120"/>
              </a:rPr>
              <a:t>validate-only deploy</a:t>
            </a:r>
            <a:endParaRPr lang="en-US" sz="1000" dirty="0"/>
          </a:p>
          <a:p>
            <a:pPr indent="0" marL="0">
              <a:lnSpc>
                <a:spcPts val="1300"/>
              </a:lnSpc>
              <a:buNone/>
            </a:pPr>
            <a:endParaRPr lang="en-US" sz="1000" dirty="0"/>
          </a:p>
          <a:p>
            <a:pPr indent="0" marL="0">
              <a:lnSpc>
                <a:spcPts val="1300"/>
              </a:lnSpc>
              <a:buNone/>
            </a:pPr>
            <a:r>
              <a:rPr lang="en-US" sz="1000" dirty="0">
                <a:solidFill>
                  <a:srgbClr val="6B7686"/>
                </a:solidFill>
                <a:latin typeface="Calibri" pitchFamily="34" charset="0"/>
                <a:ea typeface="Calibri" pitchFamily="34" charset="-122"/>
                <a:cs typeface="Calibri" pitchFamily="34" charset="-120"/>
              </a:rPr>
              <a:t>Read once per run, under a</a:t>
            </a:r>
            <a:endParaRPr lang="en-US" sz="1000" dirty="0"/>
          </a:p>
          <a:p>
            <a:pPr indent="0" marL="0">
              <a:lnSpc>
                <a:spcPts val="1300"/>
              </a:lnSpc>
              <a:buNone/>
            </a:pPr>
            <a:r>
              <a:rPr lang="en-US" sz="1000" dirty="0">
                <a:solidFill>
                  <a:srgbClr val="6B7686"/>
                </a:solidFill>
                <a:latin typeface="Calibri" pitchFamily="34" charset="0"/>
                <a:ea typeface="Calibri" pitchFamily="34" charset="-122"/>
                <a:cs typeface="Calibri" pitchFamily="34" charset="-120"/>
              </a:rPr>
              <a:t>governed API budget</a:t>
            </a:r>
            <a:endParaRPr lang="en-US" sz="1000" dirty="0"/>
          </a:p>
        </p:txBody>
      </p:sp>
      <p:sp>
        <p:nvSpPr>
          <p:cNvPr id="39" name="Shape 37"/>
          <p:cNvSpPr/>
          <p:nvPr/>
        </p:nvSpPr>
        <p:spPr>
          <a:xfrm>
            <a:off x="8833104" y="3986784"/>
            <a:ext cx="2788920" cy="1316736"/>
          </a:xfrm>
          <a:prstGeom prst="roundRect">
            <a:avLst>
              <a:gd name="adj" fmla="val 4167"/>
            </a:avLst>
          </a:prstGeom>
          <a:solidFill>
            <a:srgbClr val="F6F8FB"/>
          </a:solidFill>
          <a:ln w="12700">
            <a:solidFill>
              <a:srgbClr val="DDE4EC"/>
            </a:solidFill>
            <a:prstDash val="solid"/>
          </a:ln>
        </p:spPr>
      </p:sp>
      <p:sp>
        <p:nvSpPr>
          <p:cNvPr id="40" name="Shape 38"/>
          <p:cNvSpPr/>
          <p:nvPr/>
        </p:nvSpPr>
        <p:spPr>
          <a:xfrm>
            <a:off x="9089136" y="4206240"/>
            <a:ext cx="173736" cy="173736"/>
          </a:xfrm>
          <a:prstGeom prst="ellipse">
            <a:avLst/>
          </a:prstGeom>
          <a:solidFill>
            <a:srgbClr val="9B84F7"/>
          </a:solidFill>
          <a:ln/>
        </p:spPr>
      </p:sp>
      <p:sp>
        <p:nvSpPr>
          <p:cNvPr id="41" name="Text 39"/>
          <p:cNvSpPr/>
          <p:nvPr/>
        </p:nvSpPr>
        <p:spPr>
          <a:xfrm>
            <a:off x="9381744" y="4133088"/>
            <a:ext cx="2194560" cy="274320"/>
          </a:xfrm>
          <a:prstGeom prst="rect">
            <a:avLst/>
          </a:prstGeom>
          <a:noFill/>
          <a:ln/>
        </p:spPr>
        <p:txBody>
          <a:bodyPr wrap="square" lIns="0" tIns="0" rIns="0" bIns="0" rtlCol="0" anchor="ctr"/>
          <a:lstStyle/>
          <a:p>
            <a:pPr indent="0" marL="0">
              <a:buNone/>
            </a:pPr>
            <a:r>
              <a:rPr lang="en-US" sz="1300" b="1" dirty="0">
                <a:solidFill>
                  <a:srgbClr val="0F1620"/>
                </a:solidFill>
                <a:latin typeface="Arial" pitchFamily="34" charset="0"/>
                <a:ea typeface="Arial" pitchFamily="34" charset="-122"/>
                <a:cs typeface="Arial" pitchFamily="34" charset="-120"/>
              </a:rPr>
              <a:t>LLM gateway</a:t>
            </a:r>
            <a:endParaRPr lang="en-US" sz="1300" dirty="0"/>
          </a:p>
        </p:txBody>
      </p:sp>
      <p:sp>
        <p:nvSpPr>
          <p:cNvPr id="42" name="Text 40"/>
          <p:cNvSpPr/>
          <p:nvPr/>
        </p:nvSpPr>
        <p:spPr>
          <a:xfrm>
            <a:off x="9089136" y="4462272"/>
            <a:ext cx="2377440" cy="768096"/>
          </a:xfrm>
          <a:prstGeom prst="rect">
            <a:avLst/>
          </a:prstGeom>
          <a:noFill/>
          <a:ln/>
        </p:spPr>
        <p:txBody>
          <a:bodyPr wrap="square" lIns="0" tIns="0" rIns="0" bIns="0" rtlCol="0" anchor="ctr"/>
          <a:lstStyle/>
          <a:p>
            <a:pPr indent="0" marL="0">
              <a:lnSpc>
                <a:spcPts val="1300"/>
              </a:lnSpc>
              <a:buNone/>
            </a:pPr>
            <a:r>
              <a:rPr lang="en-US" sz="1000" dirty="0">
                <a:solidFill>
                  <a:srgbClr val="6B7686"/>
                </a:solidFill>
                <a:latin typeface="Calibri" pitchFamily="34" charset="0"/>
                <a:ea typeface="Calibri" pitchFamily="34" charset="-122"/>
                <a:cs typeface="Calibri" pitchFamily="34" charset="-120"/>
              </a:rPr>
              <a:t>Provider-agnostic.</a:t>
            </a:r>
            <a:endParaRPr lang="en-US" sz="1000" dirty="0"/>
          </a:p>
          <a:p>
            <a:pPr indent="0" marL="0">
              <a:lnSpc>
                <a:spcPts val="1300"/>
              </a:lnSpc>
              <a:buNone/>
            </a:pPr>
            <a:r>
              <a:rPr lang="en-US" sz="1000" dirty="0">
                <a:solidFill>
                  <a:srgbClr val="6B7686"/>
                </a:solidFill>
                <a:latin typeface="Calibri" pitchFamily="34" charset="0"/>
                <a:ea typeface="Calibri" pitchFamily="34" charset="-122"/>
                <a:cs typeface="Calibri" pitchFamily="34" charset="-120"/>
              </a:rPr>
              <a:t>Sees only what survived the</a:t>
            </a:r>
            <a:endParaRPr lang="en-US" sz="1000" dirty="0"/>
          </a:p>
          <a:p>
            <a:pPr indent="0" marL="0">
              <a:lnSpc>
                <a:spcPts val="1300"/>
              </a:lnSpc>
              <a:buNone/>
            </a:pPr>
            <a:r>
              <a:rPr lang="en-US" sz="1000" dirty="0">
                <a:solidFill>
                  <a:srgbClr val="6B7686"/>
                </a:solidFill>
                <a:latin typeface="Calibri" pitchFamily="34" charset="0"/>
                <a:ea typeface="Calibri" pitchFamily="34" charset="-122"/>
                <a:cs typeface="Calibri" pitchFamily="34" charset="-120"/>
              </a:rPr>
              <a:t>deterministic filter — never</a:t>
            </a:r>
            <a:endParaRPr lang="en-US" sz="1000" dirty="0"/>
          </a:p>
          <a:p>
            <a:pPr indent="0" marL="0">
              <a:lnSpc>
                <a:spcPts val="1300"/>
              </a:lnSpc>
              <a:buNone/>
            </a:pPr>
            <a:r>
              <a:rPr lang="en-US" sz="1000" dirty="0">
                <a:solidFill>
                  <a:srgbClr val="6B7686"/>
                </a:solidFill>
                <a:latin typeface="Calibri" pitchFamily="34" charset="0"/>
                <a:ea typeface="Calibri" pitchFamily="34" charset="-122"/>
                <a:cs typeface="Calibri" pitchFamily="34" charset="-120"/>
              </a:rPr>
              <a:t>the whole org</a:t>
            </a:r>
            <a:endParaRPr lang="en-US" sz="1000" dirty="0"/>
          </a:p>
        </p:txBody>
      </p:sp>
      <p:sp>
        <p:nvSpPr>
          <p:cNvPr id="43" name="Shape 41"/>
          <p:cNvSpPr/>
          <p:nvPr/>
        </p:nvSpPr>
        <p:spPr>
          <a:xfrm>
            <a:off x="8833104" y="5394960"/>
            <a:ext cx="2788920" cy="914400"/>
          </a:xfrm>
          <a:prstGeom prst="roundRect">
            <a:avLst>
              <a:gd name="adj" fmla="val 6000"/>
            </a:avLst>
          </a:prstGeom>
          <a:solidFill>
            <a:srgbClr val="F6F8FB"/>
          </a:solidFill>
          <a:ln w="12700">
            <a:solidFill>
              <a:srgbClr val="DDE4EC"/>
            </a:solidFill>
            <a:prstDash val="solid"/>
          </a:ln>
        </p:spPr>
      </p:sp>
      <p:sp>
        <p:nvSpPr>
          <p:cNvPr id="44" name="Shape 42"/>
          <p:cNvSpPr/>
          <p:nvPr/>
        </p:nvSpPr>
        <p:spPr>
          <a:xfrm>
            <a:off x="9089136" y="5614416"/>
            <a:ext cx="173736" cy="173736"/>
          </a:xfrm>
          <a:prstGeom prst="ellipse">
            <a:avLst/>
          </a:prstGeom>
          <a:solidFill>
            <a:srgbClr val="3FBF92"/>
          </a:solidFill>
          <a:ln/>
        </p:spPr>
      </p:sp>
      <p:sp>
        <p:nvSpPr>
          <p:cNvPr id="45" name="Text 43"/>
          <p:cNvSpPr/>
          <p:nvPr/>
        </p:nvSpPr>
        <p:spPr>
          <a:xfrm>
            <a:off x="9381744" y="5541264"/>
            <a:ext cx="2194560" cy="274320"/>
          </a:xfrm>
          <a:prstGeom prst="rect">
            <a:avLst/>
          </a:prstGeom>
          <a:noFill/>
          <a:ln/>
        </p:spPr>
        <p:txBody>
          <a:bodyPr wrap="square" lIns="0" tIns="0" rIns="0" bIns="0" rtlCol="0" anchor="ctr"/>
          <a:lstStyle/>
          <a:p>
            <a:pPr indent="0" marL="0">
              <a:buNone/>
            </a:pPr>
            <a:r>
              <a:rPr lang="en-US" sz="1300" b="1" dirty="0">
                <a:solidFill>
                  <a:srgbClr val="0F1620"/>
                </a:solidFill>
                <a:latin typeface="Arial" pitchFamily="34" charset="0"/>
                <a:ea typeface="Arial" pitchFamily="34" charset="-122"/>
                <a:cs typeface="Arial" pitchFamily="34" charset="-120"/>
              </a:rPr>
              <a:t>Git &amp; pull request</a:t>
            </a:r>
            <a:endParaRPr lang="en-US" sz="1300" dirty="0"/>
          </a:p>
        </p:txBody>
      </p:sp>
      <p:sp>
        <p:nvSpPr>
          <p:cNvPr id="46" name="Text 44"/>
          <p:cNvSpPr/>
          <p:nvPr/>
        </p:nvSpPr>
        <p:spPr>
          <a:xfrm>
            <a:off x="9089136" y="5870448"/>
            <a:ext cx="2377440" cy="365760"/>
          </a:xfrm>
          <a:prstGeom prst="rect">
            <a:avLst/>
          </a:prstGeom>
          <a:noFill/>
          <a:ln/>
        </p:spPr>
        <p:txBody>
          <a:bodyPr wrap="square" lIns="0" tIns="0" rIns="0" bIns="0" rtlCol="0" anchor="ctr"/>
          <a:lstStyle/>
          <a:p>
            <a:pPr indent="0" marL="0">
              <a:lnSpc>
                <a:spcPts val="1300"/>
              </a:lnSpc>
              <a:buNone/>
            </a:pPr>
            <a:r>
              <a:rPr lang="en-US" sz="1000" dirty="0">
                <a:solidFill>
                  <a:srgbClr val="6B7686"/>
                </a:solidFill>
                <a:latin typeface="Calibri" pitchFamily="34" charset="0"/>
                <a:ea typeface="Calibri" pitchFamily="34" charset="-122"/>
                <a:cs typeface="Calibri" pitchFamily="34" charset="-120"/>
              </a:rPr>
              <a:t>Where the removal agent</a:t>
            </a:r>
            <a:endParaRPr lang="en-US" sz="1000" dirty="0"/>
          </a:p>
          <a:p>
            <a:pPr indent="0" marL="0">
              <a:lnSpc>
                <a:spcPts val="1300"/>
              </a:lnSpc>
              <a:buNone/>
            </a:pPr>
            <a:r>
              <a:rPr lang="en-US" sz="1000" dirty="0">
                <a:solidFill>
                  <a:srgbClr val="6B7686"/>
                </a:solidFill>
                <a:latin typeface="Calibri" pitchFamily="34" charset="0"/>
                <a:ea typeface="Calibri" pitchFamily="34" charset="-122"/>
                <a:cs typeface="Calibri" pitchFamily="34" charset="-120"/>
              </a:rPr>
              <a:t>lands its change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11411712" y="6455664"/>
            <a:ext cx="365760" cy="274320"/>
          </a:xfrm>
          <a:prstGeom prst="rect">
            <a:avLst/>
          </a:prstGeom>
          <a:noFill/>
          <a:ln/>
        </p:spPr>
        <p:txBody>
          <a:bodyPr wrap="square" lIns="0" tIns="0" rIns="0" bIns="0" rtlCol="0" anchor="ctr"/>
          <a:lstStyle/>
          <a:p>
            <a:pPr algn="r" indent="0" marL="0">
              <a:buNone/>
            </a:pPr>
            <a:r>
              <a:rPr lang="en-US" sz="1000" dirty="0">
                <a:solidFill>
                  <a:srgbClr val="76849A"/>
                </a:solidFill>
                <a:latin typeface="Calibri" pitchFamily="34" charset="0"/>
                <a:ea typeface="Calibri" pitchFamily="34" charset="-122"/>
                <a:cs typeface="Calibri" pitchFamily="34" charset="-120"/>
              </a:rPr>
              <a:t>9</a:t>
            </a:r>
            <a:endParaRPr lang="en-US" sz="1000" dirty="0"/>
          </a:p>
        </p:txBody>
      </p:sp>
      <p:sp>
        <p:nvSpPr>
          <p:cNvPr id="3" name="Text 1"/>
          <p:cNvSpPr/>
          <p:nvPr/>
        </p:nvSpPr>
        <p:spPr>
          <a:xfrm>
            <a:off x="566928" y="402336"/>
            <a:ext cx="11055096" cy="713232"/>
          </a:xfrm>
          <a:prstGeom prst="rect">
            <a:avLst/>
          </a:prstGeom>
          <a:noFill/>
          <a:ln/>
        </p:spPr>
        <p:txBody>
          <a:bodyPr wrap="square" lIns="0" tIns="0" rIns="0" bIns="0" rtlCol="0" anchor="ctr"/>
          <a:lstStyle/>
          <a:p>
            <a:pPr indent="0" marL="0">
              <a:buNone/>
            </a:pPr>
            <a:r>
              <a:rPr lang="en-US" sz="3400" b="1" dirty="0">
                <a:solidFill>
                  <a:srgbClr val="F2F5F8"/>
                </a:solidFill>
                <a:latin typeface="Arial" pitchFamily="34" charset="0"/>
                <a:ea typeface="Arial" pitchFamily="34" charset="-122"/>
                <a:cs typeface="Arial" pitchFamily="34" charset="-120"/>
              </a:rPr>
              <a:t>How the pieces connect</a:t>
            </a:r>
            <a:endParaRPr lang="en-US" sz="3400" dirty="0"/>
          </a:p>
        </p:txBody>
      </p:sp>
      <p:sp>
        <p:nvSpPr>
          <p:cNvPr id="4" name="Text 2"/>
          <p:cNvSpPr/>
          <p:nvPr/>
        </p:nvSpPr>
        <p:spPr>
          <a:xfrm>
            <a:off x="566928" y="1115568"/>
            <a:ext cx="11055096" cy="402336"/>
          </a:xfrm>
          <a:prstGeom prst="rect">
            <a:avLst/>
          </a:prstGeom>
          <a:noFill/>
          <a:ln/>
        </p:spPr>
        <p:txBody>
          <a:bodyPr wrap="square" lIns="0" tIns="0" rIns="0" bIns="0" rtlCol="0" anchor="ctr"/>
          <a:lstStyle/>
          <a:p>
            <a:pPr indent="0" marL="0">
              <a:buNone/>
            </a:pPr>
            <a:r>
              <a:rPr lang="en-US" sz="1450" dirty="0">
                <a:solidFill>
                  <a:srgbClr val="A8B4C4"/>
                </a:solidFill>
                <a:latin typeface="Calibri" pitchFamily="34" charset="0"/>
                <a:ea typeface="Calibri" pitchFamily="34" charset="-122"/>
                <a:cs typeface="Calibri" pitchFamily="34" charset="-120"/>
              </a:rPr>
              <a:t>One flow down the left, three systems it reaches out to on the right.</a:t>
            </a:r>
            <a:endParaRPr lang="en-US" sz="1450" dirty="0"/>
          </a:p>
        </p:txBody>
      </p:sp>
      <p:sp>
        <p:nvSpPr>
          <p:cNvPr id="5" name="Shape 3"/>
          <p:cNvSpPr/>
          <p:nvPr/>
        </p:nvSpPr>
        <p:spPr>
          <a:xfrm>
            <a:off x="502920" y="1755648"/>
            <a:ext cx="7315200" cy="804672"/>
          </a:xfrm>
          <a:prstGeom prst="roundRect">
            <a:avLst>
              <a:gd name="adj" fmla="val 5682"/>
            </a:avLst>
          </a:prstGeom>
          <a:solidFill>
            <a:srgbClr val="1A2430"/>
          </a:solidFill>
          <a:ln w="19050">
            <a:solidFill>
              <a:srgbClr val="29B6D8"/>
            </a:solidFill>
            <a:prstDash val="solid"/>
          </a:ln>
        </p:spPr>
      </p:sp>
      <p:sp>
        <p:nvSpPr>
          <p:cNvPr id="6" name="Text 4"/>
          <p:cNvSpPr/>
          <p:nvPr/>
        </p:nvSpPr>
        <p:spPr>
          <a:xfrm>
            <a:off x="758952" y="1874520"/>
            <a:ext cx="6803136" cy="292608"/>
          </a:xfrm>
          <a:prstGeom prst="rect">
            <a:avLst/>
          </a:prstGeom>
          <a:noFill/>
          <a:ln/>
        </p:spPr>
        <p:txBody>
          <a:bodyPr wrap="square" lIns="0" tIns="0" rIns="0" bIns="0" rtlCol="0" anchor="ctr"/>
          <a:lstStyle/>
          <a:p>
            <a:pPr indent="0" marL="0">
              <a:buNone/>
            </a:pPr>
            <a:r>
              <a:rPr lang="en-US" sz="1500" b="1" dirty="0">
                <a:solidFill>
                  <a:srgbClr val="F2F5F8"/>
                </a:solidFill>
                <a:latin typeface="Arial" pitchFamily="34" charset="0"/>
                <a:ea typeface="Arial" pitchFamily="34" charset="-122"/>
                <a:cs typeface="Arial" pitchFamily="34" charset="-120"/>
              </a:rPr>
              <a:t>React SPA</a:t>
            </a:r>
            <a:endParaRPr lang="en-US" sz="1500" dirty="0"/>
          </a:p>
        </p:txBody>
      </p:sp>
      <p:sp>
        <p:nvSpPr>
          <p:cNvPr id="7" name="Text 5"/>
          <p:cNvSpPr/>
          <p:nvPr/>
        </p:nvSpPr>
        <p:spPr>
          <a:xfrm>
            <a:off x="758952" y="2185416"/>
            <a:ext cx="6803136" cy="274320"/>
          </a:xfrm>
          <a:prstGeom prst="rect">
            <a:avLst/>
          </a:prstGeom>
          <a:noFill/>
          <a:ln/>
        </p:spPr>
        <p:txBody>
          <a:bodyPr wrap="square" lIns="0" tIns="0" rIns="0" bIns="0" rtlCol="0" anchor="ctr"/>
          <a:lstStyle/>
          <a:p>
            <a:pPr indent="0" marL="0">
              <a:lnSpc>
                <a:spcPts val="1400"/>
              </a:lnSpc>
              <a:buNone/>
            </a:pPr>
            <a:r>
              <a:rPr lang="en-US" sz="1050" dirty="0">
                <a:solidFill>
                  <a:srgbClr val="A8B4C4"/>
                </a:solidFill>
                <a:latin typeface="Calibri" pitchFamily="34" charset="0"/>
                <a:ea typeface="Calibri" pitchFamily="34" charset="-122"/>
                <a:cs typeface="Calibri" pitchFamily="34" charset="-120"/>
              </a:rPr>
              <a:t>Dashboard, live pipeline console, dependency graph, review queue</a:t>
            </a:r>
            <a:endParaRPr lang="en-US" sz="1050" dirty="0"/>
          </a:p>
        </p:txBody>
      </p:sp>
      <p:sp>
        <p:nvSpPr>
          <p:cNvPr id="8" name="Shape 6"/>
          <p:cNvSpPr/>
          <p:nvPr/>
        </p:nvSpPr>
        <p:spPr>
          <a:xfrm>
            <a:off x="502920" y="2761488"/>
            <a:ext cx="7315200" cy="804672"/>
          </a:xfrm>
          <a:prstGeom prst="roundRect">
            <a:avLst>
              <a:gd name="adj" fmla="val 5682"/>
            </a:avLst>
          </a:prstGeom>
          <a:solidFill>
            <a:srgbClr val="1A2430"/>
          </a:solidFill>
          <a:ln w="19050">
            <a:solidFill>
              <a:srgbClr val="29B6D8"/>
            </a:solidFill>
            <a:prstDash val="solid"/>
          </a:ln>
        </p:spPr>
      </p:sp>
      <p:sp>
        <p:nvSpPr>
          <p:cNvPr id="9" name="Text 7"/>
          <p:cNvSpPr/>
          <p:nvPr/>
        </p:nvSpPr>
        <p:spPr>
          <a:xfrm>
            <a:off x="758952" y="2880360"/>
            <a:ext cx="6803136" cy="292608"/>
          </a:xfrm>
          <a:prstGeom prst="rect">
            <a:avLst/>
          </a:prstGeom>
          <a:noFill/>
          <a:ln/>
        </p:spPr>
        <p:txBody>
          <a:bodyPr wrap="square" lIns="0" tIns="0" rIns="0" bIns="0" rtlCol="0" anchor="ctr"/>
          <a:lstStyle/>
          <a:p>
            <a:pPr indent="0" marL="0">
              <a:buNone/>
            </a:pPr>
            <a:r>
              <a:rPr lang="en-US" sz="1500" b="1" dirty="0">
                <a:solidFill>
                  <a:srgbClr val="F2F5F8"/>
                </a:solidFill>
                <a:latin typeface="Arial" pitchFamily="34" charset="0"/>
                <a:ea typeface="Arial" pitchFamily="34" charset="-122"/>
                <a:cs typeface="Arial" pitchFamily="34" charset="-120"/>
              </a:rPr>
              <a:t>FastAPI</a:t>
            </a:r>
            <a:endParaRPr lang="en-US" sz="1500" dirty="0"/>
          </a:p>
        </p:txBody>
      </p:sp>
      <p:sp>
        <p:nvSpPr>
          <p:cNvPr id="10" name="Text 8"/>
          <p:cNvSpPr/>
          <p:nvPr/>
        </p:nvSpPr>
        <p:spPr>
          <a:xfrm>
            <a:off x="758952" y="3191256"/>
            <a:ext cx="6803136" cy="274320"/>
          </a:xfrm>
          <a:prstGeom prst="rect">
            <a:avLst/>
          </a:prstGeom>
          <a:noFill/>
          <a:ln/>
        </p:spPr>
        <p:txBody>
          <a:bodyPr wrap="square" lIns="0" tIns="0" rIns="0" bIns="0" rtlCol="0" anchor="ctr"/>
          <a:lstStyle/>
          <a:p>
            <a:pPr indent="0" marL="0">
              <a:lnSpc>
                <a:spcPts val="1400"/>
              </a:lnSpc>
              <a:buNone/>
            </a:pPr>
            <a:r>
              <a:rPr lang="en-US" sz="1050" dirty="0">
                <a:solidFill>
                  <a:srgbClr val="A8B4C4"/>
                </a:solidFill>
                <a:latin typeface="Calibri" pitchFamily="34" charset="0"/>
                <a:ea typeface="Calibri" pitchFamily="34" charset="-122"/>
                <a:cs typeface="Calibri" pitchFamily="34" charset="-120"/>
              </a:rPr>
              <a:t>REST endpoints, plus an SSE stream that survives a page reload</a:t>
            </a:r>
            <a:endParaRPr lang="en-US" sz="1050" dirty="0"/>
          </a:p>
        </p:txBody>
      </p:sp>
      <p:sp>
        <p:nvSpPr>
          <p:cNvPr id="11" name="Shape 9"/>
          <p:cNvSpPr/>
          <p:nvPr/>
        </p:nvSpPr>
        <p:spPr>
          <a:xfrm>
            <a:off x="502920" y="3767328"/>
            <a:ext cx="7315200" cy="804672"/>
          </a:xfrm>
          <a:prstGeom prst="roundRect">
            <a:avLst>
              <a:gd name="adj" fmla="val 5682"/>
            </a:avLst>
          </a:prstGeom>
          <a:solidFill>
            <a:srgbClr val="1A2430"/>
          </a:solidFill>
          <a:ln w="19050">
            <a:solidFill>
              <a:srgbClr val="F0A030"/>
            </a:solidFill>
            <a:prstDash val="solid"/>
          </a:ln>
        </p:spPr>
      </p:sp>
      <p:sp>
        <p:nvSpPr>
          <p:cNvPr id="12" name="Text 10"/>
          <p:cNvSpPr/>
          <p:nvPr/>
        </p:nvSpPr>
        <p:spPr>
          <a:xfrm>
            <a:off x="758952" y="3886200"/>
            <a:ext cx="6803136" cy="292608"/>
          </a:xfrm>
          <a:prstGeom prst="rect">
            <a:avLst/>
          </a:prstGeom>
          <a:noFill/>
          <a:ln/>
        </p:spPr>
        <p:txBody>
          <a:bodyPr wrap="square" lIns="0" tIns="0" rIns="0" bIns="0" rtlCol="0" anchor="ctr"/>
          <a:lstStyle/>
          <a:p>
            <a:pPr indent="0" marL="0">
              <a:buNone/>
            </a:pPr>
            <a:r>
              <a:rPr lang="en-US" sz="1500" b="1" dirty="0">
                <a:solidFill>
                  <a:srgbClr val="F2F5F8"/>
                </a:solidFill>
                <a:latin typeface="Arial" pitchFamily="34" charset="0"/>
                <a:ea typeface="Arial" pitchFamily="34" charset="-122"/>
                <a:cs typeface="Arial" pitchFamily="34" charset="-120"/>
              </a:rPr>
              <a:t>Orchestrator</a:t>
            </a:r>
            <a:endParaRPr lang="en-US" sz="1500" dirty="0"/>
          </a:p>
        </p:txBody>
      </p:sp>
      <p:sp>
        <p:nvSpPr>
          <p:cNvPr id="13" name="Text 11"/>
          <p:cNvSpPr/>
          <p:nvPr/>
        </p:nvSpPr>
        <p:spPr>
          <a:xfrm>
            <a:off x="758952" y="4197096"/>
            <a:ext cx="6803136" cy="274320"/>
          </a:xfrm>
          <a:prstGeom prst="rect">
            <a:avLst/>
          </a:prstGeom>
          <a:noFill/>
          <a:ln/>
        </p:spPr>
        <p:txBody>
          <a:bodyPr wrap="square" lIns="0" tIns="0" rIns="0" bIns="0" rtlCol="0" anchor="ctr"/>
          <a:lstStyle/>
          <a:p>
            <a:pPr indent="0" marL="0">
              <a:lnSpc>
                <a:spcPts val="1400"/>
              </a:lnSpc>
              <a:buNone/>
            </a:pPr>
            <a:r>
              <a:rPr lang="en-US" sz="1050" dirty="0">
                <a:solidFill>
                  <a:srgbClr val="A8B4C4"/>
                </a:solidFill>
                <a:latin typeface="Calibri" pitchFamily="34" charset="0"/>
                <a:ea typeface="Calibri" pitchFamily="34" charset="-122"/>
                <a:cs typeface="Calibri" pitchFamily="34" charset="-120"/>
              </a:rPr>
              <a:t>Ten stages, each one recording its own state as it finishes</a:t>
            </a:r>
            <a:endParaRPr lang="en-US" sz="1050" dirty="0"/>
          </a:p>
        </p:txBody>
      </p:sp>
      <p:sp>
        <p:nvSpPr>
          <p:cNvPr id="14" name="Shape 12"/>
          <p:cNvSpPr/>
          <p:nvPr/>
        </p:nvSpPr>
        <p:spPr>
          <a:xfrm>
            <a:off x="502920" y="4773168"/>
            <a:ext cx="7315200" cy="804672"/>
          </a:xfrm>
          <a:prstGeom prst="roundRect">
            <a:avLst>
              <a:gd name="adj" fmla="val 5682"/>
            </a:avLst>
          </a:prstGeom>
          <a:solidFill>
            <a:srgbClr val="1A2430"/>
          </a:solidFill>
          <a:ln w="19050">
            <a:solidFill>
              <a:srgbClr val="F0A030"/>
            </a:solidFill>
            <a:prstDash val="solid"/>
          </a:ln>
        </p:spPr>
      </p:sp>
      <p:sp>
        <p:nvSpPr>
          <p:cNvPr id="15" name="Text 13"/>
          <p:cNvSpPr/>
          <p:nvPr/>
        </p:nvSpPr>
        <p:spPr>
          <a:xfrm>
            <a:off x="758952" y="4892040"/>
            <a:ext cx="6803136" cy="292608"/>
          </a:xfrm>
          <a:prstGeom prst="rect">
            <a:avLst/>
          </a:prstGeom>
          <a:noFill/>
          <a:ln/>
        </p:spPr>
        <p:txBody>
          <a:bodyPr wrap="square" lIns="0" tIns="0" rIns="0" bIns="0" rtlCol="0" anchor="ctr"/>
          <a:lstStyle/>
          <a:p>
            <a:pPr indent="0" marL="0">
              <a:buNone/>
            </a:pPr>
            <a:r>
              <a:rPr lang="en-US" sz="1500" b="1" dirty="0">
                <a:solidFill>
                  <a:srgbClr val="F2F5F8"/>
                </a:solidFill>
                <a:latin typeface="Arial" pitchFamily="34" charset="0"/>
                <a:ea typeface="Arial" pitchFamily="34" charset="-122"/>
                <a:cs typeface="Arial" pitchFamily="34" charset="-120"/>
              </a:rPr>
              <a:t>Analysis pipeline</a:t>
            </a:r>
            <a:endParaRPr lang="en-US" sz="1500" dirty="0"/>
          </a:p>
        </p:txBody>
      </p:sp>
      <p:sp>
        <p:nvSpPr>
          <p:cNvPr id="16" name="Text 14"/>
          <p:cNvSpPr/>
          <p:nvPr/>
        </p:nvSpPr>
        <p:spPr>
          <a:xfrm>
            <a:off x="758952" y="5202936"/>
            <a:ext cx="6803136" cy="274320"/>
          </a:xfrm>
          <a:prstGeom prst="rect">
            <a:avLst/>
          </a:prstGeom>
          <a:noFill/>
          <a:ln/>
        </p:spPr>
        <p:txBody>
          <a:bodyPr wrap="square" lIns="0" tIns="0" rIns="0" bIns="0" rtlCol="0" anchor="ctr"/>
          <a:lstStyle/>
          <a:p>
            <a:pPr indent="0" marL="0">
              <a:lnSpc>
                <a:spcPts val="1400"/>
              </a:lnSpc>
              <a:buNone/>
            </a:pPr>
            <a:r>
              <a:rPr lang="en-US" sz="1050" dirty="0">
                <a:solidFill>
                  <a:srgbClr val="A8B4C4"/>
                </a:solidFill>
                <a:latin typeface="Calibri" pitchFamily="34" charset="0"/>
                <a:ea typeface="Calibri" pitchFamily="34" charset="-122"/>
                <a:cs typeface="Calibri" pitchFamily="34" charset="-120"/>
              </a:rPr>
              <a:t>Inventory, retrieve, index, nine collectors, graph, classify, narrate, report</a:t>
            </a:r>
            <a:endParaRPr lang="en-US" sz="1050" dirty="0"/>
          </a:p>
        </p:txBody>
      </p:sp>
      <p:sp>
        <p:nvSpPr>
          <p:cNvPr id="17" name="Shape 15"/>
          <p:cNvSpPr/>
          <p:nvPr/>
        </p:nvSpPr>
        <p:spPr>
          <a:xfrm>
            <a:off x="502920" y="5779008"/>
            <a:ext cx="7315200" cy="685800"/>
          </a:xfrm>
          <a:prstGeom prst="roundRect">
            <a:avLst>
              <a:gd name="adj" fmla="val 6667"/>
            </a:avLst>
          </a:prstGeom>
          <a:solidFill>
            <a:srgbClr val="1A2430"/>
          </a:solidFill>
          <a:ln w="19050">
            <a:solidFill>
              <a:srgbClr val="9B84F7"/>
            </a:solidFill>
            <a:prstDash val="solid"/>
          </a:ln>
        </p:spPr>
      </p:sp>
      <p:sp>
        <p:nvSpPr>
          <p:cNvPr id="18" name="Text 16"/>
          <p:cNvSpPr/>
          <p:nvPr/>
        </p:nvSpPr>
        <p:spPr>
          <a:xfrm>
            <a:off x="758952" y="5897880"/>
            <a:ext cx="6803136" cy="292608"/>
          </a:xfrm>
          <a:prstGeom prst="rect">
            <a:avLst/>
          </a:prstGeom>
          <a:noFill/>
          <a:ln/>
        </p:spPr>
        <p:txBody>
          <a:bodyPr wrap="square" lIns="0" tIns="0" rIns="0" bIns="0" rtlCol="0" anchor="ctr"/>
          <a:lstStyle/>
          <a:p>
            <a:pPr indent="0" marL="0">
              <a:buNone/>
            </a:pPr>
            <a:r>
              <a:rPr lang="en-US" sz="1500" b="1" dirty="0">
                <a:solidFill>
                  <a:srgbClr val="F2F5F8"/>
                </a:solidFill>
                <a:latin typeface="Arial" pitchFamily="34" charset="0"/>
                <a:ea typeface="Arial" pitchFamily="34" charset="-122"/>
                <a:cs typeface="Arial" pitchFamily="34" charset="-120"/>
              </a:rPr>
              <a:t>Postgres 16  ·  Redis  ·  metadata workspace</a:t>
            </a:r>
            <a:endParaRPr lang="en-US" sz="1500" dirty="0"/>
          </a:p>
        </p:txBody>
      </p:sp>
      <p:sp>
        <p:nvSpPr>
          <p:cNvPr id="19" name="Text 17"/>
          <p:cNvSpPr/>
          <p:nvPr/>
        </p:nvSpPr>
        <p:spPr>
          <a:xfrm>
            <a:off x="758952" y="6208776"/>
            <a:ext cx="6803136" cy="155448"/>
          </a:xfrm>
          <a:prstGeom prst="rect">
            <a:avLst/>
          </a:prstGeom>
          <a:noFill/>
          <a:ln/>
        </p:spPr>
        <p:txBody>
          <a:bodyPr wrap="square" lIns="0" tIns="0" rIns="0" bIns="0" rtlCol="0" anchor="ctr"/>
          <a:lstStyle/>
          <a:p>
            <a:pPr indent="0" marL="0">
              <a:lnSpc>
                <a:spcPts val="1400"/>
              </a:lnSpc>
              <a:buNone/>
            </a:pPr>
            <a:r>
              <a:rPr lang="en-US" sz="1050" dirty="0">
                <a:solidFill>
                  <a:srgbClr val="A8B4C4"/>
                </a:solidFill>
                <a:latin typeface="Calibri" pitchFamily="34" charset="0"/>
                <a:ea typeface="Calibri" pitchFamily="34" charset="-122"/>
                <a:cs typeface="Calibri" pitchFamily="34" charset="-120"/>
              </a:rPr>
              <a:t>Every run, every piece of evidence, and every gap in coverage</a:t>
            </a:r>
            <a:endParaRPr lang="en-US" sz="1050" dirty="0"/>
          </a:p>
        </p:txBody>
      </p:sp>
      <p:sp>
        <p:nvSpPr>
          <p:cNvPr id="20" name="Shape 18"/>
          <p:cNvSpPr/>
          <p:nvPr/>
        </p:nvSpPr>
        <p:spPr>
          <a:xfrm>
            <a:off x="4160520" y="2560320"/>
            <a:ext cx="0" cy="201168"/>
          </a:xfrm>
          <a:prstGeom prst="line">
            <a:avLst/>
          </a:prstGeom>
          <a:noFill/>
          <a:ln w="19050">
            <a:solidFill>
              <a:srgbClr val="6B8095"/>
            </a:solidFill>
            <a:prstDash val="solid"/>
            <a:headEnd type="triangle"/>
            <a:tailEnd type="triangle"/>
          </a:ln>
        </p:spPr>
      </p:sp>
      <p:sp>
        <p:nvSpPr>
          <p:cNvPr id="21" name="Text 19"/>
          <p:cNvSpPr/>
          <p:nvPr/>
        </p:nvSpPr>
        <p:spPr>
          <a:xfrm>
            <a:off x="4361688" y="2542032"/>
            <a:ext cx="2743200" cy="219456"/>
          </a:xfrm>
          <a:prstGeom prst="rect">
            <a:avLst/>
          </a:prstGeom>
          <a:noFill/>
          <a:ln/>
        </p:spPr>
        <p:txBody>
          <a:bodyPr wrap="square" lIns="0" tIns="0" rIns="0" bIns="0" rtlCol="0" anchor="ctr"/>
          <a:lstStyle/>
          <a:p>
            <a:pPr indent="0" marL="0">
              <a:buNone/>
            </a:pPr>
            <a:r>
              <a:rPr lang="en-US" sz="850" dirty="0">
                <a:solidFill>
                  <a:srgbClr val="76849A"/>
                </a:solidFill>
                <a:latin typeface="Calibri" pitchFamily="34" charset="0"/>
                <a:ea typeface="Calibri" pitchFamily="34" charset="-122"/>
                <a:cs typeface="Calibri" pitchFamily="34" charset="-120"/>
              </a:rPr>
              <a:t>REST  ·  SSE</a:t>
            </a:r>
            <a:endParaRPr lang="en-US" sz="850" dirty="0"/>
          </a:p>
        </p:txBody>
      </p:sp>
      <p:sp>
        <p:nvSpPr>
          <p:cNvPr id="22" name="Shape 20"/>
          <p:cNvSpPr/>
          <p:nvPr/>
        </p:nvSpPr>
        <p:spPr>
          <a:xfrm>
            <a:off x="4160520" y="3566160"/>
            <a:ext cx="0" cy="201168"/>
          </a:xfrm>
          <a:prstGeom prst="line">
            <a:avLst/>
          </a:prstGeom>
          <a:noFill/>
          <a:ln w="19050">
            <a:solidFill>
              <a:srgbClr val="6B8095"/>
            </a:solidFill>
            <a:prstDash val="solid"/>
            <a:headEnd type="none"/>
            <a:tailEnd type="triangle"/>
          </a:ln>
        </p:spPr>
      </p:sp>
      <p:sp>
        <p:nvSpPr>
          <p:cNvPr id="23" name="Text 21"/>
          <p:cNvSpPr/>
          <p:nvPr/>
        </p:nvSpPr>
        <p:spPr>
          <a:xfrm>
            <a:off x="4361688" y="3547872"/>
            <a:ext cx="2743200" cy="219456"/>
          </a:xfrm>
          <a:prstGeom prst="rect">
            <a:avLst/>
          </a:prstGeom>
          <a:noFill/>
          <a:ln/>
        </p:spPr>
        <p:txBody>
          <a:bodyPr wrap="square" lIns="0" tIns="0" rIns="0" bIns="0" rtlCol="0" anchor="ctr"/>
          <a:lstStyle/>
          <a:p>
            <a:pPr indent="0" marL="0">
              <a:buNone/>
            </a:pPr>
            <a:r>
              <a:rPr lang="en-US" sz="850" dirty="0">
                <a:solidFill>
                  <a:srgbClr val="76849A"/>
                </a:solidFill>
                <a:latin typeface="Calibri" pitchFamily="34" charset="0"/>
                <a:ea typeface="Calibri" pitchFamily="34" charset="-122"/>
                <a:cs typeface="Calibri" pitchFamily="34" charset="-120"/>
              </a:rPr>
              <a:t>start run</a:t>
            </a:r>
            <a:endParaRPr lang="en-US" sz="850" dirty="0"/>
          </a:p>
        </p:txBody>
      </p:sp>
      <p:sp>
        <p:nvSpPr>
          <p:cNvPr id="24" name="Shape 22"/>
          <p:cNvSpPr/>
          <p:nvPr/>
        </p:nvSpPr>
        <p:spPr>
          <a:xfrm>
            <a:off x="4160520" y="4572000"/>
            <a:ext cx="0" cy="201168"/>
          </a:xfrm>
          <a:prstGeom prst="line">
            <a:avLst/>
          </a:prstGeom>
          <a:noFill/>
          <a:ln w="19050">
            <a:solidFill>
              <a:srgbClr val="6B8095"/>
            </a:solidFill>
            <a:prstDash val="solid"/>
            <a:headEnd type="none"/>
            <a:tailEnd type="triangle"/>
          </a:ln>
        </p:spPr>
      </p:sp>
      <p:sp>
        <p:nvSpPr>
          <p:cNvPr id="25" name="Text 23"/>
          <p:cNvSpPr/>
          <p:nvPr/>
        </p:nvSpPr>
        <p:spPr>
          <a:xfrm>
            <a:off x="4361688" y="4553712"/>
            <a:ext cx="2743200" cy="219456"/>
          </a:xfrm>
          <a:prstGeom prst="rect">
            <a:avLst/>
          </a:prstGeom>
          <a:noFill/>
          <a:ln/>
        </p:spPr>
        <p:txBody>
          <a:bodyPr wrap="square" lIns="0" tIns="0" rIns="0" bIns="0" rtlCol="0" anchor="ctr"/>
          <a:lstStyle/>
          <a:p>
            <a:pPr indent="0" marL="0">
              <a:buNone/>
            </a:pPr>
            <a:r>
              <a:rPr lang="en-US" sz="850" dirty="0">
                <a:solidFill>
                  <a:srgbClr val="76849A"/>
                </a:solidFill>
                <a:latin typeface="Calibri" pitchFamily="34" charset="0"/>
                <a:ea typeface="Calibri" pitchFamily="34" charset="-122"/>
                <a:cs typeface="Calibri" pitchFamily="34" charset="-120"/>
              </a:rPr>
              <a:t>run the stages</a:t>
            </a:r>
            <a:endParaRPr lang="en-US" sz="850" dirty="0"/>
          </a:p>
        </p:txBody>
      </p:sp>
      <p:sp>
        <p:nvSpPr>
          <p:cNvPr id="26" name="Shape 24"/>
          <p:cNvSpPr/>
          <p:nvPr/>
        </p:nvSpPr>
        <p:spPr>
          <a:xfrm>
            <a:off x="4160520" y="5577840"/>
            <a:ext cx="0" cy="201168"/>
          </a:xfrm>
          <a:prstGeom prst="line">
            <a:avLst/>
          </a:prstGeom>
          <a:noFill/>
          <a:ln w="19050">
            <a:solidFill>
              <a:srgbClr val="6B8095"/>
            </a:solidFill>
            <a:prstDash val="solid"/>
            <a:headEnd type="none"/>
            <a:tailEnd type="triangle"/>
          </a:ln>
        </p:spPr>
      </p:sp>
      <p:sp>
        <p:nvSpPr>
          <p:cNvPr id="27" name="Text 25"/>
          <p:cNvSpPr/>
          <p:nvPr/>
        </p:nvSpPr>
        <p:spPr>
          <a:xfrm>
            <a:off x="4361688" y="5559552"/>
            <a:ext cx="2743200" cy="219456"/>
          </a:xfrm>
          <a:prstGeom prst="rect">
            <a:avLst/>
          </a:prstGeom>
          <a:noFill/>
          <a:ln/>
        </p:spPr>
        <p:txBody>
          <a:bodyPr wrap="square" lIns="0" tIns="0" rIns="0" bIns="0" rtlCol="0" anchor="ctr"/>
          <a:lstStyle/>
          <a:p>
            <a:pPr indent="0" marL="0">
              <a:buNone/>
            </a:pPr>
            <a:r>
              <a:rPr lang="en-US" sz="850" dirty="0">
                <a:solidFill>
                  <a:srgbClr val="76849A"/>
                </a:solidFill>
                <a:latin typeface="Calibri" pitchFamily="34" charset="0"/>
                <a:ea typeface="Calibri" pitchFamily="34" charset="-122"/>
                <a:cs typeface="Calibri" pitchFamily="34" charset="-120"/>
              </a:rPr>
              <a:t>evidence  ·  verdicts</a:t>
            </a:r>
            <a:endParaRPr lang="en-US" sz="850" dirty="0"/>
          </a:p>
        </p:txBody>
      </p:sp>
      <p:sp>
        <p:nvSpPr>
          <p:cNvPr id="28" name="Shape 26"/>
          <p:cNvSpPr/>
          <p:nvPr/>
        </p:nvSpPr>
        <p:spPr>
          <a:xfrm>
            <a:off x="8732520" y="1755648"/>
            <a:ext cx="2953512" cy="1481328"/>
          </a:xfrm>
          <a:prstGeom prst="roundRect">
            <a:avLst>
              <a:gd name="adj" fmla="val 3086"/>
            </a:avLst>
          </a:prstGeom>
          <a:solidFill>
            <a:srgbClr val="1A2430"/>
          </a:solidFill>
          <a:ln w="19050">
            <a:solidFill>
              <a:srgbClr val="3FBF92"/>
            </a:solidFill>
            <a:prstDash val="solid"/>
          </a:ln>
        </p:spPr>
      </p:sp>
      <p:sp>
        <p:nvSpPr>
          <p:cNvPr id="29" name="Text 27"/>
          <p:cNvSpPr/>
          <p:nvPr/>
        </p:nvSpPr>
        <p:spPr>
          <a:xfrm>
            <a:off x="8988552" y="1874520"/>
            <a:ext cx="2441448" cy="292608"/>
          </a:xfrm>
          <a:prstGeom prst="rect">
            <a:avLst/>
          </a:prstGeom>
          <a:noFill/>
          <a:ln/>
        </p:spPr>
        <p:txBody>
          <a:bodyPr wrap="square" lIns="0" tIns="0" rIns="0" bIns="0" rtlCol="0" anchor="ctr"/>
          <a:lstStyle/>
          <a:p>
            <a:pPr indent="0" marL="0">
              <a:buNone/>
            </a:pPr>
            <a:r>
              <a:rPr lang="en-US" sz="1500" b="1" dirty="0">
                <a:solidFill>
                  <a:srgbClr val="F2F5F8"/>
                </a:solidFill>
                <a:latin typeface="Arial" pitchFamily="34" charset="0"/>
                <a:ea typeface="Arial" pitchFamily="34" charset="-122"/>
                <a:cs typeface="Arial" pitchFamily="34" charset="-120"/>
              </a:rPr>
              <a:t>Salesforce org</a:t>
            </a:r>
            <a:endParaRPr lang="en-US" sz="1500" dirty="0"/>
          </a:p>
        </p:txBody>
      </p:sp>
      <p:sp>
        <p:nvSpPr>
          <p:cNvPr id="30" name="Text 28"/>
          <p:cNvSpPr/>
          <p:nvPr/>
        </p:nvSpPr>
        <p:spPr>
          <a:xfrm>
            <a:off x="8988552" y="2185416"/>
            <a:ext cx="2441448" cy="950976"/>
          </a:xfrm>
          <a:prstGeom prst="rect">
            <a:avLst/>
          </a:prstGeom>
          <a:noFill/>
          <a:ln/>
        </p:spPr>
        <p:txBody>
          <a:bodyPr wrap="square" lIns="0" tIns="0" rIns="0" bIns="0" rtlCol="0" anchor="ctr"/>
          <a:lstStyle/>
          <a:p>
            <a:pPr indent="0" marL="0">
              <a:lnSpc>
                <a:spcPts val="1400"/>
              </a:lnSpc>
              <a:buNone/>
            </a:pPr>
            <a:r>
              <a:rPr lang="en-US" sz="1050" dirty="0">
                <a:solidFill>
                  <a:srgbClr val="A8B4C4"/>
                </a:solidFill>
                <a:latin typeface="Calibri" pitchFamily="34" charset="0"/>
                <a:ea typeface="Calibri" pitchFamily="34" charset="-122"/>
                <a:cs typeface="Calibri" pitchFamily="34" charset="-120"/>
              </a:rPr>
              <a:t>REST, Tooling and Metadata APIs.</a:t>
            </a:r>
            <a:endParaRPr lang="en-US" sz="1050" dirty="0"/>
          </a:p>
          <a:p>
            <a:pPr indent="0" marL="0">
              <a:lnSpc>
                <a:spcPts val="1400"/>
              </a:lnSpc>
              <a:buNone/>
            </a:pPr>
            <a:endParaRPr lang="en-US" sz="1050" dirty="0"/>
          </a:p>
          <a:p>
            <a:pPr indent="0" marL="0">
              <a:lnSpc>
                <a:spcPts val="1400"/>
              </a:lnSpc>
              <a:buNone/>
            </a:pPr>
            <a:r>
              <a:rPr lang="en-US" sz="1050" dirty="0">
                <a:solidFill>
                  <a:srgbClr val="A8B4C4"/>
                </a:solidFill>
                <a:latin typeface="Calibri" pitchFamily="34" charset="0"/>
                <a:ea typeface="Calibri" pitchFamily="34" charset="-122"/>
                <a:cs typeface="Calibri" pitchFamily="34" charset="-120"/>
              </a:rPr>
              <a:t>Read once per run under a governed API budget, then analysed locally.</a:t>
            </a:r>
            <a:endParaRPr lang="en-US" sz="1050" dirty="0"/>
          </a:p>
        </p:txBody>
      </p:sp>
      <p:sp>
        <p:nvSpPr>
          <p:cNvPr id="31" name="Shape 29"/>
          <p:cNvSpPr/>
          <p:nvPr/>
        </p:nvSpPr>
        <p:spPr>
          <a:xfrm>
            <a:off x="8732520" y="3465576"/>
            <a:ext cx="2953512" cy="1298448"/>
          </a:xfrm>
          <a:prstGeom prst="roundRect">
            <a:avLst>
              <a:gd name="adj" fmla="val 3521"/>
            </a:avLst>
          </a:prstGeom>
          <a:solidFill>
            <a:srgbClr val="1A2430"/>
          </a:solidFill>
          <a:ln w="19050">
            <a:solidFill>
              <a:srgbClr val="9B84F7"/>
            </a:solidFill>
            <a:prstDash val="solid"/>
          </a:ln>
        </p:spPr>
      </p:sp>
      <p:sp>
        <p:nvSpPr>
          <p:cNvPr id="32" name="Text 30"/>
          <p:cNvSpPr/>
          <p:nvPr/>
        </p:nvSpPr>
        <p:spPr>
          <a:xfrm>
            <a:off x="8988552" y="3584448"/>
            <a:ext cx="2441448" cy="292608"/>
          </a:xfrm>
          <a:prstGeom prst="rect">
            <a:avLst/>
          </a:prstGeom>
          <a:noFill/>
          <a:ln/>
        </p:spPr>
        <p:txBody>
          <a:bodyPr wrap="square" lIns="0" tIns="0" rIns="0" bIns="0" rtlCol="0" anchor="ctr"/>
          <a:lstStyle/>
          <a:p>
            <a:pPr indent="0" marL="0">
              <a:buNone/>
            </a:pPr>
            <a:r>
              <a:rPr lang="en-US" sz="1500" b="1" dirty="0">
                <a:solidFill>
                  <a:srgbClr val="F2F5F8"/>
                </a:solidFill>
                <a:latin typeface="Arial" pitchFamily="34" charset="0"/>
                <a:ea typeface="Arial" pitchFamily="34" charset="-122"/>
                <a:cs typeface="Arial" pitchFamily="34" charset="-120"/>
              </a:rPr>
              <a:t>LLM gateway</a:t>
            </a:r>
            <a:endParaRPr lang="en-US" sz="1500" dirty="0"/>
          </a:p>
        </p:txBody>
      </p:sp>
      <p:sp>
        <p:nvSpPr>
          <p:cNvPr id="33" name="Text 31"/>
          <p:cNvSpPr/>
          <p:nvPr/>
        </p:nvSpPr>
        <p:spPr>
          <a:xfrm>
            <a:off x="8988552" y="3895344"/>
            <a:ext cx="2441448" cy="768096"/>
          </a:xfrm>
          <a:prstGeom prst="rect">
            <a:avLst/>
          </a:prstGeom>
          <a:noFill/>
          <a:ln/>
        </p:spPr>
        <p:txBody>
          <a:bodyPr wrap="square" lIns="0" tIns="0" rIns="0" bIns="0" rtlCol="0" anchor="ctr"/>
          <a:lstStyle/>
          <a:p>
            <a:pPr indent="0" marL="0">
              <a:lnSpc>
                <a:spcPts val="1400"/>
              </a:lnSpc>
              <a:buNone/>
            </a:pPr>
            <a:r>
              <a:rPr lang="en-US" sz="1050" dirty="0">
                <a:solidFill>
                  <a:srgbClr val="A8B4C4"/>
                </a:solidFill>
                <a:latin typeface="Calibri" pitchFamily="34" charset="0"/>
                <a:ea typeface="Calibri" pitchFamily="34" charset="-122"/>
                <a:cs typeface="Calibri" pitchFamily="34" charset="-120"/>
              </a:rPr>
              <a:t>Narration only — and only for what already survived the deterministic checks.</a:t>
            </a:r>
            <a:endParaRPr lang="en-US" sz="1050" dirty="0"/>
          </a:p>
        </p:txBody>
      </p:sp>
      <p:sp>
        <p:nvSpPr>
          <p:cNvPr id="34" name="Shape 32"/>
          <p:cNvSpPr/>
          <p:nvPr/>
        </p:nvSpPr>
        <p:spPr>
          <a:xfrm>
            <a:off x="8732520" y="4992624"/>
            <a:ext cx="2953512" cy="1298448"/>
          </a:xfrm>
          <a:prstGeom prst="roundRect">
            <a:avLst>
              <a:gd name="adj" fmla="val 3521"/>
            </a:avLst>
          </a:prstGeom>
          <a:solidFill>
            <a:srgbClr val="1A2430"/>
          </a:solidFill>
          <a:ln w="19050">
            <a:solidFill>
              <a:srgbClr val="3FBF92"/>
            </a:solidFill>
            <a:prstDash val="solid"/>
          </a:ln>
        </p:spPr>
      </p:sp>
      <p:sp>
        <p:nvSpPr>
          <p:cNvPr id="35" name="Text 33"/>
          <p:cNvSpPr/>
          <p:nvPr/>
        </p:nvSpPr>
        <p:spPr>
          <a:xfrm>
            <a:off x="8988552" y="5111496"/>
            <a:ext cx="2441448" cy="292608"/>
          </a:xfrm>
          <a:prstGeom prst="rect">
            <a:avLst/>
          </a:prstGeom>
          <a:noFill/>
          <a:ln/>
        </p:spPr>
        <p:txBody>
          <a:bodyPr wrap="square" lIns="0" tIns="0" rIns="0" bIns="0" rtlCol="0" anchor="ctr"/>
          <a:lstStyle/>
          <a:p>
            <a:pPr indent="0" marL="0">
              <a:buNone/>
            </a:pPr>
            <a:r>
              <a:rPr lang="en-US" sz="1500" b="1" dirty="0">
                <a:solidFill>
                  <a:srgbClr val="F2F5F8"/>
                </a:solidFill>
                <a:latin typeface="Arial" pitchFamily="34" charset="0"/>
                <a:ea typeface="Arial" pitchFamily="34" charset="-122"/>
                <a:cs typeface="Arial" pitchFamily="34" charset="-120"/>
              </a:rPr>
              <a:t>Git  ·  pull request</a:t>
            </a:r>
            <a:endParaRPr lang="en-US" sz="1500" dirty="0"/>
          </a:p>
        </p:txBody>
      </p:sp>
      <p:sp>
        <p:nvSpPr>
          <p:cNvPr id="36" name="Text 34"/>
          <p:cNvSpPr/>
          <p:nvPr/>
        </p:nvSpPr>
        <p:spPr>
          <a:xfrm>
            <a:off x="8988552" y="5422392"/>
            <a:ext cx="2441448" cy="768096"/>
          </a:xfrm>
          <a:prstGeom prst="rect">
            <a:avLst/>
          </a:prstGeom>
          <a:noFill/>
          <a:ln/>
        </p:spPr>
        <p:txBody>
          <a:bodyPr wrap="square" lIns="0" tIns="0" rIns="0" bIns="0" rtlCol="0" anchor="ctr"/>
          <a:lstStyle/>
          <a:p>
            <a:pPr indent="0" marL="0">
              <a:lnSpc>
                <a:spcPts val="1400"/>
              </a:lnSpc>
              <a:buNone/>
            </a:pPr>
            <a:r>
              <a:rPr lang="en-US" sz="1050" dirty="0">
                <a:solidFill>
                  <a:srgbClr val="A8B4C4"/>
                </a:solidFill>
                <a:latin typeface="Calibri" pitchFamily="34" charset="0"/>
                <a:ea typeface="Calibri" pitchFamily="34" charset="-122"/>
                <a:cs typeface="Calibri" pitchFamily="34" charset="-120"/>
              </a:rPr>
              <a:t>Where the removal agent lands an approved change for normal code review.</a:t>
            </a:r>
            <a:endParaRPr lang="en-US" sz="1050" dirty="0"/>
          </a:p>
        </p:txBody>
      </p:sp>
      <p:sp>
        <p:nvSpPr>
          <p:cNvPr id="37" name="Shape 35"/>
          <p:cNvSpPr/>
          <p:nvPr/>
        </p:nvSpPr>
        <p:spPr>
          <a:xfrm>
            <a:off x="7818120" y="5175504"/>
            <a:ext cx="548640" cy="0"/>
          </a:xfrm>
          <a:prstGeom prst="line">
            <a:avLst/>
          </a:prstGeom>
          <a:noFill/>
          <a:ln w="19050">
            <a:solidFill>
              <a:srgbClr val="6B8095"/>
            </a:solidFill>
            <a:prstDash val="solid"/>
            <a:headEnd type="none"/>
            <a:tailEnd type="none"/>
          </a:ln>
        </p:spPr>
      </p:sp>
      <p:sp>
        <p:nvSpPr>
          <p:cNvPr id="38" name="Shape 36"/>
          <p:cNvSpPr/>
          <p:nvPr/>
        </p:nvSpPr>
        <p:spPr>
          <a:xfrm>
            <a:off x="8366760" y="2496312"/>
            <a:ext cx="0" cy="3145536"/>
          </a:xfrm>
          <a:prstGeom prst="line">
            <a:avLst/>
          </a:prstGeom>
          <a:noFill/>
          <a:ln w="19050">
            <a:solidFill>
              <a:srgbClr val="6B8095"/>
            </a:solidFill>
            <a:prstDash val="solid"/>
            <a:headEnd type="none"/>
            <a:tailEnd type="none"/>
          </a:ln>
        </p:spPr>
      </p:sp>
      <p:sp>
        <p:nvSpPr>
          <p:cNvPr id="39" name="Shape 37"/>
          <p:cNvSpPr/>
          <p:nvPr/>
        </p:nvSpPr>
        <p:spPr>
          <a:xfrm>
            <a:off x="8366760" y="2496312"/>
            <a:ext cx="365760" cy="0"/>
          </a:xfrm>
          <a:prstGeom prst="line">
            <a:avLst/>
          </a:prstGeom>
          <a:noFill/>
          <a:ln w="19050">
            <a:solidFill>
              <a:srgbClr val="6B8095"/>
            </a:solidFill>
            <a:prstDash val="solid"/>
            <a:headEnd type="none"/>
            <a:tailEnd type="triangle"/>
          </a:ln>
        </p:spPr>
      </p:sp>
      <p:sp>
        <p:nvSpPr>
          <p:cNvPr id="40" name="Shape 38"/>
          <p:cNvSpPr/>
          <p:nvPr/>
        </p:nvSpPr>
        <p:spPr>
          <a:xfrm>
            <a:off x="8366760" y="4114800"/>
            <a:ext cx="365760" cy="0"/>
          </a:xfrm>
          <a:prstGeom prst="line">
            <a:avLst/>
          </a:prstGeom>
          <a:noFill/>
          <a:ln w="19050">
            <a:solidFill>
              <a:srgbClr val="6B8095"/>
            </a:solidFill>
            <a:prstDash val="solid"/>
            <a:headEnd type="none"/>
            <a:tailEnd type="triangle"/>
          </a:ln>
        </p:spPr>
      </p:sp>
      <p:sp>
        <p:nvSpPr>
          <p:cNvPr id="41" name="Shape 39"/>
          <p:cNvSpPr/>
          <p:nvPr/>
        </p:nvSpPr>
        <p:spPr>
          <a:xfrm>
            <a:off x="8366760" y="5641848"/>
            <a:ext cx="365760" cy="0"/>
          </a:xfrm>
          <a:prstGeom prst="line">
            <a:avLst/>
          </a:prstGeom>
          <a:noFill/>
          <a:ln w="19050">
            <a:solidFill>
              <a:srgbClr val="6B8095"/>
            </a:solidFill>
            <a:prstDash val="solid"/>
            <a:headEnd type="none"/>
            <a:tailEnd type="triangle"/>
          </a:ln>
        </p:spPr>
      </p:sp>
      <p:sp>
        <p:nvSpPr>
          <p:cNvPr id="42" name="Text 40"/>
          <p:cNvSpPr/>
          <p:nvPr/>
        </p:nvSpPr>
        <p:spPr>
          <a:xfrm>
            <a:off x="8732520" y="6419088"/>
            <a:ext cx="2377440" cy="219456"/>
          </a:xfrm>
          <a:prstGeom prst="rect">
            <a:avLst/>
          </a:prstGeom>
          <a:noFill/>
          <a:ln/>
        </p:spPr>
        <p:txBody>
          <a:bodyPr wrap="square" lIns="0" tIns="0" rIns="0" bIns="0" rtlCol="0" anchor="ctr"/>
          <a:lstStyle/>
          <a:p>
            <a:pPr indent="0" marL="0">
              <a:buNone/>
            </a:pPr>
            <a:r>
              <a:rPr lang="en-US" sz="850" i="1" dirty="0">
                <a:solidFill>
                  <a:srgbClr val="76849A"/>
                </a:solidFill>
                <a:latin typeface="Calibri" pitchFamily="34" charset="0"/>
                <a:ea typeface="Calibri" pitchFamily="34" charset="-122"/>
                <a:cs typeface="Calibri" pitchFamily="34" charset="-120"/>
              </a:rPr>
              <a:t>every outbound call leaves from the pipeline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11712" y="6455664"/>
            <a:ext cx="365760" cy="274320"/>
          </a:xfrm>
          <a:prstGeom prst="rect">
            <a:avLst/>
          </a:prstGeom>
          <a:noFill/>
          <a:ln/>
        </p:spPr>
        <p:txBody>
          <a:bodyPr wrap="square" lIns="0" tIns="0" rIns="0" bIns="0" rtlCol="0" anchor="ctr"/>
          <a:lstStyle/>
          <a:p>
            <a:pPr algn="r" indent="0" marL="0">
              <a:buNone/>
            </a:pPr>
            <a:r>
              <a:rPr lang="en-US" sz="1000" dirty="0">
                <a:solidFill>
                  <a:srgbClr val="A0A8B4"/>
                </a:solidFill>
                <a:latin typeface="Calibri" pitchFamily="34" charset="0"/>
                <a:ea typeface="Calibri" pitchFamily="34" charset="-122"/>
                <a:cs typeface="Calibri" pitchFamily="34" charset="-120"/>
              </a:rPr>
              <a:t>10</a:t>
            </a:r>
            <a:endParaRPr lang="en-US" sz="1000" dirty="0"/>
          </a:p>
        </p:txBody>
      </p:sp>
      <p:sp>
        <p:nvSpPr>
          <p:cNvPr id="3" name="Text 1"/>
          <p:cNvSpPr/>
          <p:nvPr/>
        </p:nvSpPr>
        <p:spPr>
          <a:xfrm>
            <a:off x="566928" y="402336"/>
            <a:ext cx="11055096" cy="713232"/>
          </a:xfrm>
          <a:prstGeom prst="rect">
            <a:avLst/>
          </a:prstGeom>
          <a:noFill/>
          <a:ln/>
        </p:spPr>
        <p:txBody>
          <a:bodyPr wrap="square" lIns="0" tIns="0" rIns="0" bIns="0" rtlCol="0" anchor="ctr"/>
          <a:lstStyle/>
          <a:p>
            <a:pPr indent="0" marL="0">
              <a:buNone/>
            </a:pPr>
            <a:r>
              <a:rPr lang="en-US" sz="3400" b="1" dirty="0">
                <a:solidFill>
                  <a:srgbClr val="0F1620"/>
                </a:solidFill>
                <a:latin typeface="Arial" pitchFamily="34" charset="0"/>
                <a:ea typeface="Arial" pitchFamily="34" charset="-122"/>
                <a:cs typeface="Arial" pitchFamily="34" charset="-120"/>
              </a:rPr>
              <a:t>The pipeline</a:t>
            </a:r>
            <a:endParaRPr lang="en-US" sz="3400" dirty="0"/>
          </a:p>
        </p:txBody>
      </p:sp>
      <p:sp>
        <p:nvSpPr>
          <p:cNvPr id="4" name="Text 2"/>
          <p:cNvSpPr/>
          <p:nvPr/>
        </p:nvSpPr>
        <p:spPr>
          <a:xfrm>
            <a:off x="566928" y="1115568"/>
            <a:ext cx="11055096" cy="402336"/>
          </a:xfrm>
          <a:prstGeom prst="rect">
            <a:avLst/>
          </a:prstGeom>
          <a:noFill/>
          <a:ln/>
        </p:spPr>
        <p:txBody>
          <a:bodyPr wrap="square" lIns="0" tIns="0" rIns="0" bIns="0" rtlCol="0" anchor="ctr"/>
          <a:lstStyle/>
          <a:p>
            <a:pPr indent="0" marL="0">
              <a:buNone/>
            </a:pPr>
            <a:r>
              <a:rPr lang="en-US" sz="1450" dirty="0">
                <a:solidFill>
                  <a:srgbClr val="55606E"/>
                </a:solidFill>
                <a:latin typeface="Calibri" pitchFamily="34" charset="0"/>
                <a:ea typeface="Calibri" pitchFamily="34" charset="-122"/>
                <a:cs typeface="Calibri" pitchFamily="34" charset="-120"/>
              </a:rPr>
              <a:t>Each stage records its own state. A failing optional stage degrades the run; it never silently drops evidence.</a:t>
            </a:r>
            <a:endParaRPr lang="en-US" sz="1450" dirty="0"/>
          </a:p>
        </p:txBody>
      </p:sp>
      <p:sp>
        <p:nvSpPr>
          <p:cNvPr id="5" name="Shape 3"/>
          <p:cNvSpPr/>
          <p:nvPr/>
        </p:nvSpPr>
        <p:spPr>
          <a:xfrm>
            <a:off x="566928" y="1810512"/>
            <a:ext cx="2084832" cy="1847088"/>
          </a:xfrm>
          <a:prstGeom prst="roundRect">
            <a:avLst>
              <a:gd name="adj" fmla="val 2970"/>
            </a:avLst>
          </a:prstGeom>
          <a:solidFill>
            <a:srgbClr val="F6F8FB"/>
          </a:solidFill>
          <a:ln w="12700">
            <a:solidFill>
              <a:srgbClr val="DDE4EC"/>
            </a:solidFill>
            <a:prstDash val="solid"/>
          </a:ln>
        </p:spPr>
      </p:sp>
      <p:sp>
        <p:nvSpPr>
          <p:cNvPr id="6" name="Shape 4"/>
          <p:cNvSpPr/>
          <p:nvPr/>
        </p:nvSpPr>
        <p:spPr>
          <a:xfrm>
            <a:off x="786384" y="2011680"/>
            <a:ext cx="329184" cy="329184"/>
          </a:xfrm>
          <a:prstGeom prst="ellipse">
            <a:avLst/>
          </a:prstGeom>
          <a:solidFill>
            <a:srgbClr val="29B6D8"/>
          </a:solidFill>
          <a:ln/>
        </p:spPr>
      </p:sp>
      <p:sp>
        <p:nvSpPr>
          <p:cNvPr id="7" name="Text 5"/>
          <p:cNvSpPr/>
          <p:nvPr/>
        </p:nvSpPr>
        <p:spPr>
          <a:xfrm>
            <a:off x="786384" y="2011680"/>
            <a:ext cx="329184" cy="329184"/>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1</a:t>
            </a:r>
            <a:endParaRPr lang="en-US" sz="1250" dirty="0"/>
          </a:p>
        </p:txBody>
      </p:sp>
      <p:sp>
        <p:nvSpPr>
          <p:cNvPr id="8" name="Text 6"/>
          <p:cNvSpPr/>
          <p:nvPr/>
        </p:nvSpPr>
        <p:spPr>
          <a:xfrm>
            <a:off x="1188720" y="1993392"/>
            <a:ext cx="1371600" cy="274320"/>
          </a:xfrm>
          <a:prstGeom prst="rect">
            <a:avLst/>
          </a:prstGeom>
          <a:noFill/>
          <a:ln/>
        </p:spPr>
        <p:txBody>
          <a:bodyPr wrap="square" lIns="0" tIns="0" rIns="0" bIns="0" rtlCol="0" anchor="ctr"/>
          <a:lstStyle/>
          <a:p>
            <a:pPr indent="0" marL="0">
              <a:buNone/>
            </a:pPr>
            <a:r>
              <a:rPr lang="en-US" sz="1350" b="1" dirty="0">
                <a:solidFill>
                  <a:srgbClr val="0F1620"/>
                </a:solidFill>
                <a:latin typeface="Arial" pitchFamily="34" charset="0"/>
                <a:ea typeface="Arial" pitchFamily="34" charset="-122"/>
                <a:cs typeface="Arial" pitchFamily="34" charset="-120"/>
              </a:rPr>
              <a:t>Connect</a:t>
            </a:r>
            <a:endParaRPr lang="en-US" sz="1350" dirty="0"/>
          </a:p>
        </p:txBody>
      </p:sp>
      <p:sp>
        <p:nvSpPr>
          <p:cNvPr id="9" name="Text 7"/>
          <p:cNvSpPr/>
          <p:nvPr/>
        </p:nvSpPr>
        <p:spPr>
          <a:xfrm>
            <a:off x="786384" y="2377440"/>
            <a:ext cx="1755648" cy="1133856"/>
          </a:xfrm>
          <a:prstGeom prst="rect">
            <a:avLst/>
          </a:prstGeom>
          <a:noFill/>
          <a:ln/>
        </p:spPr>
        <p:txBody>
          <a:bodyPr wrap="square" lIns="0" tIns="0" rIns="0" bIns="0" rtlCol="0" anchor="ctr"/>
          <a:lstStyle/>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Discover edition,</a:t>
            </a:r>
            <a:endParaRPr lang="en-US" sz="1000" dirty="0"/>
          </a:p>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API budget, which</a:t>
            </a:r>
            <a:endParaRPr lang="en-US" sz="1000" dirty="0"/>
          </a:p>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features exist</a:t>
            </a:r>
            <a:endParaRPr lang="en-US" sz="1000" dirty="0"/>
          </a:p>
        </p:txBody>
      </p:sp>
      <p:sp>
        <p:nvSpPr>
          <p:cNvPr id="10" name="Shape 8"/>
          <p:cNvSpPr/>
          <p:nvPr/>
        </p:nvSpPr>
        <p:spPr>
          <a:xfrm rot="5400000">
            <a:off x="2679192" y="2624328"/>
            <a:ext cx="137160" cy="201168"/>
          </a:xfrm>
          <a:prstGeom prst="triangle">
            <a:avLst/>
          </a:prstGeom>
          <a:solidFill>
            <a:srgbClr val="9AA8B8"/>
          </a:solidFill>
          <a:ln/>
        </p:spPr>
      </p:sp>
      <p:sp>
        <p:nvSpPr>
          <p:cNvPr id="11" name="Shape 9"/>
          <p:cNvSpPr/>
          <p:nvPr/>
        </p:nvSpPr>
        <p:spPr>
          <a:xfrm>
            <a:off x="2816352" y="1810512"/>
            <a:ext cx="2084832" cy="1847088"/>
          </a:xfrm>
          <a:prstGeom prst="roundRect">
            <a:avLst>
              <a:gd name="adj" fmla="val 2970"/>
            </a:avLst>
          </a:prstGeom>
          <a:solidFill>
            <a:srgbClr val="F6F8FB"/>
          </a:solidFill>
          <a:ln w="12700">
            <a:solidFill>
              <a:srgbClr val="DDE4EC"/>
            </a:solidFill>
            <a:prstDash val="solid"/>
          </a:ln>
        </p:spPr>
      </p:sp>
      <p:sp>
        <p:nvSpPr>
          <p:cNvPr id="12" name="Shape 10"/>
          <p:cNvSpPr/>
          <p:nvPr/>
        </p:nvSpPr>
        <p:spPr>
          <a:xfrm>
            <a:off x="3035808" y="2011680"/>
            <a:ext cx="329184" cy="329184"/>
          </a:xfrm>
          <a:prstGeom prst="ellipse">
            <a:avLst/>
          </a:prstGeom>
          <a:solidFill>
            <a:srgbClr val="29B6D8"/>
          </a:solidFill>
          <a:ln/>
        </p:spPr>
      </p:sp>
      <p:sp>
        <p:nvSpPr>
          <p:cNvPr id="13" name="Text 11"/>
          <p:cNvSpPr/>
          <p:nvPr/>
        </p:nvSpPr>
        <p:spPr>
          <a:xfrm>
            <a:off x="3035808" y="2011680"/>
            <a:ext cx="329184" cy="329184"/>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2</a:t>
            </a:r>
            <a:endParaRPr lang="en-US" sz="1250" dirty="0"/>
          </a:p>
        </p:txBody>
      </p:sp>
      <p:sp>
        <p:nvSpPr>
          <p:cNvPr id="14" name="Text 12"/>
          <p:cNvSpPr/>
          <p:nvPr/>
        </p:nvSpPr>
        <p:spPr>
          <a:xfrm>
            <a:off x="3438144" y="1993392"/>
            <a:ext cx="1371600" cy="274320"/>
          </a:xfrm>
          <a:prstGeom prst="rect">
            <a:avLst/>
          </a:prstGeom>
          <a:noFill/>
          <a:ln/>
        </p:spPr>
        <p:txBody>
          <a:bodyPr wrap="square" lIns="0" tIns="0" rIns="0" bIns="0" rtlCol="0" anchor="ctr"/>
          <a:lstStyle/>
          <a:p>
            <a:pPr indent="0" marL="0">
              <a:buNone/>
            </a:pPr>
            <a:r>
              <a:rPr lang="en-US" sz="1350" b="1" dirty="0">
                <a:solidFill>
                  <a:srgbClr val="0F1620"/>
                </a:solidFill>
                <a:latin typeface="Arial" pitchFamily="34" charset="0"/>
                <a:ea typeface="Arial" pitchFamily="34" charset="-122"/>
                <a:cs typeface="Arial" pitchFamily="34" charset="-120"/>
              </a:rPr>
              <a:t>Inventory</a:t>
            </a:r>
            <a:endParaRPr lang="en-US" sz="1350" dirty="0"/>
          </a:p>
        </p:txBody>
      </p:sp>
      <p:sp>
        <p:nvSpPr>
          <p:cNvPr id="15" name="Text 13"/>
          <p:cNvSpPr/>
          <p:nvPr/>
        </p:nvSpPr>
        <p:spPr>
          <a:xfrm>
            <a:off x="3035808" y="2377440"/>
            <a:ext cx="1755648" cy="1133856"/>
          </a:xfrm>
          <a:prstGeom prst="rect">
            <a:avLst/>
          </a:prstGeom>
          <a:noFill/>
          <a:ln/>
        </p:spPr>
        <p:txBody>
          <a:bodyPr wrap="square" lIns="0" tIns="0" rIns="0" bIns="0" rtlCol="0" anchor="ctr"/>
          <a:lstStyle/>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Every component</a:t>
            </a:r>
            <a:endParaRPr lang="en-US" sz="1000" dirty="0"/>
          </a:p>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 the alias table</a:t>
            </a:r>
            <a:endParaRPr lang="en-US" sz="1000" dirty="0"/>
          </a:p>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of every name form</a:t>
            </a:r>
            <a:endParaRPr lang="en-US" sz="1000" dirty="0"/>
          </a:p>
        </p:txBody>
      </p:sp>
      <p:sp>
        <p:nvSpPr>
          <p:cNvPr id="16" name="Shape 14"/>
          <p:cNvSpPr/>
          <p:nvPr/>
        </p:nvSpPr>
        <p:spPr>
          <a:xfrm rot="5400000">
            <a:off x="4928616" y="2624328"/>
            <a:ext cx="137160" cy="201168"/>
          </a:xfrm>
          <a:prstGeom prst="triangle">
            <a:avLst/>
          </a:prstGeom>
          <a:solidFill>
            <a:srgbClr val="9AA8B8"/>
          </a:solidFill>
          <a:ln/>
        </p:spPr>
      </p:sp>
      <p:sp>
        <p:nvSpPr>
          <p:cNvPr id="17" name="Shape 15"/>
          <p:cNvSpPr/>
          <p:nvPr/>
        </p:nvSpPr>
        <p:spPr>
          <a:xfrm>
            <a:off x="5065776" y="1810512"/>
            <a:ext cx="2084832" cy="1847088"/>
          </a:xfrm>
          <a:prstGeom prst="roundRect">
            <a:avLst>
              <a:gd name="adj" fmla="val 2970"/>
            </a:avLst>
          </a:prstGeom>
          <a:solidFill>
            <a:srgbClr val="F6F8FB"/>
          </a:solidFill>
          <a:ln w="12700">
            <a:solidFill>
              <a:srgbClr val="DDE4EC"/>
            </a:solidFill>
            <a:prstDash val="solid"/>
          </a:ln>
        </p:spPr>
      </p:sp>
      <p:sp>
        <p:nvSpPr>
          <p:cNvPr id="18" name="Shape 16"/>
          <p:cNvSpPr/>
          <p:nvPr/>
        </p:nvSpPr>
        <p:spPr>
          <a:xfrm>
            <a:off x="5285232" y="2011680"/>
            <a:ext cx="329184" cy="329184"/>
          </a:xfrm>
          <a:prstGeom prst="ellipse">
            <a:avLst/>
          </a:prstGeom>
          <a:solidFill>
            <a:srgbClr val="29B6D8"/>
          </a:solidFill>
          <a:ln/>
        </p:spPr>
      </p:sp>
      <p:sp>
        <p:nvSpPr>
          <p:cNvPr id="19" name="Text 17"/>
          <p:cNvSpPr/>
          <p:nvPr/>
        </p:nvSpPr>
        <p:spPr>
          <a:xfrm>
            <a:off x="5285232" y="2011680"/>
            <a:ext cx="329184" cy="329184"/>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3</a:t>
            </a:r>
            <a:endParaRPr lang="en-US" sz="1250" dirty="0"/>
          </a:p>
        </p:txBody>
      </p:sp>
      <p:sp>
        <p:nvSpPr>
          <p:cNvPr id="20" name="Text 18"/>
          <p:cNvSpPr/>
          <p:nvPr/>
        </p:nvSpPr>
        <p:spPr>
          <a:xfrm>
            <a:off x="5687568" y="1993392"/>
            <a:ext cx="1371600" cy="274320"/>
          </a:xfrm>
          <a:prstGeom prst="rect">
            <a:avLst/>
          </a:prstGeom>
          <a:noFill/>
          <a:ln/>
        </p:spPr>
        <p:txBody>
          <a:bodyPr wrap="square" lIns="0" tIns="0" rIns="0" bIns="0" rtlCol="0" anchor="ctr"/>
          <a:lstStyle/>
          <a:p>
            <a:pPr indent="0" marL="0">
              <a:buNone/>
            </a:pPr>
            <a:r>
              <a:rPr lang="en-US" sz="1350" b="1" dirty="0">
                <a:solidFill>
                  <a:srgbClr val="0F1620"/>
                </a:solidFill>
                <a:latin typeface="Arial" pitchFamily="34" charset="0"/>
                <a:ea typeface="Arial" pitchFamily="34" charset="-122"/>
                <a:cs typeface="Arial" pitchFamily="34" charset="-120"/>
              </a:rPr>
              <a:t>Retrieve</a:t>
            </a:r>
            <a:endParaRPr lang="en-US" sz="1350" dirty="0"/>
          </a:p>
        </p:txBody>
      </p:sp>
      <p:sp>
        <p:nvSpPr>
          <p:cNvPr id="21" name="Text 19"/>
          <p:cNvSpPr/>
          <p:nvPr/>
        </p:nvSpPr>
        <p:spPr>
          <a:xfrm>
            <a:off x="5285232" y="2377440"/>
            <a:ext cx="1755648" cy="1133856"/>
          </a:xfrm>
          <a:prstGeom prst="rect">
            <a:avLst/>
          </a:prstGeom>
          <a:noFill/>
          <a:ln/>
        </p:spPr>
        <p:txBody>
          <a:bodyPr wrap="square" lIns="0" tIns="0" rIns="0" bIns="0" rtlCol="0" anchor="ctr"/>
          <a:lstStyle/>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Pull metadata to</a:t>
            </a:r>
            <a:endParaRPr lang="en-US" sz="1000" dirty="0"/>
          </a:p>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disk once — search</a:t>
            </a:r>
            <a:endParaRPr lang="en-US" sz="1000" dirty="0"/>
          </a:p>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then costs nothing</a:t>
            </a:r>
            <a:endParaRPr lang="en-US" sz="1000" dirty="0"/>
          </a:p>
        </p:txBody>
      </p:sp>
      <p:sp>
        <p:nvSpPr>
          <p:cNvPr id="22" name="Shape 20"/>
          <p:cNvSpPr/>
          <p:nvPr/>
        </p:nvSpPr>
        <p:spPr>
          <a:xfrm rot="5400000">
            <a:off x="7178040" y="2624328"/>
            <a:ext cx="137160" cy="201168"/>
          </a:xfrm>
          <a:prstGeom prst="triangle">
            <a:avLst/>
          </a:prstGeom>
          <a:solidFill>
            <a:srgbClr val="9AA8B8"/>
          </a:solidFill>
          <a:ln/>
        </p:spPr>
      </p:sp>
      <p:sp>
        <p:nvSpPr>
          <p:cNvPr id="23" name="Shape 21"/>
          <p:cNvSpPr/>
          <p:nvPr/>
        </p:nvSpPr>
        <p:spPr>
          <a:xfrm>
            <a:off x="7315200" y="1810512"/>
            <a:ext cx="2084832" cy="1847088"/>
          </a:xfrm>
          <a:prstGeom prst="roundRect">
            <a:avLst>
              <a:gd name="adj" fmla="val 2970"/>
            </a:avLst>
          </a:prstGeom>
          <a:solidFill>
            <a:srgbClr val="F6F8FB"/>
          </a:solidFill>
          <a:ln w="12700">
            <a:solidFill>
              <a:srgbClr val="DDE4EC"/>
            </a:solidFill>
            <a:prstDash val="solid"/>
          </a:ln>
        </p:spPr>
      </p:sp>
      <p:sp>
        <p:nvSpPr>
          <p:cNvPr id="24" name="Shape 22"/>
          <p:cNvSpPr/>
          <p:nvPr/>
        </p:nvSpPr>
        <p:spPr>
          <a:xfrm>
            <a:off x="7534656" y="2011680"/>
            <a:ext cx="329184" cy="329184"/>
          </a:xfrm>
          <a:prstGeom prst="ellipse">
            <a:avLst/>
          </a:prstGeom>
          <a:solidFill>
            <a:srgbClr val="29B6D8"/>
          </a:solidFill>
          <a:ln/>
        </p:spPr>
      </p:sp>
      <p:sp>
        <p:nvSpPr>
          <p:cNvPr id="25" name="Text 23"/>
          <p:cNvSpPr/>
          <p:nvPr/>
        </p:nvSpPr>
        <p:spPr>
          <a:xfrm>
            <a:off x="7534656" y="2011680"/>
            <a:ext cx="329184" cy="329184"/>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4</a:t>
            </a:r>
            <a:endParaRPr lang="en-US" sz="1250" dirty="0"/>
          </a:p>
        </p:txBody>
      </p:sp>
      <p:sp>
        <p:nvSpPr>
          <p:cNvPr id="26" name="Text 24"/>
          <p:cNvSpPr/>
          <p:nvPr/>
        </p:nvSpPr>
        <p:spPr>
          <a:xfrm>
            <a:off x="7936992" y="1993392"/>
            <a:ext cx="1371600" cy="274320"/>
          </a:xfrm>
          <a:prstGeom prst="rect">
            <a:avLst/>
          </a:prstGeom>
          <a:noFill/>
          <a:ln/>
        </p:spPr>
        <p:txBody>
          <a:bodyPr wrap="square" lIns="0" tIns="0" rIns="0" bIns="0" rtlCol="0" anchor="ctr"/>
          <a:lstStyle/>
          <a:p>
            <a:pPr indent="0" marL="0">
              <a:buNone/>
            </a:pPr>
            <a:r>
              <a:rPr lang="en-US" sz="1350" b="1" dirty="0">
                <a:solidFill>
                  <a:srgbClr val="0F1620"/>
                </a:solidFill>
                <a:latin typeface="Arial" pitchFamily="34" charset="0"/>
                <a:ea typeface="Arial" pitchFamily="34" charset="-122"/>
                <a:cs typeface="Arial" pitchFamily="34" charset="-120"/>
              </a:rPr>
              <a:t>Index</a:t>
            </a:r>
            <a:endParaRPr lang="en-US" sz="1350" dirty="0"/>
          </a:p>
        </p:txBody>
      </p:sp>
      <p:sp>
        <p:nvSpPr>
          <p:cNvPr id="27" name="Text 25"/>
          <p:cNvSpPr/>
          <p:nvPr/>
        </p:nvSpPr>
        <p:spPr>
          <a:xfrm>
            <a:off x="7534656" y="2377440"/>
            <a:ext cx="1755648" cy="1133856"/>
          </a:xfrm>
          <a:prstGeom prst="rect">
            <a:avLst/>
          </a:prstGeom>
          <a:noFill/>
          <a:ln/>
        </p:spPr>
        <p:txBody>
          <a:bodyPr wrap="square" lIns="0" tIns="0" rIns="0" bIns="0" rtlCol="0" anchor="ctr"/>
          <a:lstStyle/>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Split code from</a:t>
            </a:r>
            <a:endParaRPr lang="en-US" sz="1000" dirty="0"/>
          </a:p>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comments; resolve</a:t>
            </a:r>
            <a:endParaRPr lang="en-US" sz="1000" dirty="0"/>
          </a:p>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every mention</a:t>
            </a:r>
            <a:endParaRPr lang="en-US" sz="1000" dirty="0"/>
          </a:p>
        </p:txBody>
      </p:sp>
      <p:sp>
        <p:nvSpPr>
          <p:cNvPr id="28" name="Shape 26"/>
          <p:cNvSpPr/>
          <p:nvPr/>
        </p:nvSpPr>
        <p:spPr>
          <a:xfrm rot="5400000">
            <a:off x="9427464" y="2624328"/>
            <a:ext cx="137160" cy="201168"/>
          </a:xfrm>
          <a:prstGeom prst="triangle">
            <a:avLst/>
          </a:prstGeom>
          <a:solidFill>
            <a:srgbClr val="9AA8B8"/>
          </a:solidFill>
          <a:ln/>
        </p:spPr>
      </p:sp>
      <p:sp>
        <p:nvSpPr>
          <p:cNvPr id="29" name="Shape 27"/>
          <p:cNvSpPr/>
          <p:nvPr/>
        </p:nvSpPr>
        <p:spPr>
          <a:xfrm>
            <a:off x="9564624" y="1810512"/>
            <a:ext cx="2084832" cy="1847088"/>
          </a:xfrm>
          <a:prstGeom prst="roundRect">
            <a:avLst>
              <a:gd name="adj" fmla="val 2970"/>
            </a:avLst>
          </a:prstGeom>
          <a:solidFill>
            <a:srgbClr val="F6F8FB"/>
          </a:solidFill>
          <a:ln w="12700">
            <a:solidFill>
              <a:srgbClr val="DDE4EC"/>
            </a:solidFill>
            <a:prstDash val="solid"/>
          </a:ln>
        </p:spPr>
      </p:sp>
      <p:sp>
        <p:nvSpPr>
          <p:cNvPr id="30" name="Shape 28"/>
          <p:cNvSpPr/>
          <p:nvPr/>
        </p:nvSpPr>
        <p:spPr>
          <a:xfrm>
            <a:off x="9784080" y="2011680"/>
            <a:ext cx="329184" cy="329184"/>
          </a:xfrm>
          <a:prstGeom prst="ellipse">
            <a:avLst/>
          </a:prstGeom>
          <a:solidFill>
            <a:srgbClr val="29B6D8"/>
          </a:solidFill>
          <a:ln/>
        </p:spPr>
      </p:sp>
      <p:sp>
        <p:nvSpPr>
          <p:cNvPr id="31" name="Text 29"/>
          <p:cNvSpPr/>
          <p:nvPr/>
        </p:nvSpPr>
        <p:spPr>
          <a:xfrm>
            <a:off x="9784080" y="2011680"/>
            <a:ext cx="329184" cy="329184"/>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5</a:t>
            </a:r>
            <a:endParaRPr lang="en-US" sz="1250" dirty="0"/>
          </a:p>
        </p:txBody>
      </p:sp>
      <p:sp>
        <p:nvSpPr>
          <p:cNvPr id="32" name="Text 30"/>
          <p:cNvSpPr/>
          <p:nvPr/>
        </p:nvSpPr>
        <p:spPr>
          <a:xfrm>
            <a:off x="10186416" y="1993392"/>
            <a:ext cx="1371600" cy="274320"/>
          </a:xfrm>
          <a:prstGeom prst="rect">
            <a:avLst/>
          </a:prstGeom>
          <a:noFill/>
          <a:ln/>
        </p:spPr>
        <p:txBody>
          <a:bodyPr wrap="square" lIns="0" tIns="0" rIns="0" bIns="0" rtlCol="0" anchor="ctr"/>
          <a:lstStyle/>
          <a:p>
            <a:pPr indent="0" marL="0">
              <a:buNone/>
            </a:pPr>
            <a:r>
              <a:rPr lang="en-US" sz="1350" b="1" dirty="0">
                <a:solidFill>
                  <a:srgbClr val="0F1620"/>
                </a:solidFill>
                <a:latin typeface="Arial" pitchFamily="34" charset="0"/>
                <a:ea typeface="Arial" pitchFamily="34" charset="-122"/>
                <a:cs typeface="Arial" pitchFamily="34" charset="-120"/>
              </a:rPr>
              <a:t>Collect</a:t>
            </a:r>
            <a:endParaRPr lang="en-US" sz="1350" dirty="0"/>
          </a:p>
        </p:txBody>
      </p:sp>
      <p:sp>
        <p:nvSpPr>
          <p:cNvPr id="33" name="Text 31"/>
          <p:cNvSpPr/>
          <p:nvPr/>
        </p:nvSpPr>
        <p:spPr>
          <a:xfrm>
            <a:off x="9784080" y="2377440"/>
            <a:ext cx="1755648" cy="1133856"/>
          </a:xfrm>
          <a:prstGeom prst="rect">
            <a:avLst/>
          </a:prstGeom>
          <a:noFill/>
          <a:ln/>
        </p:spPr>
        <p:txBody>
          <a:bodyPr wrap="square" lIns="0" tIns="0" rIns="0" bIns="0" rtlCol="0" anchor="ctr"/>
          <a:lstStyle/>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Nine collectors,</a:t>
            </a:r>
            <a:endParaRPr lang="en-US" sz="1000" dirty="0"/>
          </a:p>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each logging found</a:t>
            </a:r>
            <a:endParaRPr lang="en-US" sz="1000" dirty="0"/>
          </a:p>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AND not-found</a:t>
            </a:r>
            <a:endParaRPr lang="en-US" sz="1000" dirty="0"/>
          </a:p>
        </p:txBody>
      </p:sp>
      <p:sp>
        <p:nvSpPr>
          <p:cNvPr id="34" name="Shape 32"/>
          <p:cNvSpPr/>
          <p:nvPr/>
        </p:nvSpPr>
        <p:spPr>
          <a:xfrm>
            <a:off x="566928" y="3950208"/>
            <a:ext cx="2084832" cy="1847088"/>
          </a:xfrm>
          <a:prstGeom prst="roundRect">
            <a:avLst>
              <a:gd name="adj" fmla="val 2970"/>
            </a:avLst>
          </a:prstGeom>
          <a:solidFill>
            <a:srgbClr val="F6F8FB"/>
          </a:solidFill>
          <a:ln w="12700">
            <a:solidFill>
              <a:srgbClr val="DDE4EC"/>
            </a:solidFill>
            <a:prstDash val="solid"/>
          </a:ln>
        </p:spPr>
      </p:sp>
      <p:sp>
        <p:nvSpPr>
          <p:cNvPr id="35" name="Shape 33"/>
          <p:cNvSpPr/>
          <p:nvPr/>
        </p:nvSpPr>
        <p:spPr>
          <a:xfrm>
            <a:off x="786384" y="4151376"/>
            <a:ext cx="329184" cy="329184"/>
          </a:xfrm>
          <a:prstGeom prst="ellipse">
            <a:avLst/>
          </a:prstGeom>
          <a:solidFill>
            <a:srgbClr val="F0A030"/>
          </a:solidFill>
          <a:ln/>
        </p:spPr>
      </p:sp>
      <p:sp>
        <p:nvSpPr>
          <p:cNvPr id="36" name="Text 34"/>
          <p:cNvSpPr/>
          <p:nvPr/>
        </p:nvSpPr>
        <p:spPr>
          <a:xfrm>
            <a:off x="786384" y="4151376"/>
            <a:ext cx="329184" cy="329184"/>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6</a:t>
            </a:r>
            <a:endParaRPr lang="en-US" sz="1250" dirty="0"/>
          </a:p>
        </p:txBody>
      </p:sp>
      <p:sp>
        <p:nvSpPr>
          <p:cNvPr id="37" name="Text 35"/>
          <p:cNvSpPr/>
          <p:nvPr/>
        </p:nvSpPr>
        <p:spPr>
          <a:xfrm>
            <a:off x="1188720" y="4133088"/>
            <a:ext cx="1371600" cy="274320"/>
          </a:xfrm>
          <a:prstGeom prst="rect">
            <a:avLst/>
          </a:prstGeom>
          <a:noFill/>
          <a:ln/>
        </p:spPr>
        <p:txBody>
          <a:bodyPr wrap="square" lIns="0" tIns="0" rIns="0" bIns="0" rtlCol="0" anchor="ctr"/>
          <a:lstStyle/>
          <a:p>
            <a:pPr indent="0" marL="0">
              <a:buNone/>
            </a:pPr>
            <a:r>
              <a:rPr lang="en-US" sz="1350" b="1" dirty="0">
                <a:solidFill>
                  <a:srgbClr val="0F1620"/>
                </a:solidFill>
                <a:latin typeface="Arial" pitchFamily="34" charset="0"/>
                <a:ea typeface="Arial" pitchFamily="34" charset="-122"/>
                <a:cs typeface="Arial" pitchFamily="34" charset="-120"/>
              </a:rPr>
              <a:t>Graph</a:t>
            </a:r>
            <a:endParaRPr lang="en-US" sz="1350" dirty="0"/>
          </a:p>
        </p:txBody>
      </p:sp>
      <p:sp>
        <p:nvSpPr>
          <p:cNvPr id="38" name="Text 36"/>
          <p:cNvSpPr/>
          <p:nvPr/>
        </p:nvSpPr>
        <p:spPr>
          <a:xfrm>
            <a:off x="786384" y="4517136"/>
            <a:ext cx="1755648" cy="1133856"/>
          </a:xfrm>
          <a:prstGeom prst="rect">
            <a:avLst/>
          </a:prstGeom>
          <a:noFill/>
          <a:ln/>
        </p:spPr>
        <p:txBody>
          <a:bodyPr wrap="square" lIns="0" tIns="0" rIns="0" bIns="0" rtlCol="0" anchor="ctr"/>
          <a:lstStyle/>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Reachability from</a:t>
            </a:r>
            <a:endParaRPr lang="en-US" sz="1000" dirty="0"/>
          </a:p>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everything that</a:t>
            </a:r>
            <a:endParaRPr lang="en-US" sz="1000" dirty="0"/>
          </a:p>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runs or is seen</a:t>
            </a:r>
            <a:endParaRPr lang="en-US" sz="1000" dirty="0"/>
          </a:p>
        </p:txBody>
      </p:sp>
      <p:sp>
        <p:nvSpPr>
          <p:cNvPr id="39" name="Shape 37"/>
          <p:cNvSpPr/>
          <p:nvPr/>
        </p:nvSpPr>
        <p:spPr>
          <a:xfrm rot="5400000">
            <a:off x="2679192" y="4764024"/>
            <a:ext cx="137160" cy="201168"/>
          </a:xfrm>
          <a:prstGeom prst="triangle">
            <a:avLst/>
          </a:prstGeom>
          <a:solidFill>
            <a:srgbClr val="9AA8B8"/>
          </a:solidFill>
          <a:ln/>
        </p:spPr>
      </p:sp>
      <p:sp>
        <p:nvSpPr>
          <p:cNvPr id="40" name="Shape 38"/>
          <p:cNvSpPr/>
          <p:nvPr/>
        </p:nvSpPr>
        <p:spPr>
          <a:xfrm>
            <a:off x="2816352" y="3950208"/>
            <a:ext cx="2084832" cy="1847088"/>
          </a:xfrm>
          <a:prstGeom prst="roundRect">
            <a:avLst>
              <a:gd name="adj" fmla="val 2970"/>
            </a:avLst>
          </a:prstGeom>
          <a:solidFill>
            <a:srgbClr val="F6F8FB"/>
          </a:solidFill>
          <a:ln w="12700">
            <a:solidFill>
              <a:srgbClr val="DDE4EC"/>
            </a:solidFill>
            <a:prstDash val="solid"/>
          </a:ln>
        </p:spPr>
      </p:sp>
      <p:sp>
        <p:nvSpPr>
          <p:cNvPr id="41" name="Shape 39"/>
          <p:cNvSpPr/>
          <p:nvPr/>
        </p:nvSpPr>
        <p:spPr>
          <a:xfrm>
            <a:off x="3035808" y="4151376"/>
            <a:ext cx="329184" cy="329184"/>
          </a:xfrm>
          <a:prstGeom prst="ellipse">
            <a:avLst/>
          </a:prstGeom>
          <a:solidFill>
            <a:srgbClr val="F0A030"/>
          </a:solidFill>
          <a:ln/>
        </p:spPr>
      </p:sp>
      <p:sp>
        <p:nvSpPr>
          <p:cNvPr id="42" name="Text 40"/>
          <p:cNvSpPr/>
          <p:nvPr/>
        </p:nvSpPr>
        <p:spPr>
          <a:xfrm>
            <a:off x="3035808" y="4151376"/>
            <a:ext cx="329184" cy="329184"/>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7</a:t>
            </a:r>
            <a:endParaRPr lang="en-US" sz="1250" dirty="0"/>
          </a:p>
        </p:txBody>
      </p:sp>
      <p:sp>
        <p:nvSpPr>
          <p:cNvPr id="43" name="Text 41"/>
          <p:cNvSpPr/>
          <p:nvPr/>
        </p:nvSpPr>
        <p:spPr>
          <a:xfrm>
            <a:off x="3438144" y="4133088"/>
            <a:ext cx="1371600" cy="274320"/>
          </a:xfrm>
          <a:prstGeom prst="rect">
            <a:avLst/>
          </a:prstGeom>
          <a:noFill/>
          <a:ln/>
        </p:spPr>
        <p:txBody>
          <a:bodyPr wrap="square" lIns="0" tIns="0" rIns="0" bIns="0" rtlCol="0" anchor="ctr"/>
          <a:lstStyle/>
          <a:p>
            <a:pPr indent="0" marL="0">
              <a:buNone/>
            </a:pPr>
            <a:r>
              <a:rPr lang="en-US" sz="1350" b="1" dirty="0">
                <a:solidFill>
                  <a:srgbClr val="0F1620"/>
                </a:solidFill>
                <a:latin typeface="Arial" pitchFamily="34" charset="0"/>
                <a:ea typeface="Arial" pitchFamily="34" charset="-122"/>
                <a:cs typeface="Arial" pitchFamily="34" charset="-120"/>
              </a:rPr>
              <a:t>Classify</a:t>
            </a:r>
            <a:endParaRPr lang="en-US" sz="1350" dirty="0"/>
          </a:p>
        </p:txBody>
      </p:sp>
      <p:sp>
        <p:nvSpPr>
          <p:cNvPr id="44" name="Text 42"/>
          <p:cNvSpPr/>
          <p:nvPr/>
        </p:nvSpPr>
        <p:spPr>
          <a:xfrm>
            <a:off x="3035808" y="4517136"/>
            <a:ext cx="1755648" cy="1133856"/>
          </a:xfrm>
          <a:prstGeom prst="rect">
            <a:avLst/>
          </a:prstGeom>
          <a:noFill/>
          <a:ln/>
        </p:spPr>
        <p:txBody>
          <a:bodyPr wrap="square" lIns="0" tIns="0" rIns="0" bIns="0" rtlCol="0" anchor="ctr"/>
          <a:lstStyle/>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Deterministic rules,</a:t>
            </a:r>
            <a:endParaRPr lang="en-US" sz="1000" dirty="0"/>
          </a:p>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first match wins</a:t>
            </a:r>
            <a:endParaRPr lang="en-US" sz="1000" dirty="0"/>
          </a:p>
        </p:txBody>
      </p:sp>
      <p:sp>
        <p:nvSpPr>
          <p:cNvPr id="45" name="Shape 43"/>
          <p:cNvSpPr/>
          <p:nvPr/>
        </p:nvSpPr>
        <p:spPr>
          <a:xfrm rot="5400000">
            <a:off x="4928616" y="4764024"/>
            <a:ext cx="137160" cy="201168"/>
          </a:xfrm>
          <a:prstGeom prst="triangle">
            <a:avLst/>
          </a:prstGeom>
          <a:solidFill>
            <a:srgbClr val="9AA8B8"/>
          </a:solidFill>
          <a:ln/>
        </p:spPr>
      </p:sp>
      <p:sp>
        <p:nvSpPr>
          <p:cNvPr id="46" name="Shape 44"/>
          <p:cNvSpPr/>
          <p:nvPr/>
        </p:nvSpPr>
        <p:spPr>
          <a:xfrm>
            <a:off x="5065776" y="3950208"/>
            <a:ext cx="2084832" cy="1847088"/>
          </a:xfrm>
          <a:prstGeom prst="roundRect">
            <a:avLst>
              <a:gd name="adj" fmla="val 2970"/>
            </a:avLst>
          </a:prstGeom>
          <a:solidFill>
            <a:srgbClr val="F6F8FB"/>
          </a:solidFill>
          <a:ln w="12700">
            <a:solidFill>
              <a:srgbClr val="DDE4EC"/>
            </a:solidFill>
            <a:prstDash val="solid"/>
          </a:ln>
        </p:spPr>
      </p:sp>
      <p:sp>
        <p:nvSpPr>
          <p:cNvPr id="47" name="Shape 45"/>
          <p:cNvSpPr/>
          <p:nvPr/>
        </p:nvSpPr>
        <p:spPr>
          <a:xfrm>
            <a:off x="5285232" y="4151376"/>
            <a:ext cx="329184" cy="329184"/>
          </a:xfrm>
          <a:prstGeom prst="ellipse">
            <a:avLst/>
          </a:prstGeom>
          <a:solidFill>
            <a:srgbClr val="F0A030"/>
          </a:solidFill>
          <a:ln/>
        </p:spPr>
      </p:sp>
      <p:sp>
        <p:nvSpPr>
          <p:cNvPr id="48" name="Text 46"/>
          <p:cNvSpPr/>
          <p:nvPr/>
        </p:nvSpPr>
        <p:spPr>
          <a:xfrm>
            <a:off x="5285232" y="4151376"/>
            <a:ext cx="329184" cy="329184"/>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8</a:t>
            </a:r>
            <a:endParaRPr lang="en-US" sz="1250" dirty="0"/>
          </a:p>
        </p:txBody>
      </p:sp>
      <p:sp>
        <p:nvSpPr>
          <p:cNvPr id="49" name="Text 47"/>
          <p:cNvSpPr/>
          <p:nvPr/>
        </p:nvSpPr>
        <p:spPr>
          <a:xfrm>
            <a:off x="5687568" y="4133088"/>
            <a:ext cx="1371600" cy="274320"/>
          </a:xfrm>
          <a:prstGeom prst="rect">
            <a:avLst/>
          </a:prstGeom>
          <a:noFill/>
          <a:ln/>
        </p:spPr>
        <p:txBody>
          <a:bodyPr wrap="square" lIns="0" tIns="0" rIns="0" bIns="0" rtlCol="0" anchor="ctr"/>
          <a:lstStyle/>
          <a:p>
            <a:pPr indent="0" marL="0">
              <a:buNone/>
            </a:pPr>
            <a:r>
              <a:rPr lang="en-US" sz="1350" b="1" dirty="0">
                <a:solidFill>
                  <a:srgbClr val="0F1620"/>
                </a:solidFill>
                <a:latin typeface="Arial" pitchFamily="34" charset="0"/>
                <a:ea typeface="Arial" pitchFamily="34" charset="-122"/>
                <a:cs typeface="Arial" pitchFamily="34" charset="-120"/>
              </a:rPr>
              <a:t>Rehearse</a:t>
            </a:r>
            <a:endParaRPr lang="en-US" sz="1350" dirty="0"/>
          </a:p>
        </p:txBody>
      </p:sp>
      <p:sp>
        <p:nvSpPr>
          <p:cNvPr id="50" name="Text 48"/>
          <p:cNvSpPr/>
          <p:nvPr/>
        </p:nvSpPr>
        <p:spPr>
          <a:xfrm>
            <a:off x="5285232" y="4517136"/>
            <a:ext cx="1755648" cy="1133856"/>
          </a:xfrm>
          <a:prstGeom prst="rect">
            <a:avLst/>
          </a:prstGeom>
          <a:noFill/>
          <a:ln/>
        </p:spPr>
        <p:txBody>
          <a:bodyPr wrap="square" lIns="0" tIns="0" rIns="0" bIns="0" rtlCol="0" anchor="ctr"/>
          <a:lstStyle/>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Ask Salesforce if</a:t>
            </a:r>
            <a:endParaRPr lang="en-US" sz="1000" dirty="0"/>
          </a:p>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the delete would</a:t>
            </a:r>
            <a:endParaRPr lang="en-US" sz="1000" dirty="0"/>
          </a:p>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actually succeed</a:t>
            </a:r>
            <a:endParaRPr lang="en-US" sz="1000" dirty="0"/>
          </a:p>
        </p:txBody>
      </p:sp>
      <p:sp>
        <p:nvSpPr>
          <p:cNvPr id="51" name="Shape 49"/>
          <p:cNvSpPr/>
          <p:nvPr/>
        </p:nvSpPr>
        <p:spPr>
          <a:xfrm rot="5400000">
            <a:off x="7178040" y="4764024"/>
            <a:ext cx="137160" cy="201168"/>
          </a:xfrm>
          <a:prstGeom prst="triangle">
            <a:avLst/>
          </a:prstGeom>
          <a:solidFill>
            <a:srgbClr val="9AA8B8"/>
          </a:solidFill>
          <a:ln/>
        </p:spPr>
      </p:sp>
      <p:sp>
        <p:nvSpPr>
          <p:cNvPr id="52" name="Shape 50"/>
          <p:cNvSpPr/>
          <p:nvPr/>
        </p:nvSpPr>
        <p:spPr>
          <a:xfrm>
            <a:off x="7315200" y="3950208"/>
            <a:ext cx="2084832" cy="1847088"/>
          </a:xfrm>
          <a:prstGeom prst="roundRect">
            <a:avLst>
              <a:gd name="adj" fmla="val 2970"/>
            </a:avLst>
          </a:prstGeom>
          <a:solidFill>
            <a:srgbClr val="F6F8FB"/>
          </a:solidFill>
          <a:ln w="12700">
            <a:solidFill>
              <a:srgbClr val="DDE4EC"/>
            </a:solidFill>
            <a:prstDash val="solid"/>
          </a:ln>
        </p:spPr>
      </p:sp>
      <p:sp>
        <p:nvSpPr>
          <p:cNvPr id="53" name="Shape 51"/>
          <p:cNvSpPr/>
          <p:nvPr/>
        </p:nvSpPr>
        <p:spPr>
          <a:xfrm>
            <a:off x="7534656" y="4151376"/>
            <a:ext cx="329184" cy="329184"/>
          </a:xfrm>
          <a:prstGeom prst="ellipse">
            <a:avLst/>
          </a:prstGeom>
          <a:solidFill>
            <a:srgbClr val="F0A030"/>
          </a:solidFill>
          <a:ln/>
        </p:spPr>
      </p:sp>
      <p:sp>
        <p:nvSpPr>
          <p:cNvPr id="54" name="Text 52"/>
          <p:cNvSpPr/>
          <p:nvPr/>
        </p:nvSpPr>
        <p:spPr>
          <a:xfrm>
            <a:off x="7534656" y="4151376"/>
            <a:ext cx="329184" cy="329184"/>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9</a:t>
            </a:r>
            <a:endParaRPr lang="en-US" sz="1250" dirty="0"/>
          </a:p>
        </p:txBody>
      </p:sp>
      <p:sp>
        <p:nvSpPr>
          <p:cNvPr id="55" name="Text 53"/>
          <p:cNvSpPr/>
          <p:nvPr/>
        </p:nvSpPr>
        <p:spPr>
          <a:xfrm>
            <a:off x="7936992" y="4133088"/>
            <a:ext cx="1371600" cy="274320"/>
          </a:xfrm>
          <a:prstGeom prst="rect">
            <a:avLst/>
          </a:prstGeom>
          <a:noFill/>
          <a:ln/>
        </p:spPr>
        <p:txBody>
          <a:bodyPr wrap="square" lIns="0" tIns="0" rIns="0" bIns="0" rtlCol="0" anchor="ctr"/>
          <a:lstStyle/>
          <a:p>
            <a:pPr indent="0" marL="0">
              <a:buNone/>
            </a:pPr>
            <a:r>
              <a:rPr lang="en-US" sz="1350" b="1" dirty="0">
                <a:solidFill>
                  <a:srgbClr val="0F1620"/>
                </a:solidFill>
                <a:latin typeface="Arial" pitchFamily="34" charset="0"/>
                <a:ea typeface="Arial" pitchFamily="34" charset="-122"/>
                <a:cs typeface="Arial" pitchFamily="34" charset="-120"/>
              </a:rPr>
              <a:t>Review</a:t>
            </a:r>
            <a:endParaRPr lang="en-US" sz="1350" dirty="0"/>
          </a:p>
        </p:txBody>
      </p:sp>
      <p:sp>
        <p:nvSpPr>
          <p:cNvPr id="56" name="Text 54"/>
          <p:cNvSpPr/>
          <p:nvPr/>
        </p:nvSpPr>
        <p:spPr>
          <a:xfrm>
            <a:off x="7534656" y="4517136"/>
            <a:ext cx="1755648" cy="1133856"/>
          </a:xfrm>
          <a:prstGeom prst="rect">
            <a:avLst/>
          </a:prstGeom>
          <a:noFill/>
          <a:ln/>
        </p:spPr>
        <p:txBody>
          <a:bodyPr wrap="square" lIns="0" tIns="0" rIns="0" bIns="0" rtlCol="0" anchor="ctr"/>
          <a:lstStyle/>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AI summary, then</a:t>
            </a:r>
            <a:endParaRPr lang="en-US" sz="1000" dirty="0"/>
          </a:p>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a human decides</a:t>
            </a:r>
            <a:endParaRPr lang="en-US" sz="1000" dirty="0"/>
          </a:p>
        </p:txBody>
      </p:sp>
      <p:sp>
        <p:nvSpPr>
          <p:cNvPr id="57" name="Shape 55"/>
          <p:cNvSpPr/>
          <p:nvPr/>
        </p:nvSpPr>
        <p:spPr>
          <a:xfrm rot="5400000">
            <a:off x="9427464" y="4764024"/>
            <a:ext cx="137160" cy="201168"/>
          </a:xfrm>
          <a:prstGeom prst="triangle">
            <a:avLst/>
          </a:prstGeom>
          <a:solidFill>
            <a:srgbClr val="9AA8B8"/>
          </a:solidFill>
          <a:ln/>
        </p:spPr>
      </p:sp>
      <p:sp>
        <p:nvSpPr>
          <p:cNvPr id="58" name="Shape 56"/>
          <p:cNvSpPr/>
          <p:nvPr/>
        </p:nvSpPr>
        <p:spPr>
          <a:xfrm>
            <a:off x="9564624" y="3950208"/>
            <a:ext cx="2084832" cy="1847088"/>
          </a:xfrm>
          <a:prstGeom prst="roundRect">
            <a:avLst>
              <a:gd name="adj" fmla="val 2970"/>
            </a:avLst>
          </a:prstGeom>
          <a:solidFill>
            <a:srgbClr val="F6F8FB"/>
          </a:solidFill>
          <a:ln w="12700">
            <a:solidFill>
              <a:srgbClr val="DDE4EC"/>
            </a:solidFill>
            <a:prstDash val="solid"/>
          </a:ln>
        </p:spPr>
      </p:sp>
      <p:sp>
        <p:nvSpPr>
          <p:cNvPr id="59" name="Shape 57"/>
          <p:cNvSpPr/>
          <p:nvPr/>
        </p:nvSpPr>
        <p:spPr>
          <a:xfrm>
            <a:off x="9784080" y="4151376"/>
            <a:ext cx="329184" cy="329184"/>
          </a:xfrm>
          <a:prstGeom prst="ellipse">
            <a:avLst/>
          </a:prstGeom>
          <a:solidFill>
            <a:srgbClr val="F0A030"/>
          </a:solidFill>
          <a:ln/>
        </p:spPr>
      </p:sp>
      <p:sp>
        <p:nvSpPr>
          <p:cNvPr id="60" name="Text 58"/>
          <p:cNvSpPr/>
          <p:nvPr/>
        </p:nvSpPr>
        <p:spPr>
          <a:xfrm>
            <a:off x="9784080" y="4151376"/>
            <a:ext cx="329184" cy="329184"/>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10</a:t>
            </a:r>
            <a:endParaRPr lang="en-US" sz="1250" dirty="0"/>
          </a:p>
        </p:txBody>
      </p:sp>
      <p:sp>
        <p:nvSpPr>
          <p:cNvPr id="61" name="Text 59"/>
          <p:cNvSpPr/>
          <p:nvPr/>
        </p:nvSpPr>
        <p:spPr>
          <a:xfrm>
            <a:off x="10186416" y="4133088"/>
            <a:ext cx="1371600" cy="274320"/>
          </a:xfrm>
          <a:prstGeom prst="rect">
            <a:avLst/>
          </a:prstGeom>
          <a:noFill/>
          <a:ln/>
        </p:spPr>
        <p:txBody>
          <a:bodyPr wrap="square" lIns="0" tIns="0" rIns="0" bIns="0" rtlCol="0" anchor="ctr"/>
          <a:lstStyle/>
          <a:p>
            <a:pPr indent="0" marL="0">
              <a:buNone/>
            </a:pPr>
            <a:r>
              <a:rPr lang="en-US" sz="1350" b="1" dirty="0">
                <a:solidFill>
                  <a:srgbClr val="0F1620"/>
                </a:solidFill>
                <a:latin typeface="Arial" pitchFamily="34" charset="0"/>
                <a:ea typeface="Arial" pitchFamily="34" charset="-122"/>
                <a:cs typeface="Arial" pitchFamily="34" charset="-120"/>
              </a:rPr>
              <a:t>Remediate</a:t>
            </a:r>
            <a:endParaRPr lang="en-US" sz="1350" dirty="0"/>
          </a:p>
        </p:txBody>
      </p:sp>
      <p:sp>
        <p:nvSpPr>
          <p:cNvPr id="62" name="Text 60"/>
          <p:cNvSpPr/>
          <p:nvPr/>
        </p:nvSpPr>
        <p:spPr>
          <a:xfrm>
            <a:off x="9784080" y="4517136"/>
            <a:ext cx="1755648" cy="1133856"/>
          </a:xfrm>
          <a:prstGeom prst="rect">
            <a:avLst/>
          </a:prstGeom>
          <a:noFill/>
          <a:ln/>
        </p:spPr>
        <p:txBody>
          <a:bodyPr wrap="square" lIns="0" tIns="0" rIns="0" bIns="0" rtlCol="0" anchor="ctr"/>
          <a:lstStyle/>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Agent removes,</a:t>
            </a:r>
            <a:endParaRPr lang="en-US" sz="1000" dirty="0"/>
          </a:p>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refactors, opens</a:t>
            </a:r>
            <a:endParaRPr lang="en-US" sz="1000" dirty="0"/>
          </a:p>
          <a:p>
            <a:pPr indent="0" marL="0">
              <a:lnSpc>
                <a:spcPts val="1300"/>
              </a:lnSpc>
              <a:buNone/>
            </a:pPr>
            <a:r>
              <a:rPr lang="en-US" sz="1000" dirty="0">
                <a:solidFill>
                  <a:srgbClr val="65707F"/>
                </a:solidFill>
                <a:latin typeface="Calibri" pitchFamily="34" charset="0"/>
                <a:ea typeface="Calibri" pitchFamily="34" charset="-122"/>
                <a:cs typeface="Calibri" pitchFamily="34" charset="-120"/>
              </a:rPr>
              <a:t>a pull request</a:t>
            </a:r>
            <a:endParaRPr lang="en-US" sz="1000" dirty="0"/>
          </a:p>
        </p:txBody>
      </p:sp>
      <p:sp>
        <p:nvSpPr>
          <p:cNvPr id="63" name="Text 61"/>
          <p:cNvSpPr/>
          <p:nvPr/>
        </p:nvSpPr>
        <p:spPr>
          <a:xfrm>
            <a:off x="566928" y="6053328"/>
            <a:ext cx="10332720" cy="329184"/>
          </a:xfrm>
          <a:prstGeom prst="rect">
            <a:avLst/>
          </a:prstGeom>
          <a:noFill/>
          <a:ln/>
        </p:spPr>
        <p:txBody>
          <a:bodyPr wrap="square" lIns="0" tIns="0" rIns="0" bIns="0" rtlCol="0" anchor="ctr"/>
          <a:lstStyle/>
          <a:p>
            <a:pPr indent="0" marL="0">
              <a:buNone/>
            </a:pPr>
            <a:r>
              <a:rPr lang="en-US" sz="1250" i="1" dirty="0">
                <a:solidFill>
                  <a:srgbClr val="55606E"/>
                </a:solidFill>
                <a:latin typeface="Calibri" pitchFamily="34" charset="0"/>
                <a:ea typeface="Calibri" pitchFamily="34" charset="-122"/>
                <a:cs typeface="Calibri" pitchFamily="34" charset="-120"/>
              </a:rPr>
              <a:t>Stages 4 to 7 make no API calls at all — the org is read once, then analysed locally.</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11411712" y="6455664"/>
            <a:ext cx="365760" cy="274320"/>
          </a:xfrm>
          <a:prstGeom prst="rect">
            <a:avLst/>
          </a:prstGeom>
          <a:noFill/>
          <a:ln/>
        </p:spPr>
        <p:txBody>
          <a:bodyPr wrap="square" lIns="0" tIns="0" rIns="0" bIns="0" rtlCol="0" anchor="ctr"/>
          <a:lstStyle/>
          <a:p>
            <a:pPr algn="r" indent="0" marL="0">
              <a:buNone/>
            </a:pPr>
            <a:r>
              <a:rPr lang="en-US" sz="1000" dirty="0">
                <a:solidFill>
                  <a:srgbClr val="76849A"/>
                </a:solidFill>
                <a:latin typeface="Calibri" pitchFamily="34" charset="0"/>
                <a:ea typeface="Calibri" pitchFamily="34" charset="-122"/>
                <a:cs typeface="Calibri" pitchFamily="34" charset="-120"/>
              </a:rPr>
              <a:t>11</a:t>
            </a:r>
            <a:endParaRPr lang="en-US" sz="1000" dirty="0"/>
          </a:p>
        </p:txBody>
      </p:sp>
      <p:sp>
        <p:nvSpPr>
          <p:cNvPr id="3" name="Text 1"/>
          <p:cNvSpPr/>
          <p:nvPr/>
        </p:nvSpPr>
        <p:spPr>
          <a:xfrm>
            <a:off x="566928" y="402336"/>
            <a:ext cx="11055096" cy="713232"/>
          </a:xfrm>
          <a:prstGeom prst="rect">
            <a:avLst/>
          </a:prstGeom>
          <a:noFill/>
          <a:ln/>
        </p:spPr>
        <p:txBody>
          <a:bodyPr wrap="square" lIns="0" tIns="0" rIns="0" bIns="0" rtlCol="0" anchor="ctr"/>
          <a:lstStyle/>
          <a:p>
            <a:pPr indent="0" marL="0">
              <a:buNone/>
            </a:pPr>
            <a:r>
              <a:rPr lang="en-US" sz="3400" b="1" dirty="0">
                <a:solidFill>
                  <a:srgbClr val="F2F5F8"/>
                </a:solidFill>
                <a:latin typeface="Arial" pitchFamily="34" charset="0"/>
                <a:ea typeface="Arial" pitchFamily="34" charset="-122"/>
                <a:cs typeface="Arial" pitchFamily="34" charset="-120"/>
              </a:rPr>
              <a:t>How we prove nothing uses a component</a:t>
            </a:r>
            <a:endParaRPr lang="en-US" sz="3400" dirty="0"/>
          </a:p>
        </p:txBody>
      </p:sp>
      <p:sp>
        <p:nvSpPr>
          <p:cNvPr id="4" name="Text 2"/>
          <p:cNvSpPr/>
          <p:nvPr/>
        </p:nvSpPr>
        <p:spPr>
          <a:xfrm>
            <a:off x="566928" y="1115568"/>
            <a:ext cx="11055096" cy="402336"/>
          </a:xfrm>
          <a:prstGeom prst="rect">
            <a:avLst/>
          </a:prstGeom>
          <a:noFill/>
          <a:ln/>
        </p:spPr>
        <p:txBody>
          <a:bodyPr wrap="square" lIns="0" tIns="0" rIns="0" bIns="0" rtlCol="0" anchor="ctr"/>
          <a:lstStyle/>
          <a:p>
            <a:pPr indent="0" marL="0">
              <a:buNone/>
            </a:pPr>
            <a:r>
              <a:rPr lang="en-US" sz="1450" dirty="0">
                <a:solidFill>
                  <a:srgbClr val="A8B4C4"/>
                </a:solidFill>
                <a:latin typeface="Calibri" pitchFamily="34" charset="0"/>
                <a:ea typeface="Calibri" pitchFamily="34" charset="-122"/>
                <a:cs typeface="Calibri" pitchFamily="34" charset="-120"/>
              </a:rPr>
              <a:t>Nine independent checks. None of them is allowed to decide alone.</a:t>
            </a:r>
            <a:endParaRPr lang="en-US" sz="1450" dirty="0"/>
          </a:p>
        </p:txBody>
      </p:sp>
      <p:sp>
        <p:nvSpPr>
          <p:cNvPr id="5" name="Shape 3"/>
          <p:cNvSpPr/>
          <p:nvPr/>
        </p:nvSpPr>
        <p:spPr>
          <a:xfrm>
            <a:off x="566928" y="1773936"/>
            <a:ext cx="3520440" cy="1280160"/>
          </a:xfrm>
          <a:prstGeom prst="roundRect">
            <a:avLst>
              <a:gd name="adj" fmla="val 4286"/>
            </a:avLst>
          </a:prstGeom>
          <a:solidFill>
            <a:srgbClr val="1A2430"/>
          </a:solidFill>
          <a:ln w="12700">
            <a:solidFill>
              <a:srgbClr val="32435A"/>
            </a:solidFill>
            <a:prstDash val="solid"/>
          </a:ln>
        </p:spPr>
      </p:sp>
      <p:sp>
        <p:nvSpPr>
          <p:cNvPr id="6" name="Shape 4"/>
          <p:cNvSpPr/>
          <p:nvPr/>
        </p:nvSpPr>
        <p:spPr>
          <a:xfrm>
            <a:off x="822960" y="2011680"/>
            <a:ext cx="201168" cy="201168"/>
          </a:xfrm>
          <a:prstGeom prst="ellipse">
            <a:avLst/>
          </a:prstGeom>
          <a:solidFill>
            <a:srgbClr val="29B6D8"/>
          </a:solidFill>
          <a:ln/>
        </p:spPr>
      </p:sp>
      <p:sp>
        <p:nvSpPr>
          <p:cNvPr id="7" name="Text 5"/>
          <p:cNvSpPr/>
          <p:nvPr/>
        </p:nvSpPr>
        <p:spPr>
          <a:xfrm>
            <a:off x="1133856" y="1938528"/>
            <a:ext cx="2788920" cy="292608"/>
          </a:xfrm>
          <a:prstGeom prst="rect">
            <a:avLst/>
          </a:prstGeom>
          <a:noFill/>
          <a:ln/>
        </p:spPr>
        <p:txBody>
          <a:bodyPr wrap="square" lIns="0" tIns="0" rIns="0" bIns="0" rtlCol="0" anchor="ctr"/>
          <a:lstStyle/>
          <a:p>
            <a:pPr indent="0" marL="0">
              <a:buNone/>
            </a:pPr>
            <a:r>
              <a:rPr lang="en-US" sz="1350" b="1" dirty="0">
                <a:solidFill>
                  <a:srgbClr val="F2F5F8"/>
                </a:solidFill>
                <a:latin typeface="Arial" pitchFamily="34" charset="0"/>
                <a:ea typeface="Arial" pitchFamily="34" charset="-122"/>
                <a:cs typeface="Arial" pitchFamily="34" charset="-120"/>
              </a:rPr>
              <a:t>Static references</a:t>
            </a:r>
            <a:endParaRPr lang="en-US" sz="1350" dirty="0"/>
          </a:p>
        </p:txBody>
      </p:sp>
      <p:sp>
        <p:nvSpPr>
          <p:cNvPr id="8" name="Text 6"/>
          <p:cNvSpPr/>
          <p:nvPr/>
        </p:nvSpPr>
        <p:spPr>
          <a:xfrm>
            <a:off x="841248" y="2340864"/>
            <a:ext cx="3108960" cy="603504"/>
          </a:xfrm>
          <a:prstGeom prst="rect">
            <a:avLst/>
          </a:prstGeom>
          <a:noFill/>
          <a:ln/>
        </p:spPr>
        <p:txBody>
          <a:bodyPr wrap="square" lIns="0" tIns="0" rIns="0" bIns="0" rtlCol="0" anchor="ctr"/>
          <a:lstStyle/>
          <a:p>
            <a:pPr indent="0" marL="0">
              <a:lnSpc>
                <a:spcPts val="1400"/>
              </a:lnSpc>
              <a:buNone/>
            </a:pPr>
            <a:r>
              <a:rPr lang="en-US" sz="1050" dirty="0">
                <a:solidFill>
                  <a:srgbClr val="A8B4C4"/>
                </a:solidFill>
                <a:latin typeface="Calibri" pitchFamily="34" charset="0"/>
                <a:ea typeface="Calibri" pitchFamily="34" charset="-122"/>
                <a:cs typeface="Calibri" pitchFamily="34" charset="-120"/>
              </a:rPr>
              <a:t>Token, literal and merge-field search across all retrieved metadata</a:t>
            </a:r>
            <a:endParaRPr lang="en-US" sz="1050" dirty="0"/>
          </a:p>
        </p:txBody>
      </p:sp>
      <p:sp>
        <p:nvSpPr>
          <p:cNvPr id="9" name="Shape 7"/>
          <p:cNvSpPr/>
          <p:nvPr/>
        </p:nvSpPr>
        <p:spPr>
          <a:xfrm>
            <a:off x="4297680" y="1773936"/>
            <a:ext cx="3520440" cy="1280160"/>
          </a:xfrm>
          <a:prstGeom prst="roundRect">
            <a:avLst>
              <a:gd name="adj" fmla="val 4286"/>
            </a:avLst>
          </a:prstGeom>
          <a:solidFill>
            <a:srgbClr val="1A2430"/>
          </a:solidFill>
          <a:ln w="12700">
            <a:solidFill>
              <a:srgbClr val="32435A"/>
            </a:solidFill>
            <a:prstDash val="solid"/>
          </a:ln>
        </p:spPr>
      </p:sp>
      <p:sp>
        <p:nvSpPr>
          <p:cNvPr id="10" name="Shape 8"/>
          <p:cNvSpPr/>
          <p:nvPr/>
        </p:nvSpPr>
        <p:spPr>
          <a:xfrm>
            <a:off x="4553712" y="2011680"/>
            <a:ext cx="201168" cy="201168"/>
          </a:xfrm>
          <a:prstGeom prst="ellipse">
            <a:avLst/>
          </a:prstGeom>
          <a:solidFill>
            <a:srgbClr val="29B6D8"/>
          </a:solidFill>
          <a:ln/>
        </p:spPr>
      </p:sp>
      <p:sp>
        <p:nvSpPr>
          <p:cNvPr id="11" name="Text 9"/>
          <p:cNvSpPr/>
          <p:nvPr/>
        </p:nvSpPr>
        <p:spPr>
          <a:xfrm>
            <a:off x="4864608" y="1938528"/>
            <a:ext cx="2788920" cy="292608"/>
          </a:xfrm>
          <a:prstGeom prst="rect">
            <a:avLst/>
          </a:prstGeom>
          <a:noFill/>
          <a:ln/>
        </p:spPr>
        <p:txBody>
          <a:bodyPr wrap="square" lIns="0" tIns="0" rIns="0" bIns="0" rtlCol="0" anchor="ctr"/>
          <a:lstStyle/>
          <a:p>
            <a:pPr indent="0" marL="0">
              <a:buNone/>
            </a:pPr>
            <a:r>
              <a:rPr lang="en-US" sz="1350" b="1" dirty="0">
                <a:solidFill>
                  <a:srgbClr val="F2F5F8"/>
                </a:solidFill>
                <a:latin typeface="Arial" pitchFamily="34" charset="0"/>
                <a:ea typeface="Arial" pitchFamily="34" charset="-122"/>
                <a:cs typeface="Arial" pitchFamily="34" charset="-120"/>
              </a:rPr>
              <a:t>Dependency API</a:t>
            </a:r>
            <a:endParaRPr lang="en-US" sz="1350" dirty="0"/>
          </a:p>
        </p:txBody>
      </p:sp>
      <p:sp>
        <p:nvSpPr>
          <p:cNvPr id="12" name="Text 10"/>
          <p:cNvSpPr/>
          <p:nvPr/>
        </p:nvSpPr>
        <p:spPr>
          <a:xfrm>
            <a:off x="4572000" y="2340864"/>
            <a:ext cx="3108960" cy="603504"/>
          </a:xfrm>
          <a:prstGeom prst="rect">
            <a:avLst/>
          </a:prstGeom>
          <a:noFill/>
          <a:ln/>
        </p:spPr>
        <p:txBody>
          <a:bodyPr wrap="square" lIns="0" tIns="0" rIns="0" bIns="0" rtlCol="0" anchor="ctr"/>
          <a:lstStyle/>
          <a:p>
            <a:pPr indent="0" marL="0">
              <a:lnSpc>
                <a:spcPts val="1400"/>
              </a:lnSpc>
              <a:buNone/>
            </a:pPr>
            <a:r>
              <a:rPr lang="en-US" sz="1050" dirty="0">
                <a:solidFill>
                  <a:srgbClr val="A8B4C4"/>
                </a:solidFill>
                <a:latin typeface="Calibri" pitchFamily="34" charset="0"/>
                <a:ea typeface="Calibri" pitchFamily="34" charset="-122"/>
                <a:cs typeface="Calibri" pitchFamily="34" charset="-120"/>
              </a:rPr>
              <a:t>Salesforce's own recorded dependency edges</a:t>
            </a:r>
            <a:endParaRPr lang="en-US" sz="1050" dirty="0"/>
          </a:p>
        </p:txBody>
      </p:sp>
      <p:sp>
        <p:nvSpPr>
          <p:cNvPr id="13" name="Shape 11"/>
          <p:cNvSpPr/>
          <p:nvPr/>
        </p:nvSpPr>
        <p:spPr>
          <a:xfrm>
            <a:off x="8028432" y="1773936"/>
            <a:ext cx="3520440" cy="1280160"/>
          </a:xfrm>
          <a:prstGeom prst="roundRect">
            <a:avLst>
              <a:gd name="adj" fmla="val 4286"/>
            </a:avLst>
          </a:prstGeom>
          <a:solidFill>
            <a:srgbClr val="1A2430"/>
          </a:solidFill>
          <a:ln w="12700">
            <a:solidFill>
              <a:srgbClr val="32435A"/>
            </a:solidFill>
            <a:prstDash val="solid"/>
          </a:ln>
        </p:spPr>
      </p:sp>
      <p:sp>
        <p:nvSpPr>
          <p:cNvPr id="14" name="Shape 12"/>
          <p:cNvSpPr/>
          <p:nvPr/>
        </p:nvSpPr>
        <p:spPr>
          <a:xfrm>
            <a:off x="8284464" y="2011680"/>
            <a:ext cx="201168" cy="201168"/>
          </a:xfrm>
          <a:prstGeom prst="ellipse">
            <a:avLst/>
          </a:prstGeom>
          <a:solidFill>
            <a:srgbClr val="3FBF92"/>
          </a:solidFill>
          <a:ln/>
        </p:spPr>
      </p:sp>
      <p:sp>
        <p:nvSpPr>
          <p:cNvPr id="15" name="Text 13"/>
          <p:cNvSpPr/>
          <p:nvPr/>
        </p:nvSpPr>
        <p:spPr>
          <a:xfrm>
            <a:off x="8595360" y="1938528"/>
            <a:ext cx="2788920" cy="292608"/>
          </a:xfrm>
          <a:prstGeom prst="rect">
            <a:avLst/>
          </a:prstGeom>
          <a:noFill/>
          <a:ln/>
        </p:spPr>
        <p:txBody>
          <a:bodyPr wrap="square" lIns="0" tIns="0" rIns="0" bIns="0" rtlCol="0" anchor="ctr"/>
          <a:lstStyle/>
          <a:p>
            <a:pPr indent="0" marL="0">
              <a:buNone/>
            </a:pPr>
            <a:r>
              <a:rPr lang="en-US" sz="1350" b="1" dirty="0">
                <a:solidFill>
                  <a:srgbClr val="F2F5F8"/>
                </a:solidFill>
                <a:latin typeface="Arial" pitchFamily="34" charset="0"/>
                <a:ea typeface="Arial" pitchFamily="34" charset="-122"/>
                <a:cs typeface="Arial" pitchFamily="34" charset="-120"/>
              </a:rPr>
              <a:t>Record data</a:t>
            </a:r>
            <a:endParaRPr lang="en-US" sz="1350" dirty="0"/>
          </a:p>
        </p:txBody>
      </p:sp>
      <p:sp>
        <p:nvSpPr>
          <p:cNvPr id="16" name="Text 14"/>
          <p:cNvSpPr/>
          <p:nvPr/>
        </p:nvSpPr>
        <p:spPr>
          <a:xfrm>
            <a:off x="8302752" y="2340864"/>
            <a:ext cx="3108960" cy="603504"/>
          </a:xfrm>
          <a:prstGeom prst="rect">
            <a:avLst/>
          </a:prstGeom>
          <a:noFill/>
          <a:ln/>
        </p:spPr>
        <p:txBody>
          <a:bodyPr wrap="square" lIns="0" tIns="0" rIns="0" bIns="0" rtlCol="0" anchor="ctr"/>
          <a:lstStyle/>
          <a:p>
            <a:pPr indent="0" marL="0">
              <a:lnSpc>
                <a:spcPts val="1400"/>
              </a:lnSpc>
              <a:buNone/>
            </a:pPr>
            <a:r>
              <a:rPr lang="en-US" sz="1050" dirty="0">
                <a:solidFill>
                  <a:srgbClr val="A8B4C4"/>
                </a:solidFill>
                <a:latin typeface="Calibri" pitchFamily="34" charset="0"/>
                <a:ea typeface="Calibri" pitchFamily="34" charset="-122"/>
                <a:cs typeface="Calibri" pitchFamily="34" charset="-120"/>
              </a:rPr>
              <a:t>Aggregate counts — does any record hold a value?</a:t>
            </a:r>
            <a:endParaRPr lang="en-US" sz="1050" dirty="0"/>
          </a:p>
        </p:txBody>
      </p:sp>
      <p:sp>
        <p:nvSpPr>
          <p:cNvPr id="17" name="Shape 15"/>
          <p:cNvSpPr/>
          <p:nvPr/>
        </p:nvSpPr>
        <p:spPr>
          <a:xfrm>
            <a:off x="566928" y="3218688"/>
            <a:ext cx="3520440" cy="1280160"/>
          </a:xfrm>
          <a:prstGeom prst="roundRect">
            <a:avLst>
              <a:gd name="adj" fmla="val 4286"/>
            </a:avLst>
          </a:prstGeom>
          <a:solidFill>
            <a:srgbClr val="1A2430"/>
          </a:solidFill>
          <a:ln w="12700">
            <a:solidFill>
              <a:srgbClr val="32435A"/>
            </a:solidFill>
            <a:prstDash val="solid"/>
          </a:ln>
        </p:spPr>
      </p:sp>
      <p:sp>
        <p:nvSpPr>
          <p:cNvPr id="18" name="Shape 16"/>
          <p:cNvSpPr/>
          <p:nvPr/>
        </p:nvSpPr>
        <p:spPr>
          <a:xfrm>
            <a:off x="822960" y="3456432"/>
            <a:ext cx="201168" cy="201168"/>
          </a:xfrm>
          <a:prstGeom prst="ellipse">
            <a:avLst/>
          </a:prstGeom>
          <a:solidFill>
            <a:srgbClr val="3FBF92"/>
          </a:solidFill>
          <a:ln/>
        </p:spPr>
      </p:sp>
      <p:sp>
        <p:nvSpPr>
          <p:cNvPr id="19" name="Text 17"/>
          <p:cNvSpPr/>
          <p:nvPr/>
        </p:nvSpPr>
        <p:spPr>
          <a:xfrm>
            <a:off x="1133856" y="3383280"/>
            <a:ext cx="2788920" cy="292608"/>
          </a:xfrm>
          <a:prstGeom prst="rect">
            <a:avLst/>
          </a:prstGeom>
          <a:noFill/>
          <a:ln/>
        </p:spPr>
        <p:txBody>
          <a:bodyPr wrap="square" lIns="0" tIns="0" rIns="0" bIns="0" rtlCol="0" anchor="ctr"/>
          <a:lstStyle/>
          <a:p>
            <a:pPr indent="0" marL="0">
              <a:buNone/>
            </a:pPr>
            <a:r>
              <a:rPr lang="en-US" sz="1350" b="1" dirty="0">
                <a:solidFill>
                  <a:srgbClr val="F2F5F8"/>
                </a:solidFill>
                <a:latin typeface="Arial" pitchFamily="34" charset="0"/>
                <a:ea typeface="Arial" pitchFamily="34" charset="-122"/>
                <a:cs typeface="Arial" pitchFamily="34" charset="-120"/>
              </a:rPr>
              <a:t>Runtime execution</a:t>
            </a:r>
            <a:endParaRPr lang="en-US" sz="1350" dirty="0"/>
          </a:p>
        </p:txBody>
      </p:sp>
      <p:sp>
        <p:nvSpPr>
          <p:cNvPr id="20" name="Text 18"/>
          <p:cNvSpPr/>
          <p:nvPr/>
        </p:nvSpPr>
        <p:spPr>
          <a:xfrm>
            <a:off x="841248" y="3785616"/>
            <a:ext cx="3108960" cy="603504"/>
          </a:xfrm>
          <a:prstGeom prst="rect">
            <a:avLst/>
          </a:prstGeom>
          <a:noFill/>
          <a:ln/>
        </p:spPr>
        <p:txBody>
          <a:bodyPr wrap="square" lIns="0" tIns="0" rIns="0" bIns="0" rtlCol="0" anchor="ctr"/>
          <a:lstStyle/>
          <a:p>
            <a:pPr indent="0" marL="0">
              <a:lnSpc>
                <a:spcPts val="1400"/>
              </a:lnSpc>
              <a:buNone/>
            </a:pPr>
            <a:r>
              <a:rPr lang="en-US" sz="1050" dirty="0">
                <a:solidFill>
                  <a:srgbClr val="A8B4C4"/>
                </a:solidFill>
                <a:latin typeface="Calibri" pitchFamily="34" charset="0"/>
                <a:ea typeface="Calibri" pitchFamily="34" charset="-122"/>
                <a:cs typeface="Calibri" pitchFamily="34" charset="-120"/>
              </a:rPr>
              <a:t>Async jobs, scheduled jobs, code coverage</a:t>
            </a:r>
            <a:endParaRPr lang="en-US" sz="1050" dirty="0"/>
          </a:p>
        </p:txBody>
      </p:sp>
      <p:sp>
        <p:nvSpPr>
          <p:cNvPr id="21" name="Shape 19"/>
          <p:cNvSpPr/>
          <p:nvPr/>
        </p:nvSpPr>
        <p:spPr>
          <a:xfrm>
            <a:off x="4297680" y="3218688"/>
            <a:ext cx="3520440" cy="1280160"/>
          </a:xfrm>
          <a:prstGeom prst="roundRect">
            <a:avLst>
              <a:gd name="adj" fmla="val 4286"/>
            </a:avLst>
          </a:prstGeom>
          <a:solidFill>
            <a:srgbClr val="1A2430"/>
          </a:solidFill>
          <a:ln w="12700">
            <a:solidFill>
              <a:srgbClr val="32435A"/>
            </a:solidFill>
            <a:prstDash val="solid"/>
          </a:ln>
        </p:spPr>
      </p:sp>
      <p:sp>
        <p:nvSpPr>
          <p:cNvPr id="22" name="Shape 20"/>
          <p:cNvSpPr/>
          <p:nvPr/>
        </p:nvSpPr>
        <p:spPr>
          <a:xfrm>
            <a:off x="4553712" y="3456432"/>
            <a:ext cx="201168" cy="201168"/>
          </a:xfrm>
          <a:prstGeom prst="ellipse">
            <a:avLst/>
          </a:prstGeom>
          <a:solidFill>
            <a:srgbClr val="F0A030"/>
          </a:solidFill>
          <a:ln/>
        </p:spPr>
      </p:sp>
      <p:sp>
        <p:nvSpPr>
          <p:cNvPr id="23" name="Text 21"/>
          <p:cNvSpPr/>
          <p:nvPr/>
        </p:nvSpPr>
        <p:spPr>
          <a:xfrm>
            <a:off x="4864608" y="3383280"/>
            <a:ext cx="2788920" cy="292608"/>
          </a:xfrm>
          <a:prstGeom prst="rect">
            <a:avLst/>
          </a:prstGeom>
          <a:noFill/>
          <a:ln/>
        </p:spPr>
        <p:txBody>
          <a:bodyPr wrap="square" lIns="0" tIns="0" rIns="0" bIns="0" rtlCol="0" anchor="ctr"/>
          <a:lstStyle/>
          <a:p>
            <a:pPr indent="0" marL="0">
              <a:buNone/>
            </a:pPr>
            <a:r>
              <a:rPr lang="en-US" sz="1350" b="1" dirty="0">
                <a:solidFill>
                  <a:srgbClr val="F2F5F8"/>
                </a:solidFill>
                <a:latin typeface="Arial" pitchFamily="34" charset="0"/>
                <a:ea typeface="Arial" pitchFamily="34" charset="-122"/>
                <a:cs typeface="Arial" pitchFamily="34" charset="-120"/>
              </a:rPr>
              <a:t>Config data</a:t>
            </a:r>
            <a:endParaRPr lang="en-US" sz="1350" dirty="0"/>
          </a:p>
        </p:txBody>
      </p:sp>
      <p:sp>
        <p:nvSpPr>
          <p:cNvPr id="24" name="Text 22"/>
          <p:cNvSpPr/>
          <p:nvPr/>
        </p:nvSpPr>
        <p:spPr>
          <a:xfrm>
            <a:off x="4572000" y="3785616"/>
            <a:ext cx="3108960" cy="603504"/>
          </a:xfrm>
          <a:prstGeom prst="rect">
            <a:avLst/>
          </a:prstGeom>
          <a:noFill/>
          <a:ln/>
        </p:spPr>
        <p:txBody>
          <a:bodyPr wrap="square" lIns="0" tIns="0" rIns="0" bIns="0" rtlCol="0" anchor="ctr"/>
          <a:lstStyle/>
          <a:p>
            <a:pPr indent="0" marL="0">
              <a:lnSpc>
                <a:spcPts val="1400"/>
              </a:lnSpc>
              <a:buNone/>
            </a:pPr>
            <a:r>
              <a:rPr lang="en-US" sz="1050" dirty="0">
                <a:solidFill>
                  <a:srgbClr val="A8B4C4"/>
                </a:solidFill>
                <a:latin typeface="Calibri" pitchFamily="34" charset="0"/>
                <a:ea typeface="Calibri" pitchFamily="34" charset="-122"/>
                <a:cs typeface="Calibri" pitchFamily="34" charset="-120"/>
              </a:rPr>
              <a:t>API names stored as DATA inside custom metadata records</a:t>
            </a:r>
            <a:endParaRPr lang="en-US" sz="1050" dirty="0"/>
          </a:p>
        </p:txBody>
      </p:sp>
      <p:sp>
        <p:nvSpPr>
          <p:cNvPr id="25" name="Shape 23"/>
          <p:cNvSpPr/>
          <p:nvPr/>
        </p:nvSpPr>
        <p:spPr>
          <a:xfrm>
            <a:off x="8028432" y="3218688"/>
            <a:ext cx="3520440" cy="1280160"/>
          </a:xfrm>
          <a:prstGeom prst="roundRect">
            <a:avLst>
              <a:gd name="adj" fmla="val 4286"/>
            </a:avLst>
          </a:prstGeom>
          <a:solidFill>
            <a:srgbClr val="1A2430"/>
          </a:solidFill>
          <a:ln w="12700">
            <a:solidFill>
              <a:srgbClr val="32435A"/>
            </a:solidFill>
            <a:prstDash val="solid"/>
          </a:ln>
        </p:spPr>
      </p:sp>
      <p:sp>
        <p:nvSpPr>
          <p:cNvPr id="26" name="Shape 24"/>
          <p:cNvSpPr/>
          <p:nvPr/>
        </p:nvSpPr>
        <p:spPr>
          <a:xfrm>
            <a:off x="8284464" y="3456432"/>
            <a:ext cx="201168" cy="201168"/>
          </a:xfrm>
          <a:prstGeom prst="ellipse">
            <a:avLst/>
          </a:prstGeom>
          <a:solidFill>
            <a:srgbClr val="29B6D8"/>
          </a:solidFill>
          <a:ln/>
        </p:spPr>
      </p:sp>
      <p:sp>
        <p:nvSpPr>
          <p:cNvPr id="27" name="Text 25"/>
          <p:cNvSpPr/>
          <p:nvPr/>
        </p:nvSpPr>
        <p:spPr>
          <a:xfrm>
            <a:off x="8595360" y="3383280"/>
            <a:ext cx="2788920" cy="292608"/>
          </a:xfrm>
          <a:prstGeom prst="rect">
            <a:avLst/>
          </a:prstGeom>
          <a:noFill/>
          <a:ln/>
        </p:spPr>
        <p:txBody>
          <a:bodyPr wrap="square" lIns="0" tIns="0" rIns="0" bIns="0" rtlCol="0" anchor="ctr"/>
          <a:lstStyle/>
          <a:p>
            <a:pPr indent="0" marL="0">
              <a:buNone/>
            </a:pPr>
            <a:r>
              <a:rPr lang="en-US" sz="1350" b="1" dirty="0">
                <a:solidFill>
                  <a:srgbClr val="F2F5F8"/>
                </a:solidFill>
                <a:latin typeface="Arial" pitchFamily="34" charset="0"/>
                <a:ea typeface="Arial" pitchFamily="34" charset="-122"/>
                <a:cs typeface="Arial" pitchFamily="34" charset="-120"/>
              </a:rPr>
              <a:t>Reachability graph</a:t>
            </a:r>
            <a:endParaRPr lang="en-US" sz="1350" dirty="0"/>
          </a:p>
        </p:txBody>
      </p:sp>
      <p:sp>
        <p:nvSpPr>
          <p:cNvPr id="28" name="Text 26"/>
          <p:cNvSpPr/>
          <p:nvPr/>
        </p:nvSpPr>
        <p:spPr>
          <a:xfrm>
            <a:off x="8302752" y="3785616"/>
            <a:ext cx="3108960" cy="603504"/>
          </a:xfrm>
          <a:prstGeom prst="rect">
            <a:avLst/>
          </a:prstGeom>
          <a:noFill/>
          <a:ln/>
        </p:spPr>
        <p:txBody>
          <a:bodyPr wrap="square" lIns="0" tIns="0" rIns="0" bIns="0" rtlCol="0" anchor="ctr"/>
          <a:lstStyle/>
          <a:p>
            <a:pPr indent="0" marL="0">
              <a:lnSpc>
                <a:spcPts val="1400"/>
              </a:lnSpc>
              <a:buNone/>
            </a:pPr>
            <a:r>
              <a:rPr lang="en-US" sz="1050" dirty="0">
                <a:solidFill>
                  <a:srgbClr val="A8B4C4"/>
                </a:solidFill>
                <a:latin typeface="Calibri" pitchFamily="34" charset="0"/>
                <a:ea typeface="Calibri" pitchFamily="34" charset="-122"/>
                <a:cs typeface="Calibri" pitchFamily="34" charset="-120"/>
              </a:rPr>
              <a:t>Can anything that runs or is seen actually reach it?</a:t>
            </a:r>
            <a:endParaRPr lang="en-US" sz="1050" dirty="0"/>
          </a:p>
        </p:txBody>
      </p:sp>
      <p:sp>
        <p:nvSpPr>
          <p:cNvPr id="29" name="Shape 27"/>
          <p:cNvSpPr/>
          <p:nvPr/>
        </p:nvSpPr>
        <p:spPr>
          <a:xfrm>
            <a:off x="566928" y="4663440"/>
            <a:ext cx="3520440" cy="1280160"/>
          </a:xfrm>
          <a:prstGeom prst="roundRect">
            <a:avLst>
              <a:gd name="adj" fmla="val 4286"/>
            </a:avLst>
          </a:prstGeom>
          <a:solidFill>
            <a:srgbClr val="1A2430"/>
          </a:solidFill>
          <a:ln w="12700">
            <a:solidFill>
              <a:srgbClr val="32435A"/>
            </a:solidFill>
            <a:prstDash val="solid"/>
          </a:ln>
        </p:spPr>
      </p:sp>
      <p:sp>
        <p:nvSpPr>
          <p:cNvPr id="30" name="Shape 28"/>
          <p:cNvSpPr/>
          <p:nvPr/>
        </p:nvSpPr>
        <p:spPr>
          <a:xfrm>
            <a:off x="822960" y="4901184"/>
            <a:ext cx="201168" cy="201168"/>
          </a:xfrm>
          <a:prstGeom prst="ellipse">
            <a:avLst/>
          </a:prstGeom>
          <a:solidFill>
            <a:srgbClr val="F0A030"/>
          </a:solidFill>
          <a:ln/>
        </p:spPr>
      </p:sp>
      <p:sp>
        <p:nvSpPr>
          <p:cNvPr id="31" name="Text 29"/>
          <p:cNvSpPr/>
          <p:nvPr/>
        </p:nvSpPr>
        <p:spPr>
          <a:xfrm>
            <a:off x="1133856" y="4828032"/>
            <a:ext cx="2788920" cy="292608"/>
          </a:xfrm>
          <a:prstGeom prst="rect">
            <a:avLst/>
          </a:prstGeom>
          <a:noFill/>
          <a:ln/>
        </p:spPr>
        <p:txBody>
          <a:bodyPr wrap="square" lIns="0" tIns="0" rIns="0" bIns="0" rtlCol="0" anchor="ctr"/>
          <a:lstStyle/>
          <a:p>
            <a:pPr indent="0" marL="0">
              <a:buNone/>
            </a:pPr>
            <a:r>
              <a:rPr lang="en-US" sz="1350" b="1" dirty="0">
                <a:solidFill>
                  <a:srgbClr val="F2F5F8"/>
                </a:solidFill>
                <a:latin typeface="Arial" pitchFamily="34" charset="0"/>
                <a:ea typeface="Arial" pitchFamily="34" charset="-122"/>
                <a:cs typeface="Arial" pitchFamily="34" charset="-120"/>
              </a:rPr>
              <a:t>Dynamic-code taint</a:t>
            </a:r>
            <a:endParaRPr lang="en-US" sz="1350" dirty="0"/>
          </a:p>
        </p:txBody>
      </p:sp>
      <p:sp>
        <p:nvSpPr>
          <p:cNvPr id="32" name="Text 30"/>
          <p:cNvSpPr/>
          <p:nvPr/>
        </p:nvSpPr>
        <p:spPr>
          <a:xfrm>
            <a:off x="841248" y="5230368"/>
            <a:ext cx="3108960" cy="603504"/>
          </a:xfrm>
          <a:prstGeom prst="rect">
            <a:avLst/>
          </a:prstGeom>
          <a:noFill/>
          <a:ln/>
        </p:spPr>
        <p:txBody>
          <a:bodyPr wrap="square" lIns="0" tIns="0" rIns="0" bIns="0" rtlCol="0" anchor="ctr"/>
          <a:lstStyle/>
          <a:p>
            <a:pPr indent="0" marL="0">
              <a:lnSpc>
                <a:spcPts val="1400"/>
              </a:lnSpc>
              <a:buNone/>
            </a:pPr>
            <a:r>
              <a:rPr lang="en-US" sz="1050" dirty="0">
                <a:solidFill>
                  <a:srgbClr val="A8B4C4"/>
                </a:solidFill>
                <a:latin typeface="Calibri" pitchFamily="34" charset="0"/>
                <a:ea typeface="Calibri" pitchFamily="34" charset="-122"/>
                <a:cs typeface="Calibri" pitchFamily="34" charset="-120"/>
              </a:rPr>
              <a:t>Quarantine anything runtime-built names could touch</a:t>
            </a:r>
            <a:endParaRPr lang="en-US" sz="1050" dirty="0"/>
          </a:p>
        </p:txBody>
      </p:sp>
      <p:sp>
        <p:nvSpPr>
          <p:cNvPr id="33" name="Shape 31"/>
          <p:cNvSpPr/>
          <p:nvPr/>
        </p:nvSpPr>
        <p:spPr>
          <a:xfrm>
            <a:off x="4297680" y="4663440"/>
            <a:ext cx="3520440" cy="1280160"/>
          </a:xfrm>
          <a:prstGeom prst="roundRect">
            <a:avLst>
              <a:gd name="adj" fmla="val 4286"/>
            </a:avLst>
          </a:prstGeom>
          <a:solidFill>
            <a:srgbClr val="1A2430"/>
          </a:solidFill>
          <a:ln w="12700">
            <a:solidFill>
              <a:srgbClr val="32435A"/>
            </a:solidFill>
            <a:prstDash val="solid"/>
          </a:ln>
        </p:spPr>
      </p:sp>
      <p:sp>
        <p:nvSpPr>
          <p:cNvPr id="34" name="Shape 32"/>
          <p:cNvSpPr/>
          <p:nvPr/>
        </p:nvSpPr>
        <p:spPr>
          <a:xfrm>
            <a:off x="4553712" y="4901184"/>
            <a:ext cx="201168" cy="201168"/>
          </a:xfrm>
          <a:prstGeom prst="ellipse">
            <a:avLst/>
          </a:prstGeom>
          <a:solidFill>
            <a:srgbClr val="F0A030"/>
          </a:solidFill>
          <a:ln/>
        </p:spPr>
      </p:sp>
      <p:sp>
        <p:nvSpPr>
          <p:cNvPr id="35" name="Text 33"/>
          <p:cNvSpPr/>
          <p:nvPr/>
        </p:nvSpPr>
        <p:spPr>
          <a:xfrm>
            <a:off x="4864608" y="4828032"/>
            <a:ext cx="2788920" cy="292608"/>
          </a:xfrm>
          <a:prstGeom prst="rect">
            <a:avLst/>
          </a:prstGeom>
          <a:noFill/>
          <a:ln/>
        </p:spPr>
        <p:txBody>
          <a:bodyPr wrap="square" lIns="0" tIns="0" rIns="0" bIns="0" rtlCol="0" anchor="ctr"/>
          <a:lstStyle/>
          <a:p>
            <a:pPr indent="0" marL="0">
              <a:buNone/>
            </a:pPr>
            <a:r>
              <a:rPr lang="en-US" sz="1350" b="1" dirty="0">
                <a:solidFill>
                  <a:srgbClr val="F2F5F8"/>
                </a:solidFill>
                <a:latin typeface="Arial" pitchFamily="34" charset="0"/>
                <a:ea typeface="Arial" pitchFamily="34" charset="-122"/>
                <a:cs typeface="Arial" pitchFamily="34" charset="-120"/>
              </a:rPr>
              <a:t>Temporal</a:t>
            </a:r>
            <a:endParaRPr lang="en-US" sz="1350" dirty="0"/>
          </a:p>
        </p:txBody>
      </p:sp>
      <p:sp>
        <p:nvSpPr>
          <p:cNvPr id="36" name="Text 34"/>
          <p:cNvSpPr/>
          <p:nvPr/>
        </p:nvSpPr>
        <p:spPr>
          <a:xfrm>
            <a:off x="4572000" y="5230368"/>
            <a:ext cx="3108960" cy="603504"/>
          </a:xfrm>
          <a:prstGeom prst="rect">
            <a:avLst/>
          </a:prstGeom>
          <a:noFill/>
          <a:ln/>
        </p:spPr>
        <p:txBody>
          <a:bodyPr wrap="square" lIns="0" tIns="0" rIns="0" bIns="0" rtlCol="0" anchor="ctr"/>
          <a:lstStyle/>
          <a:p>
            <a:pPr indent="0" marL="0">
              <a:lnSpc>
                <a:spcPts val="1400"/>
              </a:lnSpc>
              <a:buNone/>
            </a:pPr>
            <a:r>
              <a:rPr lang="en-US" sz="1050" dirty="0">
                <a:solidFill>
                  <a:srgbClr val="A8B4C4"/>
                </a:solidFill>
                <a:latin typeface="Calibri" pitchFamily="34" charset="0"/>
                <a:ea typeface="Calibri" pitchFamily="34" charset="-122"/>
                <a:cs typeface="Calibri" pitchFamily="34" charset="-120"/>
              </a:rPr>
              <a:t>Recently created? Half-built looks exactly like abandoned</a:t>
            </a:r>
            <a:endParaRPr lang="en-US" sz="1050" dirty="0"/>
          </a:p>
        </p:txBody>
      </p:sp>
      <p:sp>
        <p:nvSpPr>
          <p:cNvPr id="37" name="Shape 35"/>
          <p:cNvSpPr/>
          <p:nvPr/>
        </p:nvSpPr>
        <p:spPr>
          <a:xfrm>
            <a:off x="8028432" y="4663440"/>
            <a:ext cx="3520440" cy="1280160"/>
          </a:xfrm>
          <a:prstGeom prst="roundRect">
            <a:avLst>
              <a:gd name="adj" fmla="val 4286"/>
            </a:avLst>
          </a:prstGeom>
          <a:solidFill>
            <a:srgbClr val="1A2430"/>
          </a:solidFill>
          <a:ln w="12700">
            <a:solidFill>
              <a:srgbClr val="32435A"/>
            </a:solidFill>
            <a:prstDash val="solid"/>
          </a:ln>
        </p:spPr>
      </p:sp>
      <p:sp>
        <p:nvSpPr>
          <p:cNvPr id="38" name="Shape 36"/>
          <p:cNvSpPr/>
          <p:nvPr/>
        </p:nvSpPr>
        <p:spPr>
          <a:xfrm>
            <a:off x="8284464" y="4901184"/>
            <a:ext cx="201168" cy="201168"/>
          </a:xfrm>
          <a:prstGeom prst="ellipse">
            <a:avLst/>
          </a:prstGeom>
          <a:solidFill>
            <a:srgbClr val="3FBF92"/>
          </a:solidFill>
          <a:ln/>
        </p:spPr>
      </p:sp>
      <p:sp>
        <p:nvSpPr>
          <p:cNvPr id="39" name="Text 37"/>
          <p:cNvSpPr/>
          <p:nvPr/>
        </p:nvSpPr>
        <p:spPr>
          <a:xfrm>
            <a:off x="8595360" y="4828032"/>
            <a:ext cx="2788920" cy="292608"/>
          </a:xfrm>
          <a:prstGeom prst="rect">
            <a:avLst/>
          </a:prstGeom>
          <a:noFill/>
          <a:ln/>
        </p:spPr>
        <p:txBody>
          <a:bodyPr wrap="square" lIns="0" tIns="0" rIns="0" bIns="0" rtlCol="0" anchor="ctr"/>
          <a:lstStyle/>
          <a:p>
            <a:pPr indent="0" marL="0">
              <a:buNone/>
            </a:pPr>
            <a:r>
              <a:rPr lang="en-US" sz="1350" b="1" dirty="0">
                <a:solidFill>
                  <a:srgbClr val="F2F5F8"/>
                </a:solidFill>
                <a:latin typeface="Arial" pitchFamily="34" charset="0"/>
                <a:ea typeface="Arial" pitchFamily="34" charset="-122"/>
                <a:cs typeface="Arial" pitchFamily="34" charset="-120"/>
              </a:rPr>
              <a:t>Delete rehearsal</a:t>
            </a:r>
            <a:endParaRPr lang="en-US" sz="1350" dirty="0"/>
          </a:p>
        </p:txBody>
      </p:sp>
      <p:sp>
        <p:nvSpPr>
          <p:cNvPr id="40" name="Text 38"/>
          <p:cNvSpPr/>
          <p:nvPr/>
        </p:nvSpPr>
        <p:spPr>
          <a:xfrm>
            <a:off x="8302752" y="5230368"/>
            <a:ext cx="3108960" cy="603504"/>
          </a:xfrm>
          <a:prstGeom prst="rect">
            <a:avLst/>
          </a:prstGeom>
          <a:noFill/>
          <a:ln/>
        </p:spPr>
        <p:txBody>
          <a:bodyPr wrap="square" lIns="0" tIns="0" rIns="0" bIns="0" rtlCol="0" anchor="ctr"/>
          <a:lstStyle/>
          <a:p>
            <a:pPr indent="0" marL="0">
              <a:lnSpc>
                <a:spcPts val="1400"/>
              </a:lnSpc>
              <a:buNone/>
            </a:pPr>
            <a:r>
              <a:rPr lang="en-US" sz="1050" dirty="0">
                <a:solidFill>
                  <a:srgbClr val="A8B4C4"/>
                </a:solidFill>
                <a:latin typeface="Calibri" pitchFamily="34" charset="0"/>
                <a:ea typeface="Calibri" pitchFamily="34" charset="-122"/>
                <a:cs typeface="Calibri" pitchFamily="34" charset="-120"/>
              </a:rPr>
              <a:t>Ask Salesforce to validate the delete. Server-verified</a:t>
            </a:r>
            <a:endParaRPr lang="en-US" sz="1050" dirty="0"/>
          </a:p>
        </p:txBody>
      </p:sp>
      <p:sp>
        <p:nvSpPr>
          <p:cNvPr id="41" name="Text 39"/>
          <p:cNvSpPr/>
          <p:nvPr/>
        </p:nvSpPr>
        <p:spPr>
          <a:xfrm>
            <a:off x="566928" y="6108192"/>
            <a:ext cx="10332720" cy="365760"/>
          </a:xfrm>
          <a:prstGeom prst="rect">
            <a:avLst/>
          </a:prstGeom>
          <a:noFill/>
          <a:ln/>
        </p:spPr>
        <p:txBody>
          <a:bodyPr wrap="square" lIns="0" tIns="0" rIns="0" bIns="0" rtlCol="0" anchor="ctr"/>
          <a:lstStyle/>
          <a:p>
            <a:pPr indent="0" marL="0">
              <a:buNone/>
            </a:pPr>
            <a:r>
              <a:rPr lang="en-US" sz="1250" i="1" dirty="0">
                <a:solidFill>
                  <a:srgbClr val="76849A"/>
                </a:solidFill>
                <a:latin typeface="Calibri" pitchFamily="34" charset="0"/>
                <a:ea typeface="Calibri" pitchFamily="34" charset="-122"/>
                <a:cs typeface="Calibri" pitchFamily="34" charset="-120"/>
              </a:rPr>
              <a:t>Each records its result every time — including when it finds nothing. "Searched and found nothing" is a different claim from "never checked", and only the first supports a deletion.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11712" y="6455664"/>
            <a:ext cx="365760" cy="274320"/>
          </a:xfrm>
          <a:prstGeom prst="rect">
            <a:avLst/>
          </a:prstGeom>
          <a:noFill/>
          <a:ln/>
        </p:spPr>
        <p:txBody>
          <a:bodyPr wrap="square" lIns="0" tIns="0" rIns="0" bIns="0" rtlCol="0" anchor="ctr"/>
          <a:lstStyle/>
          <a:p>
            <a:pPr algn="r" indent="0" marL="0">
              <a:buNone/>
            </a:pPr>
            <a:r>
              <a:rPr lang="en-US" sz="1000" dirty="0">
                <a:solidFill>
                  <a:srgbClr val="A0A8B4"/>
                </a:solidFill>
                <a:latin typeface="Calibri" pitchFamily="34" charset="0"/>
                <a:ea typeface="Calibri" pitchFamily="34" charset="-122"/>
                <a:cs typeface="Calibri" pitchFamily="34" charset="-120"/>
              </a:rPr>
              <a:t>12</a:t>
            </a:r>
            <a:endParaRPr lang="en-US" sz="1000" dirty="0"/>
          </a:p>
        </p:txBody>
      </p:sp>
      <p:sp>
        <p:nvSpPr>
          <p:cNvPr id="3" name="Text 1"/>
          <p:cNvSpPr/>
          <p:nvPr/>
        </p:nvSpPr>
        <p:spPr>
          <a:xfrm>
            <a:off x="566928" y="402336"/>
            <a:ext cx="11055096" cy="713232"/>
          </a:xfrm>
          <a:prstGeom prst="rect">
            <a:avLst/>
          </a:prstGeom>
          <a:noFill/>
          <a:ln/>
        </p:spPr>
        <p:txBody>
          <a:bodyPr wrap="square" lIns="0" tIns="0" rIns="0" bIns="0" rtlCol="0" anchor="ctr"/>
          <a:lstStyle/>
          <a:p>
            <a:pPr indent="0" marL="0">
              <a:buNone/>
            </a:pPr>
            <a:r>
              <a:rPr lang="en-US" sz="3400" b="1" dirty="0">
                <a:solidFill>
                  <a:srgbClr val="0F1620"/>
                </a:solidFill>
                <a:latin typeface="Arial" pitchFamily="34" charset="0"/>
                <a:ea typeface="Arial" pitchFamily="34" charset="-122"/>
                <a:cs typeface="Arial" pitchFamily="34" charset="-120"/>
              </a:rPr>
              <a:t>Not all evidence is worth the same</a:t>
            </a:r>
            <a:endParaRPr lang="en-US" sz="3400" dirty="0"/>
          </a:p>
        </p:txBody>
      </p:sp>
      <p:sp>
        <p:nvSpPr>
          <p:cNvPr id="4" name="Text 2"/>
          <p:cNvSpPr/>
          <p:nvPr/>
        </p:nvSpPr>
        <p:spPr>
          <a:xfrm>
            <a:off x="566928" y="1115568"/>
            <a:ext cx="11055096" cy="402336"/>
          </a:xfrm>
          <a:prstGeom prst="rect">
            <a:avLst/>
          </a:prstGeom>
          <a:noFill/>
          <a:ln/>
        </p:spPr>
        <p:txBody>
          <a:bodyPr wrap="square" lIns="0" tIns="0" rIns="0" bIns="0" rtlCol="0" anchor="ctr"/>
          <a:lstStyle/>
          <a:p>
            <a:pPr indent="0" marL="0">
              <a:buNone/>
            </a:pPr>
            <a:r>
              <a:rPr lang="en-US" sz="1450" dirty="0">
                <a:solidFill>
                  <a:srgbClr val="55606E"/>
                </a:solidFill>
                <a:latin typeface="Calibri" pitchFamily="34" charset="0"/>
                <a:ea typeface="Calibri" pitchFamily="34" charset="-122"/>
                <a:cs typeface="Calibri" pitchFamily="34" charset="-120"/>
              </a:rPr>
              <a:t>Every finding is graded, and the grade determines what it can justify.</a:t>
            </a:r>
            <a:endParaRPr lang="en-US" sz="1450" dirty="0"/>
          </a:p>
        </p:txBody>
      </p:sp>
      <p:sp>
        <p:nvSpPr>
          <p:cNvPr id="5" name="Shape 3"/>
          <p:cNvSpPr/>
          <p:nvPr/>
        </p:nvSpPr>
        <p:spPr>
          <a:xfrm>
            <a:off x="566928" y="1828800"/>
            <a:ext cx="11055096" cy="932688"/>
          </a:xfrm>
          <a:prstGeom prst="roundRect">
            <a:avLst>
              <a:gd name="adj" fmla="val 5882"/>
            </a:avLst>
          </a:prstGeom>
          <a:solidFill>
            <a:srgbClr val="F6F8FB"/>
          </a:solidFill>
          <a:ln w="12700">
            <a:solidFill>
              <a:srgbClr val="DDE4EC"/>
            </a:solidFill>
            <a:prstDash val="solid"/>
          </a:ln>
        </p:spPr>
      </p:sp>
      <p:sp>
        <p:nvSpPr>
          <p:cNvPr id="6" name="Shape 4"/>
          <p:cNvSpPr/>
          <p:nvPr/>
        </p:nvSpPr>
        <p:spPr>
          <a:xfrm>
            <a:off x="822960" y="2048256"/>
            <a:ext cx="493776" cy="493776"/>
          </a:xfrm>
          <a:prstGeom prst="ellipse">
            <a:avLst/>
          </a:prstGeom>
          <a:solidFill>
            <a:srgbClr val="3FBF92"/>
          </a:solidFill>
          <a:ln/>
        </p:spPr>
      </p:sp>
      <p:sp>
        <p:nvSpPr>
          <p:cNvPr id="7" name="Text 5"/>
          <p:cNvSpPr/>
          <p:nvPr/>
        </p:nvSpPr>
        <p:spPr>
          <a:xfrm>
            <a:off x="822960" y="2048256"/>
            <a:ext cx="493776" cy="493776"/>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A</a:t>
            </a:r>
            <a:endParaRPr lang="en-US" sz="1900" dirty="0"/>
          </a:p>
        </p:txBody>
      </p:sp>
      <p:sp>
        <p:nvSpPr>
          <p:cNvPr id="8" name="Text 6"/>
          <p:cNvSpPr/>
          <p:nvPr/>
        </p:nvSpPr>
        <p:spPr>
          <a:xfrm>
            <a:off x="1481328" y="1975104"/>
            <a:ext cx="1371600" cy="274320"/>
          </a:xfrm>
          <a:prstGeom prst="rect">
            <a:avLst/>
          </a:prstGeom>
          <a:noFill/>
          <a:ln/>
        </p:spPr>
        <p:txBody>
          <a:bodyPr wrap="square" lIns="0" tIns="0" rIns="0" bIns="0" rtlCol="0" anchor="ctr"/>
          <a:lstStyle/>
          <a:p>
            <a:pPr indent="0" marL="0">
              <a:buNone/>
            </a:pPr>
            <a:r>
              <a:rPr lang="en-US" sz="1450" b="1" dirty="0">
                <a:solidFill>
                  <a:srgbClr val="0F1620"/>
                </a:solidFill>
                <a:latin typeface="Arial" pitchFamily="34" charset="0"/>
                <a:ea typeface="Arial" pitchFamily="34" charset="-122"/>
                <a:cs typeface="Arial" pitchFamily="34" charset="-120"/>
              </a:rPr>
              <a:t>Binding</a:t>
            </a:r>
            <a:endParaRPr lang="en-US" sz="1450" dirty="0"/>
          </a:p>
        </p:txBody>
      </p:sp>
      <p:sp>
        <p:nvSpPr>
          <p:cNvPr id="9" name="Text 7"/>
          <p:cNvSpPr/>
          <p:nvPr/>
        </p:nvSpPr>
        <p:spPr>
          <a:xfrm>
            <a:off x="1481328" y="2286000"/>
            <a:ext cx="3566160" cy="329184"/>
          </a:xfrm>
          <a:prstGeom prst="rect">
            <a:avLst/>
          </a:prstGeom>
          <a:noFill/>
          <a:ln/>
        </p:spPr>
        <p:txBody>
          <a:bodyPr wrap="square" lIns="0" tIns="0" rIns="0" bIns="0" rtlCol="0" anchor="ctr"/>
          <a:lstStyle/>
          <a:p>
            <a:pPr indent="0" marL="0">
              <a:buNone/>
            </a:pPr>
            <a:r>
              <a:rPr lang="en-US" sz="1150" dirty="0">
                <a:solidFill>
                  <a:srgbClr val="5A6472"/>
                </a:solidFill>
                <a:latin typeface="Calibri" pitchFamily="34" charset="0"/>
                <a:ea typeface="Calibri" pitchFamily="34" charset="-122"/>
                <a:cs typeface="Calibri" pitchFamily="34" charset="-120"/>
              </a:rPr>
              <a:t>Deleting it breaks a deploy or a runtime path.</a:t>
            </a:r>
            <a:endParaRPr lang="en-US" sz="1150" dirty="0"/>
          </a:p>
        </p:txBody>
      </p:sp>
      <p:sp>
        <p:nvSpPr>
          <p:cNvPr id="10" name="Text 8"/>
          <p:cNvSpPr/>
          <p:nvPr/>
        </p:nvSpPr>
        <p:spPr>
          <a:xfrm>
            <a:off x="5230368" y="2029968"/>
            <a:ext cx="6126480" cy="566928"/>
          </a:xfrm>
          <a:prstGeom prst="rect">
            <a:avLst/>
          </a:prstGeom>
          <a:noFill/>
          <a:ln/>
        </p:spPr>
        <p:txBody>
          <a:bodyPr wrap="square" lIns="0" tIns="0" rIns="0" bIns="0" rtlCol="0" anchor="ctr"/>
          <a:lstStyle/>
          <a:p>
            <a:pPr indent="0" marL="0">
              <a:lnSpc>
                <a:spcPts val="1500"/>
              </a:lnSpc>
              <a:buNone/>
            </a:pPr>
            <a:r>
              <a:rPr lang="en-US" sz="1100" dirty="0">
                <a:solidFill>
                  <a:srgbClr val="6B7686"/>
                </a:solidFill>
                <a:latin typeface="Calibri" pitchFamily="34" charset="0"/>
                <a:ea typeface="Calibri" pitchFamily="34" charset="-122"/>
                <a:cs typeface="Calibri" pitchFamily="34" charset="-120"/>
              </a:rPr>
              <a:t>Apex field access · SOQL select · active Flow element · formula reference · report column · config record value</a:t>
            </a:r>
            <a:endParaRPr lang="en-US" sz="1100" dirty="0"/>
          </a:p>
        </p:txBody>
      </p:sp>
      <p:sp>
        <p:nvSpPr>
          <p:cNvPr id="11" name="Shape 9"/>
          <p:cNvSpPr/>
          <p:nvPr/>
        </p:nvSpPr>
        <p:spPr>
          <a:xfrm>
            <a:off x="566928" y="2907792"/>
            <a:ext cx="11055096" cy="932688"/>
          </a:xfrm>
          <a:prstGeom prst="roundRect">
            <a:avLst>
              <a:gd name="adj" fmla="val 5882"/>
            </a:avLst>
          </a:prstGeom>
          <a:solidFill>
            <a:srgbClr val="F6F8FB"/>
          </a:solidFill>
          <a:ln w="12700">
            <a:solidFill>
              <a:srgbClr val="DDE4EC"/>
            </a:solidFill>
            <a:prstDash val="solid"/>
          </a:ln>
        </p:spPr>
      </p:sp>
      <p:sp>
        <p:nvSpPr>
          <p:cNvPr id="12" name="Shape 10"/>
          <p:cNvSpPr/>
          <p:nvPr/>
        </p:nvSpPr>
        <p:spPr>
          <a:xfrm>
            <a:off x="822960" y="3127248"/>
            <a:ext cx="493776" cy="493776"/>
          </a:xfrm>
          <a:prstGeom prst="ellipse">
            <a:avLst/>
          </a:prstGeom>
          <a:solidFill>
            <a:srgbClr val="29B6D8"/>
          </a:solidFill>
          <a:ln/>
        </p:spPr>
      </p:sp>
      <p:sp>
        <p:nvSpPr>
          <p:cNvPr id="13" name="Text 11"/>
          <p:cNvSpPr/>
          <p:nvPr/>
        </p:nvSpPr>
        <p:spPr>
          <a:xfrm>
            <a:off x="822960" y="3127248"/>
            <a:ext cx="493776" cy="493776"/>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B</a:t>
            </a:r>
            <a:endParaRPr lang="en-US" sz="1900" dirty="0"/>
          </a:p>
        </p:txBody>
      </p:sp>
      <p:sp>
        <p:nvSpPr>
          <p:cNvPr id="14" name="Text 12"/>
          <p:cNvSpPr/>
          <p:nvPr/>
        </p:nvSpPr>
        <p:spPr>
          <a:xfrm>
            <a:off x="1481328" y="3054096"/>
            <a:ext cx="1371600" cy="274320"/>
          </a:xfrm>
          <a:prstGeom prst="rect">
            <a:avLst/>
          </a:prstGeom>
          <a:noFill/>
          <a:ln/>
        </p:spPr>
        <p:txBody>
          <a:bodyPr wrap="square" lIns="0" tIns="0" rIns="0" bIns="0" rtlCol="0" anchor="ctr"/>
          <a:lstStyle/>
          <a:p>
            <a:pPr indent="0" marL="0">
              <a:buNone/>
            </a:pPr>
            <a:r>
              <a:rPr lang="en-US" sz="1450" b="1" dirty="0">
                <a:solidFill>
                  <a:srgbClr val="0F1620"/>
                </a:solidFill>
                <a:latin typeface="Arial" pitchFamily="34" charset="0"/>
                <a:ea typeface="Arial" pitchFamily="34" charset="-122"/>
                <a:cs typeface="Arial" pitchFamily="34" charset="-120"/>
              </a:rPr>
              <a:t>Runtime</a:t>
            </a:r>
            <a:endParaRPr lang="en-US" sz="1450" dirty="0"/>
          </a:p>
        </p:txBody>
      </p:sp>
      <p:sp>
        <p:nvSpPr>
          <p:cNvPr id="15" name="Text 13"/>
          <p:cNvSpPr/>
          <p:nvPr/>
        </p:nvSpPr>
        <p:spPr>
          <a:xfrm>
            <a:off x="1481328" y="3364992"/>
            <a:ext cx="3566160" cy="329184"/>
          </a:xfrm>
          <a:prstGeom prst="rect">
            <a:avLst/>
          </a:prstGeom>
          <a:noFill/>
          <a:ln/>
        </p:spPr>
        <p:txBody>
          <a:bodyPr wrap="square" lIns="0" tIns="0" rIns="0" bIns="0" rtlCol="0" anchor="ctr"/>
          <a:lstStyle/>
          <a:p>
            <a:pPr indent="0" marL="0">
              <a:buNone/>
            </a:pPr>
            <a:r>
              <a:rPr lang="en-US" sz="1150" dirty="0">
                <a:solidFill>
                  <a:srgbClr val="5A6472"/>
                </a:solidFill>
                <a:latin typeface="Calibri" pitchFamily="34" charset="0"/>
                <a:ea typeface="Calibri" pitchFamily="34" charset="-122"/>
                <a:cs typeface="Calibri" pitchFamily="34" charset="-120"/>
              </a:rPr>
              <a:t>The org actually did something with it.</a:t>
            </a:r>
            <a:endParaRPr lang="en-US" sz="1150" dirty="0"/>
          </a:p>
        </p:txBody>
      </p:sp>
      <p:sp>
        <p:nvSpPr>
          <p:cNvPr id="16" name="Text 14"/>
          <p:cNvSpPr/>
          <p:nvPr/>
        </p:nvSpPr>
        <p:spPr>
          <a:xfrm>
            <a:off x="5230368" y="3108960"/>
            <a:ext cx="6126480" cy="566928"/>
          </a:xfrm>
          <a:prstGeom prst="rect">
            <a:avLst/>
          </a:prstGeom>
          <a:noFill/>
          <a:ln/>
        </p:spPr>
        <p:txBody>
          <a:bodyPr wrap="square" lIns="0" tIns="0" rIns="0" bIns="0" rtlCol="0" anchor="ctr"/>
          <a:lstStyle/>
          <a:p>
            <a:pPr indent="0" marL="0">
              <a:lnSpc>
                <a:spcPts val="1500"/>
              </a:lnSpc>
              <a:buNone/>
            </a:pPr>
            <a:r>
              <a:rPr lang="en-US" sz="1100" dirty="0">
                <a:solidFill>
                  <a:srgbClr val="6B7686"/>
                </a:solidFill>
                <a:latin typeface="Calibri" pitchFamily="34" charset="0"/>
                <a:ea typeface="Calibri" pitchFamily="34" charset="-122"/>
                <a:cs typeface="Calibri" pitchFamily="34" charset="-120"/>
              </a:rPr>
              <a:t>Records hold a value · field-history writes · async job ran · scheduled job exists · report run recently</a:t>
            </a:r>
            <a:endParaRPr lang="en-US" sz="1100" dirty="0"/>
          </a:p>
        </p:txBody>
      </p:sp>
      <p:sp>
        <p:nvSpPr>
          <p:cNvPr id="17" name="Shape 15"/>
          <p:cNvSpPr/>
          <p:nvPr/>
        </p:nvSpPr>
        <p:spPr>
          <a:xfrm>
            <a:off x="566928" y="3986784"/>
            <a:ext cx="11055096" cy="932688"/>
          </a:xfrm>
          <a:prstGeom prst="roundRect">
            <a:avLst>
              <a:gd name="adj" fmla="val 5882"/>
            </a:avLst>
          </a:prstGeom>
          <a:solidFill>
            <a:srgbClr val="F6F8FB"/>
          </a:solidFill>
          <a:ln w="12700">
            <a:solidFill>
              <a:srgbClr val="DDE4EC"/>
            </a:solidFill>
            <a:prstDash val="solid"/>
          </a:ln>
        </p:spPr>
      </p:sp>
      <p:sp>
        <p:nvSpPr>
          <p:cNvPr id="18" name="Shape 16"/>
          <p:cNvSpPr/>
          <p:nvPr/>
        </p:nvSpPr>
        <p:spPr>
          <a:xfrm>
            <a:off x="822960" y="4206240"/>
            <a:ext cx="493776" cy="493776"/>
          </a:xfrm>
          <a:prstGeom prst="ellipse">
            <a:avLst/>
          </a:prstGeom>
          <a:solidFill>
            <a:srgbClr val="8A94A4"/>
          </a:solidFill>
          <a:ln/>
        </p:spPr>
      </p:sp>
      <p:sp>
        <p:nvSpPr>
          <p:cNvPr id="19" name="Text 17"/>
          <p:cNvSpPr/>
          <p:nvPr/>
        </p:nvSpPr>
        <p:spPr>
          <a:xfrm>
            <a:off x="822960" y="4206240"/>
            <a:ext cx="493776" cy="493776"/>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C</a:t>
            </a:r>
            <a:endParaRPr lang="en-US" sz="1900" dirty="0"/>
          </a:p>
        </p:txBody>
      </p:sp>
      <p:sp>
        <p:nvSpPr>
          <p:cNvPr id="20" name="Text 18"/>
          <p:cNvSpPr/>
          <p:nvPr/>
        </p:nvSpPr>
        <p:spPr>
          <a:xfrm>
            <a:off x="1481328" y="4133088"/>
            <a:ext cx="1371600" cy="274320"/>
          </a:xfrm>
          <a:prstGeom prst="rect">
            <a:avLst/>
          </a:prstGeom>
          <a:noFill/>
          <a:ln/>
        </p:spPr>
        <p:txBody>
          <a:bodyPr wrap="square" lIns="0" tIns="0" rIns="0" bIns="0" rtlCol="0" anchor="ctr"/>
          <a:lstStyle/>
          <a:p>
            <a:pPr indent="0" marL="0">
              <a:buNone/>
            </a:pPr>
            <a:r>
              <a:rPr lang="en-US" sz="1450" b="1" dirty="0">
                <a:solidFill>
                  <a:srgbClr val="0F1620"/>
                </a:solidFill>
                <a:latin typeface="Arial" pitchFamily="34" charset="0"/>
                <a:ea typeface="Arial" pitchFamily="34" charset="-122"/>
                <a:cs typeface="Arial" pitchFamily="34" charset="-120"/>
              </a:rPr>
              <a:t>Weak</a:t>
            </a:r>
            <a:endParaRPr lang="en-US" sz="1450" dirty="0"/>
          </a:p>
        </p:txBody>
      </p:sp>
      <p:sp>
        <p:nvSpPr>
          <p:cNvPr id="21" name="Text 19"/>
          <p:cNvSpPr/>
          <p:nvPr/>
        </p:nvSpPr>
        <p:spPr>
          <a:xfrm>
            <a:off x="1481328" y="4443984"/>
            <a:ext cx="3566160" cy="329184"/>
          </a:xfrm>
          <a:prstGeom prst="rect">
            <a:avLst/>
          </a:prstGeom>
          <a:noFill/>
          <a:ln/>
        </p:spPr>
        <p:txBody>
          <a:bodyPr wrap="square" lIns="0" tIns="0" rIns="0" bIns="0" rtlCol="0" anchor="ctr"/>
          <a:lstStyle/>
          <a:p>
            <a:pPr indent="0" marL="0">
              <a:buNone/>
            </a:pPr>
            <a:r>
              <a:rPr lang="en-US" sz="1150" dirty="0">
                <a:solidFill>
                  <a:srgbClr val="5A6472"/>
                </a:solidFill>
                <a:latin typeface="Calibri" pitchFamily="34" charset="0"/>
                <a:ea typeface="Calibri" pitchFamily="34" charset="-122"/>
                <a:cs typeface="Calibri" pitchFamily="34" charset="-120"/>
              </a:rPr>
              <a:t>Consistent with use. Nowhere near proof.</a:t>
            </a:r>
            <a:endParaRPr lang="en-US" sz="1150" dirty="0"/>
          </a:p>
        </p:txBody>
      </p:sp>
      <p:sp>
        <p:nvSpPr>
          <p:cNvPr id="22" name="Text 20"/>
          <p:cNvSpPr/>
          <p:nvPr/>
        </p:nvSpPr>
        <p:spPr>
          <a:xfrm>
            <a:off x="5230368" y="4187952"/>
            <a:ext cx="6126480" cy="566928"/>
          </a:xfrm>
          <a:prstGeom prst="rect">
            <a:avLst/>
          </a:prstGeom>
          <a:noFill/>
          <a:ln/>
        </p:spPr>
        <p:txBody>
          <a:bodyPr wrap="square" lIns="0" tIns="0" rIns="0" bIns="0" rtlCol="0" anchor="ctr"/>
          <a:lstStyle/>
          <a:p>
            <a:pPr indent="0" marL="0">
              <a:lnSpc>
                <a:spcPts val="1500"/>
              </a:lnSpc>
              <a:buNone/>
            </a:pPr>
            <a:r>
              <a:rPr lang="en-US" sz="1100" dirty="0">
                <a:solidFill>
                  <a:srgbClr val="6B7686"/>
                </a:solidFill>
                <a:latin typeface="Calibri" pitchFamily="34" charset="0"/>
                <a:ea typeface="Calibri" pitchFamily="34" charset="-122"/>
                <a:cs typeface="Calibri" pitchFamily="34" charset="-120"/>
              </a:rPr>
              <a:t>Permission-set access · label-only match · inactive consumer · test-only reference · comment mention</a:t>
            </a:r>
            <a:endParaRPr lang="en-US" sz="1100" dirty="0"/>
          </a:p>
        </p:txBody>
      </p:sp>
      <p:sp>
        <p:nvSpPr>
          <p:cNvPr id="23" name="Shape 21"/>
          <p:cNvSpPr/>
          <p:nvPr/>
        </p:nvSpPr>
        <p:spPr>
          <a:xfrm>
            <a:off x="566928" y="5065776"/>
            <a:ext cx="11055096" cy="932688"/>
          </a:xfrm>
          <a:prstGeom prst="roundRect">
            <a:avLst>
              <a:gd name="adj" fmla="val 5882"/>
            </a:avLst>
          </a:prstGeom>
          <a:solidFill>
            <a:srgbClr val="FDF6EC"/>
          </a:solidFill>
          <a:ln w="12700">
            <a:solidFill>
              <a:srgbClr val="F0D5AC"/>
            </a:solidFill>
            <a:prstDash val="solid"/>
          </a:ln>
        </p:spPr>
      </p:sp>
      <p:sp>
        <p:nvSpPr>
          <p:cNvPr id="24" name="Shape 22"/>
          <p:cNvSpPr/>
          <p:nvPr/>
        </p:nvSpPr>
        <p:spPr>
          <a:xfrm>
            <a:off x="822960" y="5285232"/>
            <a:ext cx="493776" cy="493776"/>
          </a:xfrm>
          <a:prstGeom prst="ellipse">
            <a:avLst/>
          </a:prstGeom>
          <a:solidFill>
            <a:srgbClr val="F0A030"/>
          </a:solidFill>
          <a:ln/>
        </p:spPr>
      </p:sp>
      <p:sp>
        <p:nvSpPr>
          <p:cNvPr id="25" name="Text 23"/>
          <p:cNvSpPr/>
          <p:nvPr/>
        </p:nvSpPr>
        <p:spPr>
          <a:xfrm>
            <a:off x="822960" y="5285232"/>
            <a:ext cx="493776" cy="493776"/>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D</a:t>
            </a:r>
            <a:endParaRPr lang="en-US" sz="1900" dirty="0"/>
          </a:p>
        </p:txBody>
      </p:sp>
      <p:sp>
        <p:nvSpPr>
          <p:cNvPr id="26" name="Text 24"/>
          <p:cNvSpPr/>
          <p:nvPr/>
        </p:nvSpPr>
        <p:spPr>
          <a:xfrm>
            <a:off x="1481328" y="5212080"/>
            <a:ext cx="1371600" cy="274320"/>
          </a:xfrm>
          <a:prstGeom prst="rect">
            <a:avLst/>
          </a:prstGeom>
          <a:noFill/>
          <a:ln/>
        </p:spPr>
        <p:txBody>
          <a:bodyPr wrap="square" lIns="0" tIns="0" rIns="0" bIns="0" rtlCol="0" anchor="ctr"/>
          <a:lstStyle/>
          <a:p>
            <a:pPr indent="0" marL="0">
              <a:buNone/>
            </a:pPr>
            <a:r>
              <a:rPr lang="en-US" sz="1450" b="1" dirty="0">
                <a:solidFill>
                  <a:srgbClr val="0F1620"/>
                </a:solidFill>
                <a:latin typeface="Arial" pitchFamily="34" charset="0"/>
                <a:ea typeface="Arial" pitchFamily="34" charset="-122"/>
                <a:cs typeface="Arial" pitchFamily="34" charset="-120"/>
              </a:rPr>
              <a:t>Uncertainty</a:t>
            </a:r>
            <a:endParaRPr lang="en-US" sz="1450" dirty="0"/>
          </a:p>
        </p:txBody>
      </p:sp>
      <p:sp>
        <p:nvSpPr>
          <p:cNvPr id="27" name="Text 25"/>
          <p:cNvSpPr/>
          <p:nvPr/>
        </p:nvSpPr>
        <p:spPr>
          <a:xfrm>
            <a:off x="1481328" y="5522976"/>
            <a:ext cx="3566160" cy="329184"/>
          </a:xfrm>
          <a:prstGeom prst="rect">
            <a:avLst/>
          </a:prstGeom>
          <a:noFill/>
          <a:ln/>
        </p:spPr>
        <p:txBody>
          <a:bodyPr wrap="square" lIns="0" tIns="0" rIns="0" bIns="0" rtlCol="0" anchor="ctr"/>
          <a:lstStyle/>
          <a:p>
            <a:pPr indent="0" marL="0">
              <a:buNone/>
            </a:pPr>
            <a:r>
              <a:rPr lang="en-US" sz="1150" dirty="0">
                <a:solidFill>
                  <a:srgbClr val="5A6472"/>
                </a:solidFill>
                <a:latin typeface="Calibri" pitchFamily="34" charset="0"/>
                <a:ea typeface="Calibri" pitchFamily="34" charset="-122"/>
                <a:cs typeface="Calibri" pitchFamily="34" charset="-120"/>
              </a:rPr>
              <a:t>Not evidence at all. SUPPRESSES a deletion verdict.</a:t>
            </a:r>
            <a:endParaRPr lang="en-US" sz="1150" dirty="0"/>
          </a:p>
        </p:txBody>
      </p:sp>
      <p:sp>
        <p:nvSpPr>
          <p:cNvPr id="28" name="Text 26"/>
          <p:cNvSpPr/>
          <p:nvPr/>
        </p:nvSpPr>
        <p:spPr>
          <a:xfrm>
            <a:off x="5230368" y="5266944"/>
            <a:ext cx="6126480" cy="566928"/>
          </a:xfrm>
          <a:prstGeom prst="rect">
            <a:avLst/>
          </a:prstGeom>
          <a:noFill/>
          <a:ln/>
        </p:spPr>
        <p:txBody>
          <a:bodyPr wrap="square" lIns="0" tIns="0" rIns="0" bIns="0" rtlCol="0" anchor="ctr"/>
          <a:lstStyle/>
          <a:p>
            <a:pPr indent="0" marL="0">
              <a:lnSpc>
                <a:spcPts val="1500"/>
              </a:lnSpc>
              <a:buNone/>
            </a:pPr>
            <a:r>
              <a:rPr lang="en-US" sz="1100" dirty="0">
                <a:solidFill>
                  <a:srgbClr val="6B7686"/>
                </a:solidFill>
                <a:latin typeface="Calibri" pitchFamily="34" charset="0"/>
                <a:ea typeface="Calibri" pitchFamily="34" charset="-122"/>
                <a:cs typeface="Calibri" pitchFamily="34" charset="-120"/>
              </a:rPr>
              <a:t>Dynamic Apex present · parse failure · truncated data · a required check could not run</a:t>
            </a:r>
            <a:endParaRPr lang="en-US" sz="1100" dirty="0"/>
          </a:p>
        </p:txBody>
      </p:sp>
      <p:sp>
        <p:nvSpPr>
          <p:cNvPr id="29" name="Text 27"/>
          <p:cNvSpPr/>
          <p:nvPr/>
        </p:nvSpPr>
        <p:spPr>
          <a:xfrm>
            <a:off x="566928" y="6236208"/>
            <a:ext cx="10332720" cy="329184"/>
          </a:xfrm>
          <a:prstGeom prst="rect">
            <a:avLst/>
          </a:prstGeom>
          <a:noFill/>
          <a:ln/>
        </p:spPr>
        <p:txBody>
          <a:bodyPr wrap="square" lIns="0" tIns="0" rIns="0" bIns="0" rtlCol="0" anchor="ctr"/>
          <a:lstStyle/>
          <a:p>
            <a:pPr indent="0" marL="0">
              <a:buNone/>
            </a:pPr>
            <a:r>
              <a:rPr lang="en-US" sz="1250" i="1" dirty="0">
                <a:solidFill>
                  <a:srgbClr val="55606E"/>
                </a:solidFill>
                <a:latin typeface="Calibri" pitchFamily="34" charset="0"/>
                <a:ea typeface="Calibri" pitchFamily="34" charset="-122"/>
                <a:cs typeface="Calibri" pitchFamily="34" charset="-120"/>
              </a:rPr>
              <a:t>A single Tier-A hit outranks every "found nothing". Finding use is proof; not finding it is only absence.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11411712" y="6455664"/>
            <a:ext cx="365760" cy="274320"/>
          </a:xfrm>
          <a:prstGeom prst="rect">
            <a:avLst/>
          </a:prstGeom>
          <a:noFill/>
          <a:ln/>
        </p:spPr>
        <p:txBody>
          <a:bodyPr wrap="square" lIns="0" tIns="0" rIns="0" bIns="0" rtlCol="0" anchor="ctr"/>
          <a:lstStyle/>
          <a:p>
            <a:pPr algn="r" indent="0" marL="0">
              <a:buNone/>
            </a:pPr>
            <a:r>
              <a:rPr lang="en-US" sz="1000" dirty="0">
                <a:solidFill>
                  <a:srgbClr val="76849A"/>
                </a:solidFill>
                <a:latin typeface="Calibri" pitchFamily="34" charset="0"/>
                <a:ea typeface="Calibri" pitchFamily="34" charset="-122"/>
                <a:cs typeface="Calibri" pitchFamily="34" charset="-120"/>
              </a:rPr>
              <a:t>13</a:t>
            </a:r>
            <a:endParaRPr lang="en-US" sz="1000" dirty="0"/>
          </a:p>
        </p:txBody>
      </p:sp>
      <p:sp>
        <p:nvSpPr>
          <p:cNvPr id="3" name="Text 1"/>
          <p:cNvSpPr/>
          <p:nvPr/>
        </p:nvSpPr>
        <p:spPr>
          <a:xfrm>
            <a:off x="566928" y="402336"/>
            <a:ext cx="11055096" cy="713232"/>
          </a:xfrm>
          <a:prstGeom prst="rect">
            <a:avLst/>
          </a:prstGeom>
          <a:noFill/>
          <a:ln/>
        </p:spPr>
        <p:txBody>
          <a:bodyPr wrap="square" lIns="0" tIns="0" rIns="0" bIns="0" rtlCol="0" anchor="ctr"/>
          <a:lstStyle/>
          <a:p>
            <a:pPr indent="0" marL="0">
              <a:buNone/>
            </a:pPr>
            <a:r>
              <a:rPr lang="en-US" sz="3400" b="1" dirty="0">
                <a:solidFill>
                  <a:srgbClr val="F2F5F8"/>
                </a:solidFill>
                <a:latin typeface="Arial" pitchFamily="34" charset="0"/>
                <a:ea typeface="Arial" pitchFamily="34" charset="-122"/>
                <a:cs typeface="Arial" pitchFamily="34" charset="-120"/>
              </a:rPr>
              <a:t>The rules that decide a verdict</a:t>
            </a:r>
            <a:endParaRPr lang="en-US" sz="3400" dirty="0"/>
          </a:p>
        </p:txBody>
      </p:sp>
      <p:sp>
        <p:nvSpPr>
          <p:cNvPr id="4" name="Text 2"/>
          <p:cNvSpPr/>
          <p:nvPr/>
        </p:nvSpPr>
        <p:spPr>
          <a:xfrm>
            <a:off x="566928" y="1115568"/>
            <a:ext cx="11055096" cy="402336"/>
          </a:xfrm>
          <a:prstGeom prst="rect">
            <a:avLst/>
          </a:prstGeom>
          <a:noFill/>
          <a:ln/>
        </p:spPr>
        <p:txBody>
          <a:bodyPr wrap="square" lIns="0" tIns="0" rIns="0" bIns="0" rtlCol="0" anchor="ctr"/>
          <a:lstStyle/>
          <a:p>
            <a:pPr indent="0" marL="0">
              <a:buNone/>
            </a:pPr>
            <a:r>
              <a:rPr lang="en-US" sz="1450" dirty="0">
                <a:solidFill>
                  <a:srgbClr val="A8B4C4"/>
                </a:solidFill>
                <a:latin typeface="Calibri" pitchFamily="34" charset="0"/>
                <a:ea typeface="Calibri" pitchFamily="34" charset="-122"/>
                <a:cs typeface="Calibri" pitchFamily="34" charset="-120"/>
              </a:rPr>
              <a:t>Evaluated in order. First match wins. No model participates.</a:t>
            </a:r>
            <a:endParaRPr lang="en-US" sz="1450" dirty="0"/>
          </a:p>
        </p:txBody>
      </p:sp>
      <p:sp>
        <p:nvSpPr>
          <p:cNvPr id="5" name="Text 3"/>
          <p:cNvSpPr/>
          <p:nvPr/>
        </p:nvSpPr>
        <p:spPr>
          <a:xfrm>
            <a:off x="566928" y="1682496"/>
            <a:ext cx="658368" cy="274320"/>
          </a:xfrm>
          <a:prstGeom prst="rect">
            <a:avLst/>
          </a:prstGeom>
          <a:noFill/>
          <a:ln/>
        </p:spPr>
        <p:txBody>
          <a:bodyPr wrap="square" lIns="0" tIns="0" rIns="0" bIns="0" rtlCol="0" anchor="ctr"/>
          <a:lstStyle/>
          <a:p>
            <a:pPr indent="0" marL="0">
              <a:buNone/>
            </a:pPr>
            <a:r>
              <a:rPr lang="en-US" sz="1150" b="1" dirty="0">
                <a:solidFill>
                  <a:srgbClr val="76849A"/>
                </a:solidFill>
                <a:latin typeface="Courier New" pitchFamily="34" charset="0"/>
                <a:ea typeface="Courier New" pitchFamily="34" charset="-122"/>
                <a:cs typeface="Courier New" pitchFamily="34" charset="-120"/>
              </a:rPr>
              <a:t>R0/R1</a:t>
            </a:r>
            <a:endParaRPr lang="en-US" sz="1150" dirty="0"/>
          </a:p>
        </p:txBody>
      </p:sp>
      <p:sp>
        <p:nvSpPr>
          <p:cNvPr id="6" name="Text 4"/>
          <p:cNvSpPr/>
          <p:nvPr/>
        </p:nvSpPr>
        <p:spPr>
          <a:xfrm>
            <a:off x="1298448" y="1682496"/>
            <a:ext cx="7315200" cy="274320"/>
          </a:xfrm>
          <a:prstGeom prst="rect">
            <a:avLst/>
          </a:prstGeom>
          <a:noFill/>
          <a:ln/>
        </p:spPr>
        <p:txBody>
          <a:bodyPr wrap="square" lIns="0" tIns="0" rIns="0" bIns="0" rtlCol="0" anchor="ctr"/>
          <a:lstStyle/>
          <a:p>
            <a:pPr indent="0" marL="0">
              <a:buNone/>
            </a:pPr>
            <a:r>
              <a:rPr lang="en-US" sz="1300" dirty="0">
                <a:solidFill>
                  <a:srgbClr val="A8B4C4"/>
                </a:solidFill>
                <a:latin typeface="Calibri" pitchFamily="34" charset="0"/>
                <a:ea typeface="Calibri" pitchFamily="34" charset="-122"/>
                <a:cs typeface="Calibri" pitchFamily="34" charset="-120"/>
              </a:rPr>
              <a:t>Managed package, or a standard component</a:t>
            </a:r>
            <a:endParaRPr lang="en-US" sz="1300" dirty="0"/>
          </a:p>
        </p:txBody>
      </p:sp>
      <p:sp>
        <p:nvSpPr>
          <p:cNvPr id="7" name="Shape 5"/>
          <p:cNvSpPr/>
          <p:nvPr/>
        </p:nvSpPr>
        <p:spPr>
          <a:xfrm>
            <a:off x="9052560" y="1664208"/>
            <a:ext cx="1828800" cy="292608"/>
          </a:xfrm>
          <a:prstGeom prst="roundRect">
            <a:avLst>
              <a:gd name="adj" fmla="val 15625"/>
            </a:avLst>
          </a:prstGeom>
          <a:solidFill>
            <a:srgbClr val="0F1620"/>
          </a:solidFill>
          <a:ln w="12700">
            <a:solidFill>
              <a:srgbClr val="76849A"/>
            </a:solidFill>
            <a:prstDash val="solid"/>
          </a:ln>
        </p:spPr>
      </p:sp>
      <p:sp>
        <p:nvSpPr>
          <p:cNvPr id="8" name="Text 6"/>
          <p:cNvSpPr/>
          <p:nvPr/>
        </p:nvSpPr>
        <p:spPr>
          <a:xfrm>
            <a:off x="9052560" y="1664208"/>
            <a:ext cx="1828800" cy="292608"/>
          </a:xfrm>
          <a:prstGeom prst="rect">
            <a:avLst/>
          </a:prstGeom>
          <a:noFill/>
          <a:ln/>
        </p:spPr>
        <p:txBody>
          <a:bodyPr wrap="square" lIns="0" tIns="0" rIns="0" bIns="0" rtlCol="0" anchor="ctr"/>
          <a:lstStyle/>
          <a:p>
            <a:pPr algn="ctr" indent="0" marL="0">
              <a:buNone/>
            </a:pPr>
            <a:r>
              <a:rPr lang="en-US" sz="1000" b="1" dirty="0">
                <a:solidFill>
                  <a:srgbClr val="76849A"/>
                </a:solidFill>
                <a:latin typeface="Arial" pitchFamily="34" charset="0"/>
                <a:ea typeface="Arial" pitchFamily="34" charset="-122"/>
                <a:cs typeface="Arial" pitchFamily="34" charset="-120"/>
              </a:rPr>
              <a:t>OUT OF SCOPE</a:t>
            </a:r>
            <a:endParaRPr lang="en-US" sz="1000" dirty="0"/>
          </a:p>
        </p:txBody>
      </p:sp>
      <p:sp>
        <p:nvSpPr>
          <p:cNvPr id="9" name="Text 7"/>
          <p:cNvSpPr/>
          <p:nvPr/>
        </p:nvSpPr>
        <p:spPr>
          <a:xfrm>
            <a:off x="566928" y="2084832"/>
            <a:ext cx="658368" cy="274320"/>
          </a:xfrm>
          <a:prstGeom prst="rect">
            <a:avLst/>
          </a:prstGeom>
          <a:noFill/>
          <a:ln/>
        </p:spPr>
        <p:txBody>
          <a:bodyPr wrap="square" lIns="0" tIns="0" rIns="0" bIns="0" rtlCol="0" anchor="ctr"/>
          <a:lstStyle/>
          <a:p>
            <a:pPr indent="0" marL="0">
              <a:buNone/>
            </a:pPr>
            <a:r>
              <a:rPr lang="en-US" sz="1150" b="1" dirty="0">
                <a:solidFill>
                  <a:srgbClr val="76849A"/>
                </a:solidFill>
                <a:latin typeface="Courier New" pitchFamily="34" charset="0"/>
                <a:ea typeface="Courier New" pitchFamily="34" charset="-122"/>
                <a:cs typeface="Courier New" pitchFamily="34" charset="-120"/>
              </a:rPr>
              <a:t>R2</a:t>
            </a:r>
            <a:endParaRPr lang="en-US" sz="1150" dirty="0"/>
          </a:p>
        </p:txBody>
      </p:sp>
      <p:sp>
        <p:nvSpPr>
          <p:cNvPr id="10" name="Text 8"/>
          <p:cNvSpPr/>
          <p:nvPr/>
        </p:nvSpPr>
        <p:spPr>
          <a:xfrm>
            <a:off x="1298448" y="2084832"/>
            <a:ext cx="7315200" cy="274320"/>
          </a:xfrm>
          <a:prstGeom prst="rect">
            <a:avLst/>
          </a:prstGeom>
          <a:noFill/>
          <a:ln/>
        </p:spPr>
        <p:txBody>
          <a:bodyPr wrap="square" lIns="0" tIns="0" rIns="0" bIns="0" rtlCol="0" anchor="ctr"/>
          <a:lstStyle/>
          <a:p>
            <a:pPr indent="0" marL="0">
              <a:buNone/>
            </a:pPr>
            <a:r>
              <a:rPr lang="en-US" sz="1300" dirty="0">
                <a:solidFill>
                  <a:srgbClr val="A8B4C4"/>
                </a:solidFill>
                <a:latin typeface="Calibri" pitchFamily="34" charset="0"/>
                <a:ea typeface="Calibri" pitchFamily="34" charset="-122"/>
                <a:cs typeface="Calibri" pitchFamily="34" charset="-120"/>
              </a:rPr>
              <a:t>A required check could not run</a:t>
            </a:r>
            <a:endParaRPr lang="en-US" sz="1300" dirty="0"/>
          </a:p>
        </p:txBody>
      </p:sp>
      <p:sp>
        <p:nvSpPr>
          <p:cNvPr id="11" name="Shape 9"/>
          <p:cNvSpPr/>
          <p:nvPr/>
        </p:nvSpPr>
        <p:spPr>
          <a:xfrm>
            <a:off x="9052560" y="2066544"/>
            <a:ext cx="1828800" cy="292608"/>
          </a:xfrm>
          <a:prstGeom prst="roundRect">
            <a:avLst>
              <a:gd name="adj" fmla="val 15625"/>
            </a:avLst>
          </a:prstGeom>
          <a:solidFill>
            <a:srgbClr val="0F1620"/>
          </a:solidFill>
          <a:ln w="12700">
            <a:solidFill>
              <a:srgbClr val="9B84F7"/>
            </a:solidFill>
            <a:prstDash val="solid"/>
          </a:ln>
        </p:spPr>
      </p:sp>
      <p:sp>
        <p:nvSpPr>
          <p:cNvPr id="12" name="Text 10"/>
          <p:cNvSpPr/>
          <p:nvPr/>
        </p:nvSpPr>
        <p:spPr>
          <a:xfrm>
            <a:off x="9052560" y="2066544"/>
            <a:ext cx="1828800" cy="292608"/>
          </a:xfrm>
          <a:prstGeom prst="rect">
            <a:avLst/>
          </a:prstGeom>
          <a:noFill/>
          <a:ln/>
        </p:spPr>
        <p:txBody>
          <a:bodyPr wrap="square" lIns="0" tIns="0" rIns="0" bIns="0" rtlCol="0" anchor="ctr"/>
          <a:lstStyle/>
          <a:p>
            <a:pPr algn="ctr" indent="0" marL="0">
              <a:buNone/>
            </a:pPr>
            <a:r>
              <a:rPr lang="en-US" sz="1000" b="1" dirty="0">
                <a:solidFill>
                  <a:srgbClr val="9B84F7"/>
                </a:solidFill>
                <a:latin typeface="Arial" pitchFamily="34" charset="0"/>
                <a:ea typeface="Arial" pitchFamily="34" charset="-122"/>
                <a:cs typeface="Arial" pitchFamily="34" charset="-120"/>
              </a:rPr>
              <a:t>NEEDS REVIEW</a:t>
            </a:r>
            <a:endParaRPr lang="en-US" sz="1000" dirty="0"/>
          </a:p>
        </p:txBody>
      </p:sp>
      <p:sp>
        <p:nvSpPr>
          <p:cNvPr id="13" name="Text 11"/>
          <p:cNvSpPr/>
          <p:nvPr/>
        </p:nvSpPr>
        <p:spPr>
          <a:xfrm>
            <a:off x="566928" y="2487168"/>
            <a:ext cx="658368" cy="274320"/>
          </a:xfrm>
          <a:prstGeom prst="rect">
            <a:avLst/>
          </a:prstGeom>
          <a:noFill/>
          <a:ln/>
        </p:spPr>
        <p:txBody>
          <a:bodyPr wrap="square" lIns="0" tIns="0" rIns="0" bIns="0" rtlCol="0" anchor="ctr"/>
          <a:lstStyle/>
          <a:p>
            <a:pPr indent="0" marL="0">
              <a:buNone/>
            </a:pPr>
            <a:r>
              <a:rPr lang="en-US" sz="1150" b="1" dirty="0">
                <a:solidFill>
                  <a:srgbClr val="76849A"/>
                </a:solidFill>
                <a:latin typeface="Courier New" pitchFamily="34" charset="0"/>
                <a:ea typeface="Courier New" pitchFamily="34" charset="-122"/>
                <a:cs typeface="Courier New" pitchFamily="34" charset="-120"/>
              </a:rPr>
              <a:t>R3a</a:t>
            </a:r>
            <a:endParaRPr lang="en-US" sz="1150" dirty="0"/>
          </a:p>
        </p:txBody>
      </p:sp>
      <p:sp>
        <p:nvSpPr>
          <p:cNvPr id="14" name="Text 12"/>
          <p:cNvSpPr/>
          <p:nvPr/>
        </p:nvSpPr>
        <p:spPr>
          <a:xfrm>
            <a:off x="1298448" y="2487168"/>
            <a:ext cx="7315200" cy="274320"/>
          </a:xfrm>
          <a:prstGeom prst="rect">
            <a:avLst/>
          </a:prstGeom>
          <a:noFill/>
          <a:ln/>
        </p:spPr>
        <p:txBody>
          <a:bodyPr wrap="square" lIns="0" tIns="0" rIns="0" bIns="0" rtlCol="0" anchor="ctr"/>
          <a:lstStyle/>
          <a:p>
            <a:pPr indent="0" marL="0">
              <a:buNone/>
            </a:pPr>
            <a:r>
              <a:rPr lang="en-US" sz="1300" dirty="0">
                <a:solidFill>
                  <a:srgbClr val="A8B4C4"/>
                </a:solidFill>
                <a:latin typeface="Calibri" pitchFamily="34" charset="0"/>
                <a:ea typeface="Calibri" pitchFamily="34" charset="-122"/>
                <a:cs typeface="Calibri" pitchFamily="34" charset="-120"/>
              </a:rPr>
              <a:t>Only a layout references it, and no record holds a value</a:t>
            </a:r>
            <a:endParaRPr lang="en-US" sz="1300" dirty="0"/>
          </a:p>
        </p:txBody>
      </p:sp>
      <p:sp>
        <p:nvSpPr>
          <p:cNvPr id="15" name="Shape 13"/>
          <p:cNvSpPr/>
          <p:nvPr/>
        </p:nvSpPr>
        <p:spPr>
          <a:xfrm>
            <a:off x="9052560" y="2468880"/>
            <a:ext cx="1828800" cy="292608"/>
          </a:xfrm>
          <a:prstGeom prst="roundRect">
            <a:avLst>
              <a:gd name="adj" fmla="val 15625"/>
            </a:avLst>
          </a:prstGeom>
          <a:solidFill>
            <a:srgbClr val="0F1620"/>
          </a:solidFill>
          <a:ln w="12700">
            <a:solidFill>
              <a:srgbClr val="F0A030"/>
            </a:solidFill>
            <a:prstDash val="solid"/>
          </a:ln>
        </p:spPr>
      </p:sp>
      <p:sp>
        <p:nvSpPr>
          <p:cNvPr id="16" name="Text 14"/>
          <p:cNvSpPr/>
          <p:nvPr/>
        </p:nvSpPr>
        <p:spPr>
          <a:xfrm>
            <a:off x="9052560" y="2468880"/>
            <a:ext cx="1828800" cy="292608"/>
          </a:xfrm>
          <a:prstGeom prst="rect">
            <a:avLst/>
          </a:prstGeom>
          <a:noFill/>
          <a:ln/>
        </p:spPr>
        <p:txBody>
          <a:bodyPr wrap="square" lIns="0" tIns="0" rIns="0" bIns="0" rtlCol="0" anchor="ctr"/>
          <a:lstStyle/>
          <a:p>
            <a:pPr algn="ctr" indent="0" marL="0">
              <a:buNone/>
            </a:pPr>
            <a:r>
              <a:rPr lang="en-US" sz="1000" b="1" dirty="0">
                <a:solidFill>
                  <a:srgbClr val="F0A030"/>
                </a:solidFill>
                <a:latin typeface="Arial" pitchFamily="34" charset="0"/>
                <a:ea typeface="Arial" pitchFamily="34" charset="-122"/>
                <a:cs typeface="Arial" pitchFamily="34" charset="-120"/>
              </a:rPr>
              <a:t>UNUSED</a:t>
            </a:r>
            <a:endParaRPr lang="en-US" sz="1000" dirty="0"/>
          </a:p>
        </p:txBody>
      </p:sp>
      <p:sp>
        <p:nvSpPr>
          <p:cNvPr id="17" name="Text 15"/>
          <p:cNvSpPr/>
          <p:nvPr/>
        </p:nvSpPr>
        <p:spPr>
          <a:xfrm>
            <a:off x="566928" y="2889504"/>
            <a:ext cx="658368" cy="274320"/>
          </a:xfrm>
          <a:prstGeom prst="rect">
            <a:avLst/>
          </a:prstGeom>
          <a:noFill/>
          <a:ln/>
        </p:spPr>
        <p:txBody>
          <a:bodyPr wrap="square" lIns="0" tIns="0" rIns="0" bIns="0" rtlCol="0" anchor="ctr"/>
          <a:lstStyle/>
          <a:p>
            <a:pPr indent="0" marL="0">
              <a:buNone/>
            </a:pPr>
            <a:r>
              <a:rPr lang="en-US" sz="1150" b="1" dirty="0">
                <a:solidFill>
                  <a:srgbClr val="76849A"/>
                </a:solidFill>
                <a:latin typeface="Courier New" pitchFamily="34" charset="0"/>
                <a:ea typeface="Courier New" pitchFamily="34" charset="-122"/>
                <a:cs typeface="Courier New" pitchFamily="34" charset="-120"/>
              </a:rPr>
              <a:t>R3</a:t>
            </a:r>
            <a:endParaRPr lang="en-US" sz="1150" dirty="0"/>
          </a:p>
        </p:txBody>
      </p:sp>
      <p:sp>
        <p:nvSpPr>
          <p:cNvPr id="18" name="Text 16"/>
          <p:cNvSpPr/>
          <p:nvPr/>
        </p:nvSpPr>
        <p:spPr>
          <a:xfrm>
            <a:off x="1298448" y="2889504"/>
            <a:ext cx="7315200" cy="274320"/>
          </a:xfrm>
          <a:prstGeom prst="rect">
            <a:avLst/>
          </a:prstGeom>
          <a:noFill/>
          <a:ln/>
        </p:spPr>
        <p:txBody>
          <a:bodyPr wrap="square" lIns="0" tIns="0" rIns="0" bIns="0" rtlCol="0" anchor="ctr"/>
          <a:lstStyle/>
          <a:p>
            <a:pPr indent="0" marL="0">
              <a:buNone/>
            </a:pPr>
            <a:r>
              <a:rPr lang="en-US" sz="1300" dirty="0">
                <a:solidFill>
                  <a:srgbClr val="A8B4C4"/>
                </a:solidFill>
                <a:latin typeface="Calibri" pitchFamily="34" charset="0"/>
                <a:ea typeface="Calibri" pitchFamily="34" charset="-122"/>
                <a:cs typeface="Calibri" pitchFamily="34" charset="-120"/>
              </a:rPr>
              <a:t>Something references it in a binding way</a:t>
            </a:r>
            <a:endParaRPr lang="en-US" sz="1300" dirty="0"/>
          </a:p>
        </p:txBody>
      </p:sp>
      <p:sp>
        <p:nvSpPr>
          <p:cNvPr id="19" name="Shape 17"/>
          <p:cNvSpPr/>
          <p:nvPr/>
        </p:nvSpPr>
        <p:spPr>
          <a:xfrm>
            <a:off x="9052560" y="2871216"/>
            <a:ext cx="1828800" cy="292608"/>
          </a:xfrm>
          <a:prstGeom prst="roundRect">
            <a:avLst>
              <a:gd name="adj" fmla="val 15625"/>
            </a:avLst>
          </a:prstGeom>
          <a:solidFill>
            <a:srgbClr val="0F1620"/>
          </a:solidFill>
          <a:ln w="12700">
            <a:solidFill>
              <a:srgbClr val="3FBF92"/>
            </a:solidFill>
            <a:prstDash val="solid"/>
          </a:ln>
        </p:spPr>
      </p:sp>
      <p:sp>
        <p:nvSpPr>
          <p:cNvPr id="20" name="Text 18"/>
          <p:cNvSpPr/>
          <p:nvPr/>
        </p:nvSpPr>
        <p:spPr>
          <a:xfrm>
            <a:off x="9052560" y="2871216"/>
            <a:ext cx="1828800" cy="292608"/>
          </a:xfrm>
          <a:prstGeom prst="rect">
            <a:avLst/>
          </a:prstGeom>
          <a:noFill/>
          <a:ln/>
        </p:spPr>
        <p:txBody>
          <a:bodyPr wrap="square" lIns="0" tIns="0" rIns="0" bIns="0" rtlCol="0" anchor="ctr"/>
          <a:lstStyle/>
          <a:p>
            <a:pPr algn="ctr" indent="0" marL="0">
              <a:buNone/>
            </a:pPr>
            <a:r>
              <a:rPr lang="en-US" sz="1000" b="1" dirty="0">
                <a:solidFill>
                  <a:srgbClr val="3FBF92"/>
                </a:solidFill>
                <a:latin typeface="Arial" pitchFamily="34" charset="0"/>
                <a:ea typeface="Arial" pitchFamily="34" charset="-122"/>
                <a:cs typeface="Arial" pitchFamily="34" charset="-120"/>
              </a:rPr>
              <a:t>USED</a:t>
            </a:r>
            <a:endParaRPr lang="en-US" sz="1000" dirty="0"/>
          </a:p>
        </p:txBody>
      </p:sp>
      <p:sp>
        <p:nvSpPr>
          <p:cNvPr id="21" name="Text 19"/>
          <p:cNvSpPr/>
          <p:nvPr/>
        </p:nvSpPr>
        <p:spPr>
          <a:xfrm>
            <a:off x="566928" y="3291840"/>
            <a:ext cx="658368" cy="274320"/>
          </a:xfrm>
          <a:prstGeom prst="rect">
            <a:avLst/>
          </a:prstGeom>
          <a:noFill/>
          <a:ln/>
        </p:spPr>
        <p:txBody>
          <a:bodyPr wrap="square" lIns="0" tIns="0" rIns="0" bIns="0" rtlCol="0" anchor="ctr"/>
          <a:lstStyle/>
          <a:p>
            <a:pPr indent="0" marL="0">
              <a:buNone/>
            </a:pPr>
            <a:r>
              <a:rPr lang="en-US" sz="1150" b="1" dirty="0">
                <a:solidFill>
                  <a:srgbClr val="76849A"/>
                </a:solidFill>
                <a:latin typeface="Courier New" pitchFamily="34" charset="0"/>
                <a:ea typeface="Courier New" pitchFamily="34" charset="-122"/>
                <a:cs typeface="Courier New" pitchFamily="34" charset="-120"/>
              </a:rPr>
              <a:t>R4</a:t>
            </a:r>
            <a:endParaRPr lang="en-US" sz="1150" dirty="0"/>
          </a:p>
        </p:txBody>
      </p:sp>
      <p:sp>
        <p:nvSpPr>
          <p:cNvPr id="22" name="Text 20"/>
          <p:cNvSpPr/>
          <p:nvPr/>
        </p:nvSpPr>
        <p:spPr>
          <a:xfrm>
            <a:off x="1298448" y="3291840"/>
            <a:ext cx="7315200" cy="274320"/>
          </a:xfrm>
          <a:prstGeom prst="rect">
            <a:avLst/>
          </a:prstGeom>
          <a:noFill/>
          <a:ln/>
        </p:spPr>
        <p:txBody>
          <a:bodyPr wrap="square" lIns="0" tIns="0" rIns="0" bIns="0" rtlCol="0" anchor="ctr"/>
          <a:lstStyle/>
          <a:p>
            <a:pPr indent="0" marL="0">
              <a:buNone/>
            </a:pPr>
            <a:r>
              <a:rPr lang="en-US" sz="1300" dirty="0">
                <a:solidFill>
                  <a:srgbClr val="A8B4C4"/>
                </a:solidFill>
                <a:latin typeface="Calibri" pitchFamily="34" charset="0"/>
                <a:ea typeface="Calibri" pitchFamily="34" charset="-122"/>
                <a:cs typeface="Calibri" pitchFamily="34" charset="-120"/>
              </a:rPr>
              <a:t>No reference, but real data or runtime activity</a:t>
            </a:r>
            <a:endParaRPr lang="en-US" sz="1300" dirty="0"/>
          </a:p>
        </p:txBody>
      </p:sp>
      <p:sp>
        <p:nvSpPr>
          <p:cNvPr id="23" name="Shape 21"/>
          <p:cNvSpPr/>
          <p:nvPr/>
        </p:nvSpPr>
        <p:spPr>
          <a:xfrm>
            <a:off x="9052560" y="3273552"/>
            <a:ext cx="1828800" cy="292608"/>
          </a:xfrm>
          <a:prstGeom prst="roundRect">
            <a:avLst>
              <a:gd name="adj" fmla="val 15625"/>
            </a:avLst>
          </a:prstGeom>
          <a:solidFill>
            <a:srgbClr val="0F1620"/>
          </a:solidFill>
          <a:ln w="12700">
            <a:solidFill>
              <a:srgbClr val="3FBF92"/>
            </a:solidFill>
            <a:prstDash val="solid"/>
          </a:ln>
        </p:spPr>
      </p:sp>
      <p:sp>
        <p:nvSpPr>
          <p:cNvPr id="24" name="Text 22"/>
          <p:cNvSpPr/>
          <p:nvPr/>
        </p:nvSpPr>
        <p:spPr>
          <a:xfrm>
            <a:off x="9052560" y="3273552"/>
            <a:ext cx="1828800" cy="292608"/>
          </a:xfrm>
          <a:prstGeom prst="rect">
            <a:avLst/>
          </a:prstGeom>
          <a:noFill/>
          <a:ln/>
        </p:spPr>
        <p:txBody>
          <a:bodyPr wrap="square" lIns="0" tIns="0" rIns="0" bIns="0" rtlCol="0" anchor="ctr"/>
          <a:lstStyle/>
          <a:p>
            <a:pPr algn="ctr" indent="0" marL="0">
              <a:buNone/>
            </a:pPr>
            <a:r>
              <a:rPr lang="en-US" sz="1000" b="1" dirty="0">
                <a:solidFill>
                  <a:srgbClr val="3FBF92"/>
                </a:solidFill>
                <a:latin typeface="Arial" pitchFamily="34" charset="0"/>
                <a:ea typeface="Arial" pitchFamily="34" charset="-122"/>
                <a:cs typeface="Arial" pitchFamily="34" charset="-120"/>
              </a:rPr>
              <a:t>USED</a:t>
            </a:r>
            <a:endParaRPr lang="en-US" sz="1000" dirty="0"/>
          </a:p>
        </p:txBody>
      </p:sp>
      <p:sp>
        <p:nvSpPr>
          <p:cNvPr id="25" name="Text 23"/>
          <p:cNvSpPr/>
          <p:nvPr/>
        </p:nvSpPr>
        <p:spPr>
          <a:xfrm>
            <a:off x="566928" y="3694176"/>
            <a:ext cx="658368" cy="274320"/>
          </a:xfrm>
          <a:prstGeom prst="rect">
            <a:avLst/>
          </a:prstGeom>
          <a:noFill/>
          <a:ln/>
        </p:spPr>
        <p:txBody>
          <a:bodyPr wrap="square" lIns="0" tIns="0" rIns="0" bIns="0" rtlCol="0" anchor="ctr"/>
          <a:lstStyle/>
          <a:p>
            <a:pPr indent="0" marL="0">
              <a:buNone/>
            </a:pPr>
            <a:r>
              <a:rPr lang="en-US" sz="1150" b="1" dirty="0">
                <a:solidFill>
                  <a:srgbClr val="76849A"/>
                </a:solidFill>
                <a:latin typeface="Courier New" pitchFamily="34" charset="0"/>
                <a:ea typeface="Courier New" pitchFamily="34" charset="-122"/>
                <a:cs typeface="Courier New" pitchFamily="34" charset="-120"/>
              </a:rPr>
              <a:t>R5</a:t>
            </a:r>
            <a:endParaRPr lang="en-US" sz="1150" dirty="0"/>
          </a:p>
        </p:txBody>
      </p:sp>
      <p:sp>
        <p:nvSpPr>
          <p:cNvPr id="26" name="Text 24"/>
          <p:cNvSpPr/>
          <p:nvPr/>
        </p:nvSpPr>
        <p:spPr>
          <a:xfrm>
            <a:off x="1298448" y="3694176"/>
            <a:ext cx="7315200" cy="274320"/>
          </a:xfrm>
          <a:prstGeom prst="rect">
            <a:avLst/>
          </a:prstGeom>
          <a:noFill/>
          <a:ln/>
        </p:spPr>
        <p:txBody>
          <a:bodyPr wrap="square" lIns="0" tIns="0" rIns="0" bIns="0" rtlCol="0" anchor="ctr"/>
          <a:lstStyle/>
          <a:p>
            <a:pPr indent="0" marL="0">
              <a:buNone/>
            </a:pPr>
            <a:r>
              <a:rPr lang="en-US" sz="1300" dirty="0">
                <a:solidFill>
                  <a:srgbClr val="A8B4C4"/>
                </a:solidFill>
                <a:latin typeface="Calibri" pitchFamily="34" charset="0"/>
                <a:ea typeface="Calibri" pitchFamily="34" charset="-122"/>
                <a:cs typeface="Calibri" pitchFamily="34" charset="-120"/>
              </a:rPr>
              <a:t>Externally invocable, or test-only code</a:t>
            </a:r>
            <a:endParaRPr lang="en-US" sz="1300" dirty="0"/>
          </a:p>
        </p:txBody>
      </p:sp>
      <p:sp>
        <p:nvSpPr>
          <p:cNvPr id="27" name="Shape 25"/>
          <p:cNvSpPr/>
          <p:nvPr/>
        </p:nvSpPr>
        <p:spPr>
          <a:xfrm>
            <a:off x="9052560" y="3675888"/>
            <a:ext cx="1828800" cy="292608"/>
          </a:xfrm>
          <a:prstGeom prst="roundRect">
            <a:avLst>
              <a:gd name="adj" fmla="val 15625"/>
            </a:avLst>
          </a:prstGeom>
          <a:solidFill>
            <a:srgbClr val="0F1620"/>
          </a:solidFill>
          <a:ln w="12700">
            <a:solidFill>
              <a:srgbClr val="9B84F7"/>
            </a:solidFill>
            <a:prstDash val="solid"/>
          </a:ln>
        </p:spPr>
      </p:sp>
      <p:sp>
        <p:nvSpPr>
          <p:cNvPr id="28" name="Text 26"/>
          <p:cNvSpPr/>
          <p:nvPr/>
        </p:nvSpPr>
        <p:spPr>
          <a:xfrm>
            <a:off x="9052560" y="3675888"/>
            <a:ext cx="1828800" cy="292608"/>
          </a:xfrm>
          <a:prstGeom prst="rect">
            <a:avLst/>
          </a:prstGeom>
          <a:noFill/>
          <a:ln/>
        </p:spPr>
        <p:txBody>
          <a:bodyPr wrap="square" lIns="0" tIns="0" rIns="0" bIns="0" rtlCol="0" anchor="ctr"/>
          <a:lstStyle/>
          <a:p>
            <a:pPr algn="ctr" indent="0" marL="0">
              <a:buNone/>
            </a:pPr>
            <a:r>
              <a:rPr lang="en-US" sz="1000" b="1" dirty="0">
                <a:solidFill>
                  <a:srgbClr val="9B84F7"/>
                </a:solidFill>
                <a:latin typeface="Arial" pitchFamily="34" charset="0"/>
                <a:ea typeface="Arial" pitchFamily="34" charset="-122"/>
                <a:cs typeface="Arial" pitchFamily="34" charset="-120"/>
              </a:rPr>
              <a:t>NEEDS REVIEW</a:t>
            </a:r>
            <a:endParaRPr lang="en-US" sz="1000" dirty="0"/>
          </a:p>
        </p:txBody>
      </p:sp>
      <p:sp>
        <p:nvSpPr>
          <p:cNvPr id="29" name="Text 27"/>
          <p:cNvSpPr/>
          <p:nvPr/>
        </p:nvSpPr>
        <p:spPr>
          <a:xfrm>
            <a:off x="566928" y="4096512"/>
            <a:ext cx="658368" cy="274320"/>
          </a:xfrm>
          <a:prstGeom prst="rect">
            <a:avLst/>
          </a:prstGeom>
          <a:noFill/>
          <a:ln/>
        </p:spPr>
        <p:txBody>
          <a:bodyPr wrap="square" lIns="0" tIns="0" rIns="0" bIns="0" rtlCol="0" anchor="ctr"/>
          <a:lstStyle/>
          <a:p>
            <a:pPr indent="0" marL="0">
              <a:buNone/>
            </a:pPr>
            <a:r>
              <a:rPr lang="en-US" sz="1150" b="1" dirty="0">
                <a:solidFill>
                  <a:srgbClr val="76849A"/>
                </a:solidFill>
                <a:latin typeface="Courier New" pitchFamily="34" charset="0"/>
                <a:ea typeface="Courier New" pitchFamily="34" charset="-122"/>
                <a:cs typeface="Courier New" pitchFamily="34" charset="-120"/>
              </a:rPr>
              <a:t>R5b</a:t>
            </a:r>
            <a:endParaRPr lang="en-US" sz="1150" dirty="0"/>
          </a:p>
        </p:txBody>
      </p:sp>
      <p:sp>
        <p:nvSpPr>
          <p:cNvPr id="30" name="Text 28"/>
          <p:cNvSpPr/>
          <p:nvPr/>
        </p:nvSpPr>
        <p:spPr>
          <a:xfrm>
            <a:off x="1298448" y="4096512"/>
            <a:ext cx="7315200" cy="274320"/>
          </a:xfrm>
          <a:prstGeom prst="rect">
            <a:avLst/>
          </a:prstGeom>
          <a:noFill/>
          <a:ln/>
        </p:spPr>
        <p:txBody>
          <a:bodyPr wrap="square" lIns="0" tIns="0" rIns="0" bIns="0" rtlCol="0" anchor="ctr"/>
          <a:lstStyle/>
          <a:p>
            <a:pPr indent="0" marL="0">
              <a:buNone/>
            </a:pPr>
            <a:r>
              <a:rPr lang="en-US" sz="1300" dirty="0">
                <a:solidFill>
                  <a:srgbClr val="A8B4C4"/>
                </a:solidFill>
                <a:latin typeface="Calibri" pitchFamily="34" charset="0"/>
                <a:ea typeface="Calibri" pitchFamily="34" charset="-122"/>
                <a:cs typeface="Calibri" pitchFamily="34" charset="-120"/>
              </a:rPr>
              <a:t>Nothing that runs or is seen can reach it</a:t>
            </a:r>
            <a:endParaRPr lang="en-US" sz="1300" dirty="0"/>
          </a:p>
        </p:txBody>
      </p:sp>
      <p:sp>
        <p:nvSpPr>
          <p:cNvPr id="31" name="Shape 29"/>
          <p:cNvSpPr/>
          <p:nvPr/>
        </p:nvSpPr>
        <p:spPr>
          <a:xfrm>
            <a:off x="9052560" y="4078224"/>
            <a:ext cx="1828800" cy="292608"/>
          </a:xfrm>
          <a:prstGeom prst="roundRect">
            <a:avLst>
              <a:gd name="adj" fmla="val 15625"/>
            </a:avLst>
          </a:prstGeom>
          <a:solidFill>
            <a:srgbClr val="0F1620"/>
          </a:solidFill>
          <a:ln w="12700">
            <a:solidFill>
              <a:srgbClr val="F0A030"/>
            </a:solidFill>
            <a:prstDash val="solid"/>
          </a:ln>
        </p:spPr>
      </p:sp>
      <p:sp>
        <p:nvSpPr>
          <p:cNvPr id="32" name="Text 30"/>
          <p:cNvSpPr/>
          <p:nvPr/>
        </p:nvSpPr>
        <p:spPr>
          <a:xfrm>
            <a:off x="9052560" y="4078224"/>
            <a:ext cx="1828800" cy="292608"/>
          </a:xfrm>
          <a:prstGeom prst="rect">
            <a:avLst/>
          </a:prstGeom>
          <a:noFill/>
          <a:ln/>
        </p:spPr>
        <p:txBody>
          <a:bodyPr wrap="square" lIns="0" tIns="0" rIns="0" bIns="0" rtlCol="0" anchor="ctr"/>
          <a:lstStyle/>
          <a:p>
            <a:pPr algn="ctr" indent="0" marL="0">
              <a:buNone/>
            </a:pPr>
            <a:r>
              <a:rPr lang="en-US" sz="1000" b="1" dirty="0">
                <a:solidFill>
                  <a:srgbClr val="F0A030"/>
                </a:solidFill>
                <a:latin typeface="Arial" pitchFamily="34" charset="0"/>
                <a:ea typeface="Arial" pitchFamily="34" charset="-122"/>
                <a:cs typeface="Arial" pitchFamily="34" charset="-120"/>
              </a:rPr>
              <a:t>UNUSED</a:t>
            </a:r>
            <a:endParaRPr lang="en-US" sz="1000" dirty="0"/>
          </a:p>
        </p:txBody>
      </p:sp>
      <p:sp>
        <p:nvSpPr>
          <p:cNvPr id="33" name="Text 31"/>
          <p:cNvSpPr/>
          <p:nvPr/>
        </p:nvSpPr>
        <p:spPr>
          <a:xfrm>
            <a:off x="566928" y="4498848"/>
            <a:ext cx="658368" cy="274320"/>
          </a:xfrm>
          <a:prstGeom prst="rect">
            <a:avLst/>
          </a:prstGeom>
          <a:noFill/>
          <a:ln/>
        </p:spPr>
        <p:txBody>
          <a:bodyPr wrap="square" lIns="0" tIns="0" rIns="0" bIns="0" rtlCol="0" anchor="ctr"/>
          <a:lstStyle/>
          <a:p>
            <a:pPr indent="0" marL="0">
              <a:buNone/>
            </a:pPr>
            <a:r>
              <a:rPr lang="en-US" sz="1150" b="1" dirty="0">
                <a:solidFill>
                  <a:srgbClr val="76849A"/>
                </a:solidFill>
                <a:latin typeface="Courier New" pitchFamily="34" charset="0"/>
                <a:ea typeface="Courier New" pitchFamily="34" charset="-122"/>
                <a:cs typeface="Courier New" pitchFamily="34" charset="-120"/>
              </a:rPr>
              <a:t>R6</a:t>
            </a:r>
            <a:endParaRPr lang="en-US" sz="1150" dirty="0"/>
          </a:p>
        </p:txBody>
      </p:sp>
      <p:sp>
        <p:nvSpPr>
          <p:cNvPr id="34" name="Text 32"/>
          <p:cNvSpPr/>
          <p:nvPr/>
        </p:nvSpPr>
        <p:spPr>
          <a:xfrm>
            <a:off x="1298448" y="4498848"/>
            <a:ext cx="7315200" cy="274320"/>
          </a:xfrm>
          <a:prstGeom prst="rect">
            <a:avLst/>
          </a:prstGeom>
          <a:noFill/>
          <a:ln/>
        </p:spPr>
        <p:txBody>
          <a:bodyPr wrap="square" lIns="0" tIns="0" rIns="0" bIns="0" rtlCol="0" anchor="ctr"/>
          <a:lstStyle/>
          <a:p>
            <a:pPr indent="0" marL="0">
              <a:buNone/>
            </a:pPr>
            <a:r>
              <a:rPr lang="en-US" sz="1300" dirty="0">
                <a:solidFill>
                  <a:srgbClr val="A8B4C4"/>
                </a:solidFill>
                <a:latin typeface="Calibri" pitchFamily="34" charset="0"/>
                <a:ea typeface="Calibri" pitchFamily="34" charset="-122"/>
                <a:cs typeface="Calibri" pitchFamily="34" charset="-120"/>
              </a:rPr>
              <a:t>An uncertainty flag is set</a:t>
            </a:r>
            <a:endParaRPr lang="en-US" sz="1300" dirty="0"/>
          </a:p>
        </p:txBody>
      </p:sp>
      <p:sp>
        <p:nvSpPr>
          <p:cNvPr id="35" name="Shape 33"/>
          <p:cNvSpPr/>
          <p:nvPr/>
        </p:nvSpPr>
        <p:spPr>
          <a:xfrm>
            <a:off x="9052560" y="4480560"/>
            <a:ext cx="1828800" cy="292608"/>
          </a:xfrm>
          <a:prstGeom prst="roundRect">
            <a:avLst>
              <a:gd name="adj" fmla="val 15625"/>
            </a:avLst>
          </a:prstGeom>
          <a:solidFill>
            <a:srgbClr val="0F1620"/>
          </a:solidFill>
          <a:ln w="12700">
            <a:solidFill>
              <a:srgbClr val="9B84F7"/>
            </a:solidFill>
            <a:prstDash val="solid"/>
          </a:ln>
        </p:spPr>
      </p:sp>
      <p:sp>
        <p:nvSpPr>
          <p:cNvPr id="36" name="Text 34"/>
          <p:cNvSpPr/>
          <p:nvPr/>
        </p:nvSpPr>
        <p:spPr>
          <a:xfrm>
            <a:off x="9052560" y="4480560"/>
            <a:ext cx="1828800" cy="292608"/>
          </a:xfrm>
          <a:prstGeom prst="rect">
            <a:avLst/>
          </a:prstGeom>
          <a:noFill/>
          <a:ln/>
        </p:spPr>
        <p:txBody>
          <a:bodyPr wrap="square" lIns="0" tIns="0" rIns="0" bIns="0" rtlCol="0" anchor="ctr"/>
          <a:lstStyle/>
          <a:p>
            <a:pPr algn="ctr" indent="0" marL="0">
              <a:buNone/>
            </a:pPr>
            <a:r>
              <a:rPr lang="en-US" sz="1000" b="1" dirty="0">
                <a:solidFill>
                  <a:srgbClr val="9B84F7"/>
                </a:solidFill>
                <a:latin typeface="Arial" pitchFamily="34" charset="0"/>
                <a:ea typeface="Arial" pitchFamily="34" charset="-122"/>
                <a:cs typeface="Arial" pitchFamily="34" charset="-120"/>
              </a:rPr>
              <a:t>NEEDS REVIEW</a:t>
            </a:r>
            <a:endParaRPr lang="en-US" sz="1000" dirty="0"/>
          </a:p>
        </p:txBody>
      </p:sp>
      <p:sp>
        <p:nvSpPr>
          <p:cNvPr id="37" name="Text 35"/>
          <p:cNvSpPr/>
          <p:nvPr/>
        </p:nvSpPr>
        <p:spPr>
          <a:xfrm>
            <a:off x="566928" y="4901184"/>
            <a:ext cx="658368" cy="274320"/>
          </a:xfrm>
          <a:prstGeom prst="rect">
            <a:avLst/>
          </a:prstGeom>
          <a:noFill/>
          <a:ln/>
        </p:spPr>
        <p:txBody>
          <a:bodyPr wrap="square" lIns="0" tIns="0" rIns="0" bIns="0" rtlCol="0" anchor="ctr"/>
          <a:lstStyle/>
          <a:p>
            <a:pPr indent="0" marL="0">
              <a:buNone/>
            </a:pPr>
            <a:r>
              <a:rPr lang="en-US" sz="1150" b="1" dirty="0">
                <a:solidFill>
                  <a:srgbClr val="76849A"/>
                </a:solidFill>
                <a:latin typeface="Courier New" pitchFamily="34" charset="0"/>
                <a:ea typeface="Courier New" pitchFamily="34" charset="-122"/>
                <a:cs typeface="Courier New" pitchFamily="34" charset="-120"/>
              </a:rPr>
              <a:t>R7</a:t>
            </a:r>
            <a:endParaRPr lang="en-US" sz="1150" dirty="0"/>
          </a:p>
        </p:txBody>
      </p:sp>
      <p:sp>
        <p:nvSpPr>
          <p:cNvPr id="38" name="Text 36"/>
          <p:cNvSpPr/>
          <p:nvPr/>
        </p:nvSpPr>
        <p:spPr>
          <a:xfrm>
            <a:off x="1298448" y="4901184"/>
            <a:ext cx="7315200" cy="274320"/>
          </a:xfrm>
          <a:prstGeom prst="rect">
            <a:avLst/>
          </a:prstGeom>
          <a:noFill/>
          <a:ln/>
        </p:spPr>
        <p:txBody>
          <a:bodyPr wrap="square" lIns="0" tIns="0" rIns="0" bIns="0" rtlCol="0" anchor="ctr"/>
          <a:lstStyle/>
          <a:p>
            <a:pPr indent="0" marL="0">
              <a:buNone/>
            </a:pPr>
            <a:r>
              <a:rPr lang="en-US" sz="1300" dirty="0">
                <a:solidFill>
                  <a:srgbClr val="A8B4C4"/>
                </a:solidFill>
                <a:latin typeface="Calibri" pitchFamily="34" charset="0"/>
                <a:ea typeface="Calibri" pitchFamily="34" charset="-122"/>
                <a:cs typeface="Calibri" pitchFamily="34" charset="-120"/>
              </a:rPr>
              <a:t>Only permissions, labels or inactive consumers</a:t>
            </a:r>
            <a:endParaRPr lang="en-US" sz="1300" dirty="0"/>
          </a:p>
        </p:txBody>
      </p:sp>
      <p:sp>
        <p:nvSpPr>
          <p:cNvPr id="39" name="Shape 37"/>
          <p:cNvSpPr/>
          <p:nvPr/>
        </p:nvSpPr>
        <p:spPr>
          <a:xfrm>
            <a:off x="9052560" y="4882896"/>
            <a:ext cx="1828800" cy="292608"/>
          </a:xfrm>
          <a:prstGeom prst="roundRect">
            <a:avLst>
              <a:gd name="adj" fmla="val 15625"/>
            </a:avLst>
          </a:prstGeom>
          <a:solidFill>
            <a:srgbClr val="0F1620"/>
          </a:solidFill>
          <a:ln w="12700">
            <a:solidFill>
              <a:srgbClr val="9B84F7"/>
            </a:solidFill>
            <a:prstDash val="solid"/>
          </a:ln>
        </p:spPr>
      </p:sp>
      <p:sp>
        <p:nvSpPr>
          <p:cNvPr id="40" name="Text 38"/>
          <p:cNvSpPr/>
          <p:nvPr/>
        </p:nvSpPr>
        <p:spPr>
          <a:xfrm>
            <a:off x="9052560" y="4882896"/>
            <a:ext cx="1828800" cy="292608"/>
          </a:xfrm>
          <a:prstGeom prst="rect">
            <a:avLst/>
          </a:prstGeom>
          <a:noFill/>
          <a:ln/>
        </p:spPr>
        <p:txBody>
          <a:bodyPr wrap="square" lIns="0" tIns="0" rIns="0" bIns="0" rtlCol="0" anchor="ctr"/>
          <a:lstStyle/>
          <a:p>
            <a:pPr algn="ctr" indent="0" marL="0">
              <a:buNone/>
            </a:pPr>
            <a:r>
              <a:rPr lang="en-US" sz="1000" b="1" dirty="0">
                <a:solidFill>
                  <a:srgbClr val="9B84F7"/>
                </a:solidFill>
                <a:latin typeface="Arial" pitchFamily="34" charset="0"/>
                <a:ea typeface="Arial" pitchFamily="34" charset="-122"/>
                <a:cs typeface="Arial" pitchFamily="34" charset="-120"/>
              </a:rPr>
              <a:t>NEEDS REVIEW</a:t>
            </a:r>
            <a:endParaRPr lang="en-US" sz="1000" dirty="0"/>
          </a:p>
        </p:txBody>
      </p:sp>
      <p:sp>
        <p:nvSpPr>
          <p:cNvPr id="41" name="Text 39"/>
          <p:cNvSpPr/>
          <p:nvPr/>
        </p:nvSpPr>
        <p:spPr>
          <a:xfrm>
            <a:off x="566928" y="5303520"/>
            <a:ext cx="658368" cy="274320"/>
          </a:xfrm>
          <a:prstGeom prst="rect">
            <a:avLst/>
          </a:prstGeom>
          <a:noFill/>
          <a:ln/>
        </p:spPr>
        <p:txBody>
          <a:bodyPr wrap="square" lIns="0" tIns="0" rIns="0" bIns="0" rtlCol="0" anchor="ctr"/>
          <a:lstStyle/>
          <a:p>
            <a:pPr indent="0" marL="0">
              <a:buNone/>
            </a:pPr>
            <a:r>
              <a:rPr lang="en-US" sz="1150" b="1" dirty="0">
                <a:solidFill>
                  <a:srgbClr val="76849A"/>
                </a:solidFill>
                <a:latin typeface="Courier New" pitchFamily="34" charset="0"/>
                <a:ea typeface="Courier New" pitchFamily="34" charset="-122"/>
                <a:cs typeface="Courier New" pitchFamily="34" charset="-120"/>
              </a:rPr>
              <a:t>R8</a:t>
            </a:r>
            <a:endParaRPr lang="en-US" sz="1150" dirty="0"/>
          </a:p>
        </p:txBody>
      </p:sp>
      <p:sp>
        <p:nvSpPr>
          <p:cNvPr id="42" name="Text 40"/>
          <p:cNvSpPr/>
          <p:nvPr/>
        </p:nvSpPr>
        <p:spPr>
          <a:xfrm>
            <a:off x="1298448" y="5303520"/>
            <a:ext cx="7315200" cy="274320"/>
          </a:xfrm>
          <a:prstGeom prst="rect">
            <a:avLst/>
          </a:prstGeom>
          <a:noFill/>
          <a:ln/>
        </p:spPr>
        <p:txBody>
          <a:bodyPr wrap="square" lIns="0" tIns="0" rIns="0" bIns="0" rtlCol="0" anchor="ctr"/>
          <a:lstStyle/>
          <a:p>
            <a:pPr indent="0" marL="0">
              <a:buNone/>
            </a:pPr>
            <a:r>
              <a:rPr lang="en-US" sz="1300" dirty="0">
                <a:solidFill>
                  <a:srgbClr val="A8B4C4"/>
                </a:solidFill>
                <a:latin typeface="Calibri" pitchFamily="34" charset="0"/>
                <a:ea typeface="Calibri" pitchFamily="34" charset="-122"/>
                <a:cs typeface="Calibri" pitchFamily="34" charset="-120"/>
              </a:rPr>
              <a:t>Something not-itself-unused still references it</a:t>
            </a:r>
            <a:endParaRPr lang="en-US" sz="1300" dirty="0"/>
          </a:p>
        </p:txBody>
      </p:sp>
      <p:sp>
        <p:nvSpPr>
          <p:cNvPr id="43" name="Shape 41"/>
          <p:cNvSpPr/>
          <p:nvPr/>
        </p:nvSpPr>
        <p:spPr>
          <a:xfrm>
            <a:off x="9052560" y="5285232"/>
            <a:ext cx="1828800" cy="292608"/>
          </a:xfrm>
          <a:prstGeom prst="roundRect">
            <a:avLst>
              <a:gd name="adj" fmla="val 15625"/>
            </a:avLst>
          </a:prstGeom>
          <a:solidFill>
            <a:srgbClr val="0F1620"/>
          </a:solidFill>
          <a:ln w="12700">
            <a:solidFill>
              <a:srgbClr val="9B84F7"/>
            </a:solidFill>
            <a:prstDash val="solid"/>
          </a:ln>
        </p:spPr>
      </p:sp>
      <p:sp>
        <p:nvSpPr>
          <p:cNvPr id="44" name="Text 42"/>
          <p:cNvSpPr/>
          <p:nvPr/>
        </p:nvSpPr>
        <p:spPr>
          <a:xfrm>
            <a:off x="9052560" y="5285232"/>
            <a:ext cx="1828800" cy="292608"/>
          </a:xfrm>
          <a:prstGeom prst="rect">
            <a:avLst/>
          </a:prstGeom>
          <a:noFill/>
          <a:ln/>
        </p:spPr>
        <p:txBody>
          <a:bodyPr wrap="square" lIns="0" tIns="0" rIns="0" bIns="0" rtlCol="0" anchor="ctr"/>
          <a:lstStyle/>
          <a:p>
            <a:pPr algn="ctr" indent="0" marL="0">
              <a:buNone/>
            </a:pPr>
            <a:r>
              <a:rPr lang="en-US" sz="1000" b="1" dirty="0">
                <a:solidFill>
                  <a:srgbClr val="9B84F7"/>
                </a:solidFill>
                <a:latin typeface="Arial" pitchFamily="34" charset="0"/>
                <a:ea typeface="Arial" pitchFamily="34" charset="-122"/>
                <a:cs typeface="Arial" pitchFamily="34" charset="-120"/>
              </a:rPr>
              <a:t>NEEDS REVIEW</a:t>
            </a:r>
            <a:endParaRPr lang="en-US" sz="1000" dirty="0"/>
          </a:p>
        </p:txBody>
      </p:sp>
      <p:sp>
        <p:nvSpPr>
          <p:cNvPr id="45" name="Text 43"/>
          <p:cNvSpPr/>
          <p:nvPr/>
        </p:nvSpPr>
        <p:spPr>
          <a:xfrm>
            <a:off x="566928" y="5705856"/>
            <a:ext cx="658368" cy="274320"/>
          </a:xfrm>
          <a:prstGeom prst="rect">
            <a:avLst/>
          </a:prstGeom>
          <a:noFill/>
          <a:ln/>
        </p:spPr>
        <p:txBody>
          <a:bodyPr wrap="square" lIns="0" tIns="0" rIns="0" bIns="0" rtlCol="0" anchor="ctr"/>
          <a:lstStyle/>
          <a:p>
            <a:pPr indent="0" marL="0">
              <a:buNone/>
            </a:pPr>
            <a:r>
              <a:rPr lang="en-US" sz="1150" b="1" dirty="0">
                <a:solidFill>
                  <a:srgbClr val="76849A"/>
                </a:solidFill>
                <a:latin typeface="Courier New" pitchFamily="34" charset="0"/>
                <a:ea typeface="Courier New" pitchFamily="34" charset="-122"/>
                <a:cs typeface="Courier New" pitchFamily="34" charset="-120"/>
              </a:rPr>
              <a:t>R9</a:t>
            </a:r>
            <a:endParaRPr lang="en-US" sz="1150" dirty="0"/>
          </a:p>
        </p:txBody>
      </p:sp>
      <p:sp>
        <p:nvSpPr>
          <p:cNvPr id="46" name="Text 44"/>
          <p:cNvSpPr/>
          <p:nvPr/>
        </p:nvSpPr>
        <p:spPr>
          <a:xfrm>
            <a:off x="1298448" y="5705856"/>
            <a:ext cx="7315200" cy="274320"/>
          </a:xfrm>
          <a:prstGeom prst="rect">
            <a:avLst/>
          </a:prstGeom>
          <a:noFill/>
          <a:ln/>
        </p:spPr>
        <p:txBody>
          <a:bodyPr wrap="square" lIns="0" tIns="0" rIns="0" bIns="0" rtlCol="0" anchor="ctr"/>
          <a:lstStyle/>
          <a:p>
            <a:pPr indent="0" marL="0">
              <a:buNone/>
            </a:pPr>
            <a:r>
              <a:rPr lang="en-US" sz="1300" dirty="0">
                <a:solidFill>
                  <a:srgbClr val="A8B4C4"/>
                </a:solidFill>
                <a:latin typeface="Calibri" pitchFamily="34" charset="0"/>
                <a:ea typeface="Calibri" pitchFamily="34" charset="-122"/>
                <a:cs typeface="Calibri" pitchFamily="34" charset="-120"/>
              </a:rPr>
              <a:t>Nothing found anywhere, every check ran cleanly</a:t>
            </a:r>
            <a:endParaRPr lang="en-US" sz="1300" dirty="0"/>
          </a:p>
        </p:txBody>
      </p:sp>
      <p:sp>
        <p:nvSpPr>
          <p:cNvPr id="47" name="Shape 45"/>
          <p:cNvSpPr/>
          <p:nvPr/>
        </p:nvSpPr>
        <p:spPr>
          <a:xfrm>
            <a:off x="9052560" y="5687568"/>
            <a:ext cx="1828800" cy="292608"/>
          </a:xfrm>
          <a:prstGeom prst="roundRect">
            <a:avLst>
              <a:gd name="adj" fmla="val 15625"/>
            </a:avLst>
          </a:prstGeom>
          <a:solidFill>
            <a:srgbClr val="0F1620"/>
          </a:solidFill>
          <a:ln w="12700">
            <a:solidFill>
              <a:srgbClr val="F0A030"/>
            </a:solidFill>
            <a:prstDash val="solid"/>
          </a:ln>
        </p:spPr>
      </p:sp>
      <p:sp>
        <p:nvSpPr>
          <p:cNvPr id="48" name="Text 46"/>
          <p:cNvSpPr/>
          <p:nvPr/>
        </p:nvSpPr>
        <p:spPr>
          <a:xfrm>
            <a:off x="9052560" y="5687568"/>
            <a:ext cx="1828800" cy="292608"/>
          </a:xfrm>
          <a:prstGeom prst="rect">
            <a:avLst/>
          </a:prstGeom>
          <a:noFill/>
          <a:ln/>
        </p:spPr>
        <p:txBody>
          <a:bodyPr wrap="square" lIns="0" tIns="0" rIns="0" bIns="0" rtlCol="0" anchor="ctr"/>
          <a:lstStyle/>
          <a:p>
            <a:pPr algn="ctr" indent="0" marL="0">
              <a:buNone/>
            </a:pPr>
            <a:r>
              <a:rPr lang="en-US" sz="1000" b="1" dirty="0">
                <a:solidFill>
                  <a:srgbClr val="F0A030"/>
                </a:solidFill>
                <a:latin typeface="Arial" pitchFamily="34" charset="0"/>
                <a:ea typeface="Arial" pitchFamily="34" charset="-122"/>
                <a:cs typeface="Arial" pitchFamily="34" charset="-120"/>
              </a:rPr>
              <a:t>UNUSED</a:t>
            </a:r>
            <a:endParaRPr lang="en-US" sz="1000" dirty="0"/>
          </a:p>
        </p:txBody>
      </p:sp>
      <p:sp>
        <p:nvSpPr>
          <p:cNvPr id="49" name="Text 47"/>
          <p:cNvSpPr/>
          <p:nvPr/>
        </p:nvSpPr>
        <p:spPr>
          <a:xfrm>
            <a:off x="566928" y="6199632"/>
            <a:ext cx="10332720" cy="329184"/>
          </a:xfrm>
          <a:prstGeom prst="rect">
            <a:avLst/>
          </a:prstGeom>
          <a:noFill/>
          <a:ln/>
        </p:spPr>
        <p:txBody>
          <a:bodyPr wrap="square" lIns="0" tIns="0" rIns="0" bIns="0" rtlCol="0" anchor="ctr"/>
          <a:lstStyle/>
          <a:p>
            <a:pPr indent="0" marL="0">
              <a:buNone/>
            </a:pPr>
            <a:r>
              <a:rPr lang="en-US" sz="1250" i="1" dirty="0">
                <a:solidFill>
                  <a:srgbClr val="76849A"/>
                </a:solidFill>
                <a:latin typeface="Calibri" pitchFamily="34" charset="0"/>
                <a:ea typeface="Calibri" pitchFamily="34" charset="-122"/>
                <a:cs typeface="Calibri" pitchFamily="34" charset="-120"/>
              </a:rPr>
              <a:t>Confidence is a 0–100 number used only to ORDER the review queue. It never decides a verdict.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11712" y="6455664"/>
            <a:ext cx="365760" cy="274320"/>
          </a:xfrm>
          <a:prstGeom prst="rect">
            <a:avLst/>
          </a:prstGeom>
          <a:noFill/>
          <a:ln/>
        </p:spPr>
        <p:txBody>
          <a:bodyPr wrap="square" lIns="0" tIns="0" rIns="0" bIns="0" rtlCol="0" anchor="ctr"/>
          <a:lstStyle/>
          <a:p>
            <a:pPr algn="r" indent="0" marL="0">
              <a:buNone/>
            </a:pPr>
            <a:r>
              <a:rPr lang="en-US" sz="1000" dirty="0">
                <a:solidFill>
                  <a:srgbClr val="A0A8B4"/>
                </a:solidFill>
                <a:latin typeface="Calibri" pitchFamily="34" charset="0"/>
                <a:ea typeface="Calibri" pitchFamily="34" charset="-122"/>
                <a:cs typeface="Calibri" pitchFamily="34" charset="-120"/>
              </a:rPr>
              <a:t>14</a:t>
            </a:r>
            <a:endParaRPr lang="en-US" sz="1000" dirty="0"/>
          </a:p>
        </p:txBody>
      </p:sp>
      <p:sp>
        <p:nvSpPr>
          <p:cNvPr id="3" name="Text 1"/>
          <p:cNvSpPr/>
          <p:nvPr/>
        </p:nvSpPr>
        <p:spPr>
          <a:xfrm>
            <a:off x="566928" y="402336"/>
            <a:ext cx="11055096" cy="713232"/>
          </a:xfrm>
          <a:prstGeom prst="rect">
            <a:avLst/>
          </a:prstGeom>
          <a:noFill/>
          <a:ln/>
        </p:spPr>
        <p:txBody>
          <a:bodyPr wrap="square" lIns="0" tIns="0" rIns="0" bIns="0" rtlCol="0" anchor="ctr"/>
          <a:lstStyle/>
          <a:p>
            <a:pPr indent="0" marL="0">
              <a:buNone/>
            </a:pPr>
            <a:r>
              <a:rPr lang="en-US" sz="3400" b="1" dirty="0">
                <a:solidFill>
                  <a:srgbClr val="0F1620"/>
                </a:solidFill>
                <a:latin typeface="Arial" pitchFamily="34" charset="0"/>
                <a:ea typeface="Arial" pitchFamily="34" charset="-122"/>
                <a:cs typeface="Arial" pitchFamily="34" charset="-120"/>
              </a:rPr>
              <a:t>What a finding actually looks like</a:t>
            </a:r>
            <a:endParaRPr lang="en-US" sz="3400" dirty="0"/>
          </a:p>
        </p:txBody>
      </p:sp>
      <p:sp>
        <p:nvSpPr>
          <p:cNvPr id="4" name="Text 2"/>
          <p:cNvSpPr/>
          <p:nvPr/>
        </p:nvSpPr>
        <p:spPr>
          <a:xfrm>
            <a:off x="566928" y="1115568"/>
            <a:ext cx="11055096" cy="402336"/>
          </a:xfrm>
          <a:prstGeom prst="rect">
            <a:avLst/>
          </a:prstGeom>
          <a:noFill/>
          <a:ln/>
        </p:spPr>
        <p:txBody>
          <a:bodyPr wrap="square" lIns="0" tIns="0" rIns="0" bIns="0" rtlCol="0" anchor="ctr"/>
          <a:lstStyle/>
          <a:p>
            <a:pPr indent="0" marL="0">
              <a:buNone/>
            </a:pPr>
            <a:r>
              <a:rPr lang="en-US" sz="1450" dirty="0">
                <a:solidFill>
                  <a:srgbClr val="55606E"/>
                </a:solidFill>
                <a:latin typeface="Calibri" pitchFamily="34" charset="0"/>
                <a:ea typeface="Calibri" pitchFamily="34" charset="-122"/>
                <a:cs typeface="Calibri" pitchFamily="34" charset="-120"/>
              </a:rPr>
              <a:t>One field, nine checks, and the reasoning a reviewer can audit.</a:t>
            </a:r>
            <a:endParaRPr lang="en-US" sz="1450" dirty="0"/>
          </a:p>
        </p:txBody>
      </p:sp>
      <p:sp>
        <p:nvSpPr>
          <p:cNvPr id="5" name="Text 3"/>
          <p:cNvSpPr/>
          <p:nvPr/>
        </p:nvSpPr>
        <p:spPr>
          <a:xfrm>
            <a:off x="566928" y="1755648"/>
            <a:ext cx="5852160" cy="365760"/>
          </a:xfrm>
          <a:prstGeom prst="rect">
            <a:avLst/>
          </a:prstGeom>
          <a:noFill/>
          <a:ln/>
        </p:spPr>
        <p:txBody>
          <a:bodyPr wrap="square" lIns="0" tIns="0" rIns="0" bIns="0" rtlCol="0" anchor="ctr"/>
          <a:lstStyle/>
          <a:p>
            <a:pPr indent="0" marL="0">
              <a:buNone/>
            </a:pPr>
            <a:r>
              <a:rPr lang="en-US" sz="1900" b="1" dirty="0">
                <a:solidFill>
                  <a:srgbClr val="0F1620"/>
                </a:solidFill>
                <a:latin typeface="Courier New" pitchFamily="34" charset="0"/>
                <a:ea typeface="Courier New" pitchFamily="34" charset="-122"/>
                <a:cs typeface="Courier New" pitchFamily="34" charset="-120"/>
              </a:rPr>
              <a:t>Inventory_Item__c.Unit_Cost__c</a:t>
            </a:r>
            <a:endParaRPr lang="en-US" sz="1900" dirty="0"/>
          </a:p>
        </p:txBody>
      </p:sp>
      <p:sp>
        <p:nvSpPr>
          <p:cNvPr id="6" name="Shape 4"/>
          <p:cNvSpPr/>
          <p:nvPr/>
        </p:nvSpPr>
        <p:spPr>
          <a:xfrm>
            <a:off x="603504" y="2395728"/>
            <a:ext cx="164592" cy="164592"/>
          </a:xfrm>
          <a:prstGeom prst="ellipse">
            <a:avLst/>
          </a:prstGeom>
          <a:solidFill>
            <a:srgbClr val="F0A030"/>
          </a:solidFill>
          <a:ln/>
        </p:spPr>
      </p:sp>
      <p:sp>
        <p:nvSpPr>
          <p:cNvPr id="7" name="Text 5"/>
          <p:cNvSpPr/>
          <p:nvPr/>
        </p:nvSpPr>
        <p:spPr>
          <a:xfrm>
            <a:off x="914400" y="2304288"/>
            <a:ext cx="2286000" cy="274320"/>
          </a:xfrm>
          <a:prstGeom prst="rect">
            <a:avLst/>
          </a:prstGeom>
          <a:noFill/>
          <a:ln/>
        </p:spPr>
        <p:txBody>
          <a:bodyPr wrap="square" lIns="0" tIns="0" rIns="0" bIns="0" rtlCol="0" anchor="ctr"/>
          <a:lstStyle/>
          <a:p>
            <a:pPr indent="0" marL="0">
              <a:buNone/>
            </a:pPr>
            <a:r>
              <a:rPr lang="en-US" sz="1250" b="1" dirty="0">
                <a:solidFill>
                  <a:srgbClr val="0F1620"/>
                </a:solidFill>
                <a:latin typeface="Calibri" pitchFamily="34" charset="0"/>
                <a:ea typeface="Calibri" pitchFamily="34" charset="-122"/>
                <a:cs typeface="Calibri" pitchFamily="34" charset="-120"/>
              </a:rPr>
              <a:t>Static references</a:t>
            </a:r>
            <a:endParaRPr lang="en-US" sz="1250" dirty="0"/>
          </a:p>
        </p:txBody>
      </p:sp>
      <p:sp>
        <p:nvSpPr>
          <p:cNvPr id="8" name="Text 6"/>
          <p:cNvSpPr/>
          <p:nvPr/>
        </p:nvSpPr>
        <p:spPr>
          <a:xfrm>
            <a:off x="3218688" y="2304288"/>
            <a:ext cx="4023360" cy="457200"/>
          </a:xfrm>
          <a:prstGeom prst="rect">
            <a:avLst/>
          </a:prstGeom>
          <a:noFill/>
          <a:ln/>
        </p:spPr>
        <p:txBody>
          <a:bodyPr wrap="square" lIns="0" tIns="0" rIns="0" bIns="0" rtlCol="0" anchor="ctr"/>
          <a:lstStyle/>
          <a:p>
            <a:pPr indent="0" marL="0">
              <a:lnSpc>
                <a:spcPts val="1400"/>
              </a:lnSpc>
              <a:buNone/>
            </a:pPr>
            <a:r>
              <a:rPr lang="en-US" sz="1150" dirty="0">
                <a:solidFill>
                  <a:srgbClr val="5A6472"/>
                </a:solidFill>
                <a:latin typeface="Calibri" pitchFamily="34" charset="0"/>
                <a:ea typeface="Calibri" pitchFamily="34" charset="-122"/>
                <a:cs typeface="Calibri" pitchFamily="34" charset="-120"/>
              </a:rPr>
              <a:t>Only the Inventory Item Layout. No Apex, flow or report.</a:t>
            </a:r>
            <a:endParaRPr lang="en-US" sz="1150" dirty="0"/>
          </a:p>
        </p:txBody>
      </p:sp>
      <p:sp>
        <p:nvSpPr>
          <p:cNvPr id="9" name="Shape 7"/>
          <p:cNvSpPr/>
          <p:nvPr/>
        </p:nvSpPr>
        <p:spPr>
          <a:xfrm>
            <a:off x="603504" y="2962656"/>
            <a:ext cx="164592" cy="164592"/>
          </a:xfrm>
          <a:prstGeom prst="ellipse">
            <a:avLst/>
          </a:prstGeom>
          <a:solidFill>
            <a:srgbClr val="F0A030"/>
          </a:solidFill>
          <a:ln/>
        </p:spPr>
      </p:sp>
      <p:sp>
        <p:nvSpPr>
          <p:cNvPr id="10" name="Text 8"/>
          <p:cNvSpPr/>
          <p:nvPr/>
        </p:nvSpPr>
        <p:spPr>
          <a:xfrm>
            <a:off x="914400" y="2871216"/>
            <a:ext cx="2286000" cy="274320"/>
          </a:xfrm>
          <a:prstGeom prst="rect">
            <a:avLst/>
          </a:prstGeom>
          <a:noFill/>
          <a:ln/>
        </p:spPr>
        <p:txBody>
          <a:bodyPr wrap="square" lIns="0" tIns="0" rIns="0" bIns="0" rtlCol="0" anchor="ctr"/>
          <a:lstStyle/>
          <a:p>
            <a:pPr indent="0" marL="0">
              <a:buNone/>
            </a:pPr>
            <a:r>
              <a:rPr lang="en-US" sz="1250" b="1" dirty="0">
                <a:solidFill>
                  <a:srgbClr val="0F1620"/>
                </a:solidFill>
                <a:latin typeface="Calibri" pitchFamily="34" charset="0"/>
                <a:ea typeface="Calibri" pitchFamily="34" charset="-122"/>
                <a:cs typeface="Calibri" pitchFamily="34" charset="-120"/>
              </a:rPr>
              <a:t>Record data</a:t>
            </a:r>
            <a:endParaRPr lang="en-US" sz="1250" dirty="0"/>
          </a:p>
        </p:txBody>
      </p:sp>
      <p:sp>
        <p:nvSpPr>
          <p:cNvPr id="11" name="Text 9"/>
          <p:cNvSpPr/>
          <p:nvPr/>
        </p:nvSpPr>
        <p:spPr>
          <a:xfrm>
            <a:off x="3218688" y="2871216"/>
            <a:ext cx="4023360" cy="457200"/>
          </a:xfrm>
          <a:prstGeom prst="rect">
            <a:avLst/>
          </a:prstGeom>
          <a:noFill/>
          <a:ln/>
        </p:spPr>
        <p:txBody>
          <a:bodyPr wrap="square" lIns="0" tIns="0" rIns="0" bIns="0" rtlCol="0" anchor="ctr"/>
          <a:lstStyle/>
          <a:p>
            <a:pPr indent="0" marL="0">
              <a:lnSpc>
                <a:spcPts val="1400"/>
              </a:lnSpc>
              <a:buNone/>
            </a:pPr>
            <a:r>
              <a:rPr lang="en-US" sz="1150" dirty="0">
                <a:solidFill>
                  <a:srgbClr val="5A6472"/>
                </a:solidFill>
                <a:latin typeface="Calibri" pitchFamily="34" charset="0"/>
                <a:ea typeface="Calibri" pitchFamily="34" charset="-122"/>
                <a:cs typeface="Calibri" pitchFamily="34" charset="-120"/>
              </a:rPr>
              <a:t>0 of 101 records hold a value.</a:t>
            </a:r>
            <a:endParaRPr lang="en-US" sz="1150" dirty="0"/>
          </a:p>
        </p:txBody>
      </p:sp>
      <p:sp>
        <p:nvSpPr>
          <p:cNvPr id="12" name="Shape 10"/>
          <p:cNvSpPr/>
          <p:nvPr/>
        </p:nvSpPr>
        <p:spPr>
          <a:xfrm>
            <a:off x="603504" y="3529584"/>
            <a:ext cx="164592" cy="164592"/>
          </a:xfrm>
          <a:prstGeom prst="ellipse">
            <a:avLst/>
          </a:prstGeom>
          <a:solidFill>
            <a:srgbClr val="F0A030"/>
          </a:solidFill>
          <a:ln/>
        </p:spPr>
      </p:sp>
      <p:sp>
        <p:nvSpPr>
          <p:cNvPr id="13" name="Text 11"/>
          <p:cNvSpPr/>
          <p:nvPr/>
        </p:nvSpPr>
        <p:spPr>
          <a:xfrm>
            <a:off x="914400" y="3438144"/>
            <a:ext cx="2286000" cy="274320"/>
          </a:xfrm>
          <a:prstGeom prst="rect">
            <a:avLst/>
          </a:prstGeom>
          <a:noFill/>
          <a:ln/>
        </p:spPr>
        <p:txBody>
          <a:bodyPr wrap="square" lIns="0" tIns="0" rIns="0" bIns="0" rtlCol="0" anchor="ctr"/>
          <a:lstStyle/>
          <a:p>
            <a:pPr indent="0" marL="0">
              <a:buNone/>
            </a:pPr>
            <a:r>
              <a:rPr lang="en-US" sz="1250" b="1" dirty="0">
                <a:solidFill>
                  <a:srgbClr val="0F1620"/>
                </a:solidFill>
                <a:latin typeface="Calibri" pitchFamily="34" charset="0"/>
                <a:ea typeface="Calibri" pitchFamily="34" charset="-122"/>
                <a:cs typeface="Calibri" pitchFamily="34" charset="-120"/>
              </a:rPr>
              <a:t>Dependency API</a:t>
            </a:r>
            <a:endParaRPr lang="en-US" sz="1250" dirty="0"/>
          </a:p>
        </p:txBody>
      </p:sp>
      <p:sp>
        <p:nvSpPr>
          <p:cNvPr id="14" name="Text 12"/>
          <p:cNvSpPr/>
          <p:nvPr/>
        </p:nvSpPr>
        <p:spPr>
          <a:xfrm>
            <a:off x="3218688" y="3438144"/>
            <a:ext cx="4023360" cy="457200"/>
          </a:xfrm>
          <a:prstGeom prst="rect">
            <a:avLst/>
          </a:prstGeom>
          <a:noFill/>
          <a:ln/>
        </p:spPr>
        <p:txBody>
          <a:bodyPr wrap="square" lIns="0" tIns="0" rIns="0" bIns="0" rtlCol="0" anchor="ctr"/>
          <a:lstStyle/>
          <a:p>
            <a:pPr indent="0" marL="0">
              <a:lnSpc>
                <a:spcPts val="1400"/>
              </a:lnSpc>
              <a:buNone/>
            </a:pPr>
            <a:r>
              <a:rPr lang="en-US" sz="1150" dirty="0">
                <a:solidFill>
                  <a:srgbClr val="5A6472"/>
                </a:solidFill>
                <a:latin typeface="Calibri" pitchFamily="34" charset="0"/>
                <a:ea typeface="Calibri" pitchFamily="34" charset="-122"/>
                <a:cs typeface="Calibri" pitchFamily="34" charset="-120"/>
              </a:rPr>
              <a:t>One edge, from the same layout.</a:t>
            </a:r>
            <a:endParaRPr lang="en-US" sz="1150" dirty="0"/>
          </a:p>
        </p:txBody>
      </p:sp>
      <p:sp>
        <p:nvSpPr>
          <p:cNvPr id="15" name="Shape 13"/>
          <p:cNvSpPr/>
          <p:nvPr/>
        </p:nvSpPr>
        <p:spPr>
          <a:xfrm>
            <a:off x="603504" y="4096512"/>
            <a:ext cx="164592" cy="164592"/>
          </a:xfrm>
          <a:prstGeom prst="ellipse">
            <a:avLst/>
          </a:prstGeom>
          <a:solidFill>
            <a:srgbClr val="F0A030"/>
          </a:solidFill>
          <a:ln/>
        </p:spPr>
      </p:sp>
      <p:sp>
        <p:nvSpPr>
          <p:cNvPr id="16" name="Text 14"/>
          <p:cNvSpPr/>
          <p:nvPr/>
        </p:nvSpPr>
        <p:spPr>
          <a:xfrm>
            <a:off x="914400" y="4005072"/>
            <a:ext cx="2286000" cy="274320"/>
          </a:xfrm>
          <a:prstGeom prst="rect">
            <a:avLst/>
          </a:prstGeom>
          <a:noFill/>
          <a:ln/>
        </p:spPr>
        <p:txBody>
          <a:bodyPr wrap="square" lIns="0" tIns="0" rIns="0" bIns="0" rtlCol="0" anchor="ctr"/>
          <a:lstStyle/>
          <a:p>
            <a:pPr indent="0" marL="0">
              <a:buNone/>
            </a:pPr>
            <a:r>
              <a:rPr lang="en-US" sz="1250" b="1" dirty="0">
                <a:solidFill>
                  <a:srgbClr val="0F1620"/>
                </a:solidFill>
                <a:latin typeface="Calibri" pitchFamily="34" charset="0"/>
                <a:ea typeface="Calibri" pitchFamily="34" charset="-122"/>
                <a:cs typeface="Calibri" pitchFamily="34" charset="-120"/>
              </a:rPr>
              <a:t>Reachability</a:t>
            </a:r>
            <a:endParaRPr lang="en-US" sz="1250" dirty="0"/>
          </a:p>
        </p:txBody>
      </p:sp>
      <p:sp>
        <p:nvSpPr>
          <p:cNvPr id="17" name="Text 15"/>
          <p:cNvSpPr/>
          <p:nvPr/>
        </p:nvSpPr>
        <p:spPr>
          <a:xfrm>
            <a:off x="3218688" y="4005072"/>
            <a:ext cx="4023360" cy="457200"/>
          </a:xfrm>
          <a:prstGeom prst="rect">
            <a:avLst/>
          </a:prstGeom>
          <a:noFill/>
          <a:ln/>
        </p:spPr>
        <p:txBody>
          <a:bodyPr wrap="square" lIns="0" tIns="0" rIns="0" bIns="0" rtlCol="0" anchor="ctr"/>
          <a:lstStyle/>
          <a:p>
            <a:pPr indent="0" marL="0">
              <a:lnSpc>
                <a:spcPts val="1400"/>
              </a:lnSpc>
              <a:buNone/>
            </a:pPr>
            <a:r>
              <a:rPr lang="en-US" sz="1150" dirty="0">
                <a:solidFill>
                  <a:srgbClr val="5A6472"/>
                </a:solidFill>
                <a:latin typeface="Calibri" pitchFamily="34" charset="0"/>
                <a:ea typeface="Calibri" pitchFamily="34" charset="-122"/>
                <a:cs typeface="Calibri" pitchFamily="34" charset="-120"/>
              </a:rPr>
              <a:t>Not reachable from anything that runs or is seen.</a:t>
            </a:r>
            <a:endParaRPr lang="en-US" sz="1150" dirty="0"/>
          </a:p>
        </p:txBody>
      </p:sp>
      <p:sp>
        <p:nvSpPr>
          <p:cNvPr id="18" name="Shape 16"/>
          <p:cNvSpPr/>
          <p:nvPr/>
        </p:nvSpPr>
        <p:spPr>
          <a:xfrm>
            <a:off x="603504" y="4663440"/>
            <a:ext cx="164592" cy="164592"/>
          </a:xfrm>
          <a:prstGeom prst="ellipse">
            <a:avLst/>
          </a:prstGeom>
          <a:solidFill>
            <a:srgbClr val="F0A030"/>
          </a:solidFill>
          <a:ln/>
        </p:spPr>
      </p:sp>
      <p:sp>
        <p:nvSpPr>
          <p:cNvPr id="19" name="Text 17"/>
          <p:cNvSpPr/>
          <p:nvPr/>
        </p:nvSpPr>
        <p:spPr>
          <a:xfrm>
            <a:off x="914400" y="4572000"/>
            <a:ext cx="2286000" cy="274320"/>
          </a:xfrm>
          <a:prstGeom prst="rect">
            <a:avLst/>
          </a:prstGeom>
          <a:noFill/>
          <a:ln/>
        </p:spPr>
        <p:txBody>
          <a:bodyPr wrap="square" lIns="0" tIns="0" rIns="0" bIns="0" rtlCol="0" anchor="ctr"/>
          <a:lstStyle/>
          <a:p>
            <a:pPr indent="0" marL="0">
              <a:buNone/>
            </a:pPr>
            <a:r>
              <a:rPr lang="en-US" sz="1250" b="1" dirty="0">
                <a:solidFill>
                  <a:srgbClr val="0F1620"/>
                </a:solidFill>
                <a:latin typeface="Calibri" pitchFamily="34" charset="0"/>
                <a:ea typeface="Calibri" pitchFamily="34" charset="-122"/>
                <a:cs typeface="Calibri" pitchFamily="34" charset="-120"/>
              </a:rPr>
              <a:t>Config data</a:t>
            </a:r>
            <a:endParaRPr lang="en-US" sz="1250" dirty="0"/>
          </a:p>
        </p:txBody>
      </p:sp>
      <p:sp>
        <p:nvSpPr>
          <p:cNvPr id="20" name="Text 18"/>
          <p:cNvSpPr/>
          <p:nvPr/>
        </p:nvSpPr>
        <p:spPr>
          <a:xfrm>
            <a:off x="3218688" y="4572000"/>
            <a:ext cx="4023360" cy="457200"/>
          </a:xfrm>
          <a:prstGeom prst="rect">
            <a:avLst/>
          </a:prstGeom>
          <a:noFill/>
          <a:ln/>
        </p:spPr>
        <p:txBody>
          <a:bodyPr wrap="square" lIns="0" tIns="0" rIns="0" bIns="0" rtlCol="0" anchor="ctr"/>
          <a:lstStyle/>
          <a:p>
            <a:pPr indent="0" marL="0">
              <a:lnSpc>
                <a:spcPts val="1400"/>
              </a:lnSpc>
              <a:buNone/>
            </a:pPr>
            <a:r>
              <a:rPr lang="en-US" sz="1150" dirty="0">
                <a:solidFill>
                  <a:srgbClr val="5A6472"/>
                </a:solidFill>
                <a:latin typeface="Calibri" pitchFamily="34" charset="0"/>
                <a:ea typeface="Calibri" pitchFamily="34" charset="-122"/>
                <a:cs typeface="Calibri" pitchFamily="34" charset="-120"/>
              </a:rPr>
              <a:t>Not referenced in any custom metadata record.</a:t>
            </a:r>
            <a:endParaRPr lang="en-US" sz="1150" dirty="0"/>
          </a:p>
        </p:txBody>
      </p:sp>
      <p:sp>
        <p:nvSpPr>
          <p:cNvPr id="21" name="Shape 19"/>
          <p:cNvSpPr/>
          <p:nvPr/>
        </p:nvSpPr>
        <p:spPr>
          <a:xfrm>
            <a:off x="603504" y="5230368"/>
            <a:ext cx="164592" cy="164592"/>
          </a:xfrm>
          <a:prstGeom prst="ellipse">
            <a:avLst/>
          </a:prstGeom>
          <a:solidFill>
            <a:srgbClr val="3FBF92"/>
          </a:solidFill>
          <a:ln/>
        </p:spPr>
      </p:sp>
      <p:sp>
        <p:nvSpPr>
          <p:cNvPr id="22" name="Text 20"/>
          <p:cNvSpPr/>
          <p:nvPr/>
        </p:nvSpPr>
        <p:spPr>
          <a:xfrm>
            <a:off x="914400" y="5138928"/>
            <a:ext cx="2286000" cy="274320"/>
          </a:xfrm>
          <a:prstGeom prst="rect">
            <a:avLst/>
          </a:prstGeom>
          <a:noFill/>
          <a:ln/>
        </p:spPr>
        <p:txBody>
          <a:bodyPr wrap="square" lIns="0" tIns="0" rIns="0" bIns="0" rtlCol="0" anchor="ctr"/>
          <a:lstStyle/>
          <a:p>
            <a:pPr indent="0" marL="0">
              <a:buNone/>
            </a:pPr>
            <a:r>
              <a:rPr lang="en-US" sz="1250" b="1" dirty="0">
                <a:solidFill>
                  <a:srgbClr val="0F1620"/>
                </a:solidFill>
                <a:latin typeface="Calibri" pitchFamily="34" charset="0"/>
                <a:ea typeface="Calibri" pitchFamily="34" charset="-122"/>
                <a:cs typeface="Calibri" pitchFamily="34" charset="-120"/>
              </a:rPr>
              <a:t>Delete rehearsal</a:t>
            </a:r>
            <a:endParaRPr lang="en-US" sz="1250" dirty="0"/>
          </a:p>
        </p:txBody>
      </p:sp>
      <p:sp>
        <p:nvSpPr>
          <p:cNvPr id="23" name="Text 21"/>
          <p:cNvSpPr/>
          <p:nvPr/>
        </p:nvSpPr>
        <p:spPr>
          <a:xfrm>
            <a:off x="3218688" y="5138928"/>
            <a:ext cx="4023360" cy="457200"/>
          </a:xfrm>
          <a:prstGeom prst="rect">
            <a:avLst/>
          </a:prstGeom>
          <a:noFill/>
          <a:ln/>
        </p:spPr>
        <p:txBody>
          <a:bodyPr wrap="square" lIns="0" tIns="0" rIns="0" bIns="0" rtlCol="0" anchor="ctr"/>
          <a:lstStyle/>
          <a:p>
            <a:pPr indent="0" marL="0">
              <a:lnSpc>
                <a:spcPts val="1400"/>
              </a:lnSpc>
              <a:buNone/>
            </a:pPr>
            <a:r>
              <a:rPr lang="en-US" sz="1150" dirty="0">
                <a:solidFill>
                  <a:srgbClr val="5A6472"/>
                </a:solidFill>
                <a:latin typeface="Calibri" pitchFamily="34" charset="0"/>
                <a:ea typeface="Calibri" pitchFamily="34" charset="-122"/>
                <a:cs typeface="Calibri" pitchFamily="34" charset="-120"/>
              </a:rPr>
              <a:t>Salesforce validated the delete. It would succeed.</a:t>
            </a:r>
            <a:endParaRPr lang="en-US" sz="1150" dirty="0"/>
          </a:p>
        </p:txBody>
      </p:sp>
      <p:sp>
        <p:nvSpPr>
          <p:cNvPr id="24" name="Shape 22"/>
          <p:cNvSpPr/>
          <p:nvPr/>
        </p:nvSpPr>
        <p:spPr>
          <a:xfrm>
            <a:off x="7059168" y="1737360"/>
            <a:ext cx="4572000" cy="2084832"/>
          </a:xfrm>
          <a:prstGeom prst="roundRect">
            <a:avLst>
              <a:gd name="adj" fmla="val 2632"/>
            </a:avLst>
          </a:prstGeom>
          <a:solidFill>
            <a:srgbClr val="1A2430"/>
          </a:solidFill>
          <a:ln w="12700">
            <a:solidFill>
              <a:srgbClr val="F0A030"/>
            </a:solidFill>
            <a:prstDash val="solid"/>
          </a:ln>
        </p:spPr>
      </p:sp>
      <p:sp>
        <p:nvSpPr>
          <p:cNvPr id="25" name="Text 23"/>
          <p:cNvSpPr/>
          <p:nvPr/>
        </p:nvSpPr>
        <p:spPr>
          <a:xfrm>
            <a:off x="7370064" y="1956816"/>
            <a:ext cx="2011680" cy="365760"/>
          </a:xfrm>
          <a:prstGeom prst="rect">
            <a:avLst/>
          </a:prstGeom>
          <a:noFill/>
          <a:ln/>
        </p:spPr>
        <p:txBody>
          <a:bodyPr wrap="square" lIns="0" tIns="0" rIns="0" bIns="0" rtlCol="0" anchor="ctr"/>
          <a:lstStyle/>
          <a:p>
            <a:pPr indent="0" marL="0">
              <a:buNone/>
            </a:pPr>
            <a:r>
              <a:rPr lang="en-US" sz="2000" b="1" dirty="0">
                <a:solidFill>
                  <a:srgbClr val="F0A030"/>
                </a:solidFill>
                <a:latin typeface="Arial" pitchFamily="34" charset="0"/>
                <a:ea typeface="Arial" pitchFamily="34" charset="-122"/>
                <a:cs typeface="Arial" pitchFamily="34" charset="-120"/>
              </a:rPr>
              <a:t>UNUSED</a:t>
            </a:r>
            <a:endParaRPr lang="en-US" sz="2000" dirty="0"/>
          </a:p>
        </p:txBody>
      </p:sp>
      <p:sp>
        <p:nvSpPr>
          <p:cNvPr id="26" name="Text 24"/>
          <p:cNvSpPr/>
          <p:nvPr/>
        </p:nvSpPr>
        <p:spPr>
          <a:xfrm>
            <a:off x="9326880" y="2048256"/>
            <a:ext cx="2011680" cy="274320"/>
          </a:xfrm>
          <a:prstGeom prst="rect">
            <a:avLst/>
          </a:prstGeom>
          <a:noFill/>
          <a:ln/>
        </p:spPr>
        <p:txBody>
          <a:bodyPr wrap="square" lIns="0" tIns="0" rIns="0" bIns="0" rtlCol="0" anchor="ctr"/>
          <a:lstStyle/>
          <a:p>
            <a:pPr algn="r" indent="0" marL="0">
              <a:buNone/>
            </a:pPr>
            <a:r>
              <a:rPr lang="en-US" sz="1150" dirty="0">
                <a:solidFill>
                  <a:srgbClr val="76849A"/>
                </a:solidFill>
                <a:latin typeface="Calibri" pitchFamily="34" charset="0"/>
                <a:ea typeface="Calibri" pitchFamily="34" charset="-122"/>
                <a:cs typeface="Calibri" pitchFamily="34" charset="-120"/>
              </a:rPr>
              <a:t>confidence 70</a:t>
            </a:r>
            <a:endParaRPr lang="en-US" sz="1150" dirty="0"/>
          </a:p>
        </p:txBody>
      </p:sp>
      <p:sp>
        <p:nvSpPr>
          <p:cNvPr id="27" name="Text 25"/>
          <p:cNvSpPr/>
          <p:nvPr/>
        </p:nvSpPr>
        <p:spPr>
          <a:xfrm>
            <a:off x="7370064" y="2432304"/>
            <a:ext cx="3931920" cy="658368"/>
          </a:xfrm>
          <a:prstGeom prst="rect">
            <a:avLst/>
          </a:prstGeom>
          <a:noFill/>
          <a:ln/>
        </p:spPr>
        <p:txBody>
          <a:bodyPr wrap="square" lIns="0" tIns="0" rIns="0" bIns="0" rtlCol="0" anchor="ctr"/>
          <a:lstStyle/>
          <a:p>
            <a:pPr indent="0" marL="0">
              <a:lnSpc>
                <a:spcPts val="1600"/>
              </a:lnSpc>
              <a:buNone/>
            </a:pPr>
            <a:r>
              <a:rPr lang="en-US" sz="1200" dirty="0">
                <a:solidFill>
                  <a:srgbClr val="A8B4C4"/>
                </a:solidFill>
                <a:latin typeface="Calibri" pitchFamily="34" charset="0"/>
                <a:ea typeface="Calibri" pitchFamily="34" charset="-122"/>
                <a:cs typeface="Calibri" pitchFamily="34" charset="-120"/>
              </a:rPr>
              <a:t>Rule R3a — on a layout, but nothing references it functionally and no record holds a value.</a:t>
            </a:r>
            <a:endParaRPr lang="en-US" sz="1200" dirty="0"/>
          </a:p>
        </p:txBody>
      </p:sp>
      <p:sp>
        <p:nvSpPr>
          <p:cNvPr id="28" name="Text 26"/>
          <p:cNvSpPr/>
          <p:nvPr/>
        </p:nvSpPr>
        <p:spPr>
          <a:xfrm>
            <a:off x="7370064" y="3255264"/>
            <a:ext cx="3931920" cy="274320"/>
          </a:xfrm>
          <a:prstGeom prst="rect">
            <a:avLst/>
          </a:prstGeom>
          <a:noFill/>
          <a:ln/>
        </p:spPr>
        <p:txBody>
          <a:bodyPr wrap="square" lIns="0" tIns="0" rIns="0" bIns="0" rtlCol="0" anchor="ctr"/>
          <a:lstStyle/>
          <a:p>
            <a:pPr indent="0" marL="0">
              <a:buNone/>
            </a:pPr>
            <a:r>
              <a:rPr lang="en-US" sz="1150" b="1" dirty="0">
                <a:solidFill>
                  <a:srgbClr val="3FBF92"/>
                </a:solidFill>
                <a:latin typeface="Calibri" pitchFamily="34" charset="0"/>
                <a:ea typeface="Calibri" pitchFamily="34" charset="-122"/>
                <a:cs typeface="Calibri" pitchFamily="34" charset="-120"/>
              </a:rPr>
              <a:t>Server-validated by Salesforce</a:t>
            </a:r>
            <a:endParaRPr lang="en-US" sz="1150" dirty="0"/>
          </a:p>
        </p:txBody>
      </p:sp>
      <p:sp>
        <p:nvSpPr>
          <p:cNvPr id="29" name="Shape 27"/>
          <p:cNvSpPr/>
          <p:nvPr/>
        </p:nvSpPr>
        <p:spPr>
          <a:xfrm>
            <a:off x="7059168" y="4041648"/>
            <a:ext cx="4572000" cy="2011680"/>
          </a:xfrm>
          <a:prstGeom prst="roundRect">
            <a:avLst>
              <a:gd name="adj" fmla="val 2727"/>
            </a:avLst>
          </a:prstGeom>
          <a:solidFill>
            <a:srgbClr val="F7F4FE"/>
          </a:solidFill>
          <a:ln w="12700">
            <a:solidFill>
              <a:srgbClr val="D9CEF9"/>
            </a:solidFill>
            <a:prstDash val="solid"/>
          </a:ln>
        </p:spPr>
      </p:sp>
      <p:sp>
        <p:nvSpPr>
          <p:cNvPr id="30" name="Text 28"/>
          <p:cNvSpPr/>
          <p:nvPr/>
        </p:nvSpPr>
        <p:spPr>
          <a:xfrm>
            <a:off x="7370064" y="4242816"/>
            <a:ext cx="3931920" cy="256032"/>
          </a:xfrm>
          <a:prstGeom prst="rect">
            <a:avLst/>
          </a:prstGeom>
          <a:noFill/>
          <a:ln/>
        </p:spPr>
        <p:txBody>
          <a:bodyPr wrap="square" lIns="0" tIns="0" rIns="0" bIns="0" rtlCol="0" anchor="ctr"/>
          <a:lstStyle/>
          <a:p>
            <a:pPr indent="0" marL="0">
              <a:buNone/>
            </a:pPr>
            <a:r>
              <a:rPr lang="en-US" sz="1050" b="1" dirty="0">
                <a:solidFill>
                  <a:srgbClr val="5B44B8"/>
                </a:solidFill>
                <a:latin typeface="Calibri" pitchFamily="34" charset="0"/>
                <a:ea typeface="Calibri" pitchFamily="34" charset="-122"/>
                <a:cs typeface="Calibri" pitchFamily="34" charset="-120"/>
              </a:rPr>
              <a:t>AI summary — not independently verified</a:t>
            </a:r>
            <a:endParaRPr lang="en-US" sz="1050" dirty="0"/>
          </a:p>
        </p:txBody>
      </p:sp>
      <p:sp>
        <p:nvSpPr>
          <p:cNvPr id="31" name="Text 29"/>
          <p:cNvSpPr/>
          <p:nvPr/>
        </p:nvSpPr>
        <p:spPr>
          <a:xfrm>
            <a:off x="7370064" y="4553712"/>
            <a:ext cx="3931920" cy="1316736"/>
          </a:xfrm>
          <a:prstGeom prst="rect">
            <a:avLst/>
          </a:prstGeom>
          <a:noFill/>
          <a:ln/>
        </p:spPr>
        <p:txBody>
          <a:bodyPr wrap="square" lIns="0" tIns="0" rIns="0" bIns="0" rtlCol="0" anchor="ctr"/>
          <a:lstStyle/>
          <a:p>
            <a:pPr indent="0" marL="0">
              <a:lnSpc>
                <a:spcPts val="1600"/>
              </a:lnSpc>
              <a:buNone/>
            </a:pPr>
            <a:r>
              <a:rPr lang="en-US" sz="1150" i="1" dirty="0">
                <a:solidFill>
                  <a:srgbClr val="463A66"/>
                </a:solidFill>
                <a:latin typeface="Calibri" pitchFamily="34" charset="0"/>
                <a:ea typeface="Calibri" pitchFamily="34" charset="-122"/>
                <a:cs typeface="Calibri" pitchFamily="34" charset="-120"/>
              </a:rPr>
              <a:t>Field intended to store the unit cost of an inventory item, likely for cost tracking or margin calculations. No code or automation touches it, so intended use beyond display is unconfirmed.</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11411712" y="6455664"/>
            <a:ext cx="365760" cy="274320"/>
          </a:xfrm>
          <a:prstGeom prst="rect">
            <a:avLst/>
          </a:prstGeom>
          <a:noFill/>
          <a:ln/>
        </p:spPr>
        <p:txBody>
          <a:bodyPr wrap="square" lIns="0" tIns="0" rIns="0" bIns="0" rtlCol="0" anchor="ctr"/>
          <a:lstStyle/>
          <a:p>
            <a:pPr algn="r" indent="0" marL="0">
              <a:buNone/>
            </a:pPr>
            <a:r>
              <a:rPr lang="en-US" sz="1000" dirty="0">
                <a:solidFill>
                  <a:srgbClr val="76849A"/>
                </a:solidFill>
                <a:latin typeface="Calibri" pitchFamily="34" charset="0"/>
                <a:ea typeface="Calibri" pitchFamily="34" charset="-122"/>
                <a:cs typeface="Calibri" pitchFamily="34" charset="-120"/>
              </a:rPr>
              <a:t>15</a:t>
            </a:r>
            <a:endParaRPr lang="en-US" sz="1000" dirty="0"/>
          </a:p>
        </p:txBody>
      </p:sp>
      <p:sp>
        <p:nvSpPr>
          <p:cNvPr id="3" name="Text 1"/>
          <p:cNvSpPr/>
          <p:nvPr/>
        </p:nvSpPr>
        <p:spPr>
          <a:xfrm>
            <a:off x="566928" y="402336"/>
            <a:ext cx="11055096" cy="713232"/>
          </a:xfrm>
          <a:prstGeom prst="rect">
            <a:avLst/>
          </a:prstGeom>
          <a:noFill/>
          <a:ln/>
        </p:spPr>
        <p:txBody>
          <a:bodyPr wrap="square" lIns="0" tIns="0" rIns="0" bIns="0" rtlCol="0" anchor="ctr"/>
          <a:lstStyle/>
          <a:p>
            <a:pPr indent="0" marL="0">
              <a:buNone/>
            </a:pPr>
            <a:r>
              <a:rPr lang="en-US" sz="3400" b="1" dirty="0">
                <a:solidFill>
                  <a:srgbClr val="F2F5F8"/>
                </a:solidFill>
                <a:latin typeface="Arial" pitchFamily="34" charset="0"/>
                <a:ea typeface="Arial" pitchFamily="34" charset="-122"/>
                <a:cs typeface="Arial" pitchFamily="34" charset="-120"/>
              </a:rPr>
              <a:t>The claim that makes a deletion defensible</a:t>
            </a:r>
            <a:endParaRPr lang="en-US" sz="3400" dirty="0"/>
          </a:p>
        </p:txBody>
      </p:sp>
      <p:sp>
        <p:nvSpPr>
          <p:cNvPr id="4" name="Shape 2"/>
          <p:cNvSpPr/>
          <p:nvPr/>
        </p:nvSpPr>
        <p:spPr>
          <a:xfrm>
            <a:off x="566928" y="1828800"/>
            <a:ext cx="5394960" cy="1737360"/>
          </a:xfrm>
          <a:prstGeom prst="roundRect">
            <a:avLst>
              <a:gd name="adj" fmla="val 3158"/>
            </a:avLst>
          </a:prstGeom>
          <a:solidFill>
            <a:srgbClr val="1A2430"/>
          </a:solidFill>
          <a:ln w="12700">
            <a:solidFill>
              <a:srgbClr val="32435A"/>
            </a:solidFill>
            <a:prstDash val="solid"/>
          </a:ln>
        </p:spPr>
      </p:sp>
      <p:sp>
        <p:nvSpPr>
          <p:cNvPr id="5" name="Text 3"/>
          <p:cNvSpPr/>
          <p:nvPr/>
        </p:nvSpPr>
        <p:spPr>
          <a:xfrm>
            <a:off x="932688" y="2121408"/>
            <a:ext cx="4663440" cy="548640"/>
          </a:xfrm>
          <a:prstGeom prst="rect">
            <a:avLst/>
          </a:prstGeom>
          <a:noFill/>
          <a:ln/>
        </p:spPr>
        <p:txBody>
          <a:bodyPr wrap="square" lIns="0" tIns="0" rIns="0" bIns="0" rtlCol="0" anchor="ctr"/>
          <a:lstStyle/>
          <a:p>
            <a:pPr indent="0" marL="0">
              <a:buNone/>
            </a:pPr>
            <a:r>
              <a:rPr lang="en-US" sz="1700" b="1" dirty="0">
                <a:solidFill>
                  <a:srgbClr val="3FBF92"/>
                </a:solidFill>
                <a:latin typeface="Arial" pitchFamily="34" charset="0"/>
                <a:ea typeface="Arial" pitchFamily="34" charset="-122"/>
                <a:cs typeface="Arial" pitchFamily="34" charset="-120"/>
              </a:rPr>
              <a:t>"We searched here and found nothing"</a:t>
            </a:r>
            <a:endParaRPr lang="en-US" sz="1700" dirty="0"/>
          </a:p>
        </p:txBody>
      </p:sp>
      <p:sp>
        <p:nvSpPr>
          <p:cNvPr id="6" name="Text 4"/>
          <p:cNvSpPr/>
          <p:nvPr/>
        </p:nvSpPr>
        <p:spPr>
          <a:xfrm>
            <a:off x="932688" y="2798064"/>
            <a:ext cx="4663440" cy="548640"/>
          </a:xfrm>
          <a:prstGeom prst="rect">
            <a:avLst/>
          </a:prstGeom>
          <a:noFill/>
          <a:ln/>
        </p:spPr>
        <p:txBody>
          <a:bodyPr wrap="square" lIns="0" tIns="0" rIns="0" bIns="0" rtlCol="0" anchor="ctr"/>
          <a:lstStyle/>
          <a:p>
            <a:pPr indent="0" marL="0">
              <a:buNone/>
            </a:pPr>
            <a:r>
              <a:rPr lang="en-US" sz="1300" dirty="0">
                <a:solidFill>
                  <a:srgbClr val="A8B4C4"/>
                </a:solidFill>
                <a:latin typeface="Calibri" pitchFamily="34" charset="0"/>
                <a:ea typeface="Calibri" pitchFamily="34" charset="-122"/>
                <a:cs typeface="Calibri" pitchFamily="34" charset="-120"/>
              </a:rPr>
              <a:t>A recorded, checkable fact. Supports a deletion.</a:t>
            </a:r>
            <a:endParaRPr lang="en-US" sz="1300" dirty="0"/>
          </a:p>
        </p:txBody>
      </p:sp>
      <p:sp>
        <p:nvSpPr>
          <p:cNvPr id="7" name="Shape 5"/>
          <p:cNvSpPr/>
          <p:nvPr/>
        </p:nvSpPr>
        <p:spPr>
          <a:xfrm>
            <a:off x="6272784" y="1828800"/>
            <a:ext cx="5349240" cy="1737360"/>
          </a:xfrm>
          <a:prstGeom prst="roundRect">
            <a:avLst>
              <a:gd name="adj" fmla="val 3158"/>
            </a:avLst>
          </a:prstGeom>
          <a:solidFill>
            <a:srgbClr val="1A2430"/>
          </a:solidFill>
          <a:ln w="12700">
            <a:solidFill>
              <a:srgbClr val="F0555A"/>
            </a:solidFill>
            <a:prstDash val="solid"/>
          </a:ln>
        </p:spPr>
      </p:sp>
      <p:sp>
        <p:nvSpPr>
          <p:cNvPr id="8" name="Text 6"/>
          <p:cNvSpPr/>
          <p:nvPr/>
        </p:nvSpPr>
        <p:spPr>
          <a:xfrm>
            <a:off x="6638544" y="2121408"/>
            <a:ext cx="4572000" cy="548640"/>
          </a:xfrm>
          <a:prstGeom prst="rect">
            <a:avLst/>
          </a:prstGeom>
          <a:noFill/>
          <a:ln/>
        </p:spPr>
        <p:txBody>
          <a:bodyPr wrap="square" lIns="0" tIns="0" rIns="0" bIns="0" rtlCol="0" anchor="ctr"/>
          <a:lstStyle/>
          <a:p>
            <a:pPr indent="0" marL="0">
              <a:buNone/>
            </a:pPr>
            <a:r>
              <a:rPr lang="en-US" sz="1700" b="1" dirty="0">
                <a:solidFill>
                  <a:srgbClr val="F0555A"/>
                </a:solidFill>
                <a:latin typeface="Arial" pitchFamily="34" charset="0"/>
                <a:ea typeface="Arial" pitchFamily="34" charset="-122"/>
                <a:cs typeface="Arial" pitchFamily="34" charset="-120"/>
              </a:rPr>
              <a:t>"We never checked"</a:t>
            </a:r>
            <a:endParaRPr lang="en-US" sz="1700" dirty="0"/>
          </a:p>
        </p:txBody>
      </p:sp>
      <p:sp>
        <p:nvSpPr>
          <p:cNvPr id="9" name="Text 7"/>
          <p:cNvSpPr/>
          <p:nvPr/>
        </p:nvSpPr>
        <p:spPr>
          <a:xfrm>
            <a:off x="6638544" y="2798064"/>
            <a:ext cx="4572000" cy="548640"/>
          </a:xfrm>
          <a:prstGeom prst="rect">
            <a:avLst/>
          </a:prstGeom>
          <a:noFill/>
          <a:ln/>
        </p:spPr>
        <p:txBody>
          <a:bodyPr wrap="square" lIns="0" tIns="0" rIns="0" bIns="0" rtlCol="0" anchor="ctr"/>
          <a:lstStyle/>
          <a:p>
            <a:pPr indent="0" marL="0">
              <a:buNone/>
            </a:pPr>
            <a:r>
              <a:rPr lang="en-US" sz="1300" dirty="0">
                <a:solidFill>
                  <a:srgbClr val="A8B4C4"/>
                </a:solidFill>
                <a:latin typeface="Calibri" pitchFamily="34" charset="0"/>
                <a:ea typeface="Calibri" pitchFamily="34" charset="-122"/>
                <a:cs typeface="Calibri" pitchFamily="34" charset="-120"/>
              </a:rPr>
              <a:t>Absence of evidence. Supports nothing at all.</a:t>
            </a:r>
            <a:endParaRPr lang="en-US" sz="1300" dirty="0"/>
          </a:p>
        </p:txBody>
      </p:sp>
      <p:sp>
        <p:nvSpPr>
          <p:cNvPr id="10" name="Text 8"/>
          <p:cNvSpPr/>
          <p:nvPr/>
        </p:nvSpPr>
        <p:spPr>
          <a:xfrm>
            <a:off x="566928" y="3803904"/>
            <a:ext cx="10972800" cy="365760"/>
          </a:xfrm>
          <a:prstGeom prst="rect">
            <a:avLst/>
          </a:prstGeom>
          <a:noFill/>
          <a:ln/>
        </p:spPr>
        <p:txBody>
          <a:bodyPr wrap="square" lIns="0" tIns="0" rIns="0" bIns="0" rtlCol="0" anchor="ctr"/>
          <a:lstStyle/>
          <a:p>
            <a:pPr indent="0" marL="0">
              <a:buNone/>
            </a:pPr>
            <a:r>
              <a:rPr lang="en-US" sz="1600" b="1" dirty="0">
                <a:solidFill>
                  <a:srgbClr val="F2F5F8"/>
                </a:solidFill>
                <a:latin typeface="Arial" pitchFamily="34" charset="0"/>
                <a:ea typeface="Arial" pitchFamily="34" charset="-122"/>
                <a:cs typeface="Arial" pitchFamily="34" charset="-120"/>
              </a:rPr>
              <a:t>Most tools cannot tell these apart. Ours records both.</a:t>
            </a:r>
            <a:endParaRPr lang="en-US" sz="1600" dirty="0"/>
          </a:p>
        </p:txBody>
      </p:sp>
      <p:sp>
        <p:nvSpPr>
          <p:cNvPr id="11" name="Shape 9"/>
          <p:cNvSpPr/>
          <p:nvPr/>
        </p:nvSpPr>
        <p:spPr>
          <a:xfrm>
            <a:off x="603504" y="4462272"/>
            <a:ext cx="164592" cy="164592"/>
          </a:xfrm>
          <a:prstGeom prst="ellipse">
            <a:avLst/>
          </a:prstGeom>
          <a:solidFill>
            <a:srgbClr val="29B6D8"/>
          </a:solidFill>
          <a:ln/>
        </p:spPr>
      </p:sp>
      <p:sp>
        <p:nvSpPr>
          <p:cNvPr id="12" name="Text 10"/>
          <p:cNvSpPr/>
          <p:nvPr/>
        </p:nvSpPr>
        <p:spPr>
          <a:xfrm>
            <a:off x="932688" y="4370832"/>
            <a:ext cx="4297680" cy="274320"/>
          </a:xfrm>
          <a:prstGeom prst="rect">
            <a:avLst/>
          </a:prstGeom>
          <a:noFill/>
          <a:ln/>
        </p:spPr>
        <p:txBody>
          <a:bodyPr wrap="square" lIns="0" tIns="0" rIns="0" bIns="0" rtlCol="0" anchor="ctr"/>
          <a:lstStyle/>
          <a:p>
            <a:pPr indent="0" marL="0">
              <a:buNone/>
            </a:pPr>
            <a:r>
              <a:rPr lang="en-US" sz="1350" b="1" dirty="0">
                <a:solidFill>
                  <a:srgbClr val="F2F5F8"/>
                </a:solidFill>
                <a:latin typeface="Calibri" pitchFamily="34" charset="0"/>
                <a:ea typeface="Calibri" pitchFamily="34" charset="-122"/>
                <a:cs typeface="Calibri" pitchFamily="34" charset="-120"/>
              </a:rPr>
              <a:t>Every collector writes a row every time</a:t>
            </a:r>
            <a:endParaRPr lang="en-US" sz="1350" dirty="0"/>
          </a:p>
        </p:txBody>
      </p:sp>
      <p:sp>
        <p:nvSpPr>
          <p:cNvPr id="13" name="Text 11"/>
          <p:cNvSpPr/>
          <p:nvPr/>
        </p:nvSpPr>
        <p:spPr>
          <a:xfrm>
            <a:off x="5394960" y="4370832"/>
            <a:ext cx="6035040" cy="365760"/>
          </a:xfrm>
          <a:prstGeom prst="rect">
            <a:avLst/>
          </a:prstGeom>
          <a:noFill/>
          <a:ln/>
        </p:spPr>
        <p:txBody>
          <a:bodyPr wrap="square" lIns="0" tIns="0" rIns="0" bIns="0" rtlCol="0" anchor="ctr"/>
          <a:lstStyle/>
          <a:p>
            <a:pPr indent="0" marL="0">
              <a:buNone/>
            </a:pPr>
            <a:r>
              <a:rPr lang="en-US" sz="1250" dirty="0">
                <a:solidFill>
                  <a:srgbClr val="A8B4C4"/>
                </a:solidFill>
                <a:latin typeface="Calibri" pitchFamily="34" charset="0"/>
                <a:ea typeface="Calibri" pitchFamily="34" charset="-122"/>
                <a:cs typeface="Calibri" pitchFamily="34" charset="-120"/>
              </a:rPr>
              <a:t>hit or miss, with the literal query it used</a:t>
            </a:r>
            <a:endParaRPr lang="en-US" sz="1250" dirty="0"/>
          </a:p>
        </p:txBody>
      </p:sp>
      <p:sp>
        <p:nvSpPr>
          <p:cNvPr id="14" name="Shape 12"/>
          <p:cNvSpPr/>
          <p:nvPr/>
        </p:nvSpPr>
        <p:spPr>
          <a:xfrm>
            <a:off x="603504" y="5065776"/>
            <a:ext cx="164592" cy="164592"/>
          </a:xfrm>
          <a:prstGeom prst="ellipse">
            <a:avLst/>
          </a:prstGeom>
          <a:solidFill>
            <a:srgbClr val="29B6D8"/>
          </a:solidFill>
          <a:ln/>
        </p:spPr>
      </p:sp>
      <p:sp>
        <p:nvSpPr>
          <p:cNvPr id="15" name="Text 13"/>
          <p:cNvSpPr/>
          <p:nvPr/>
        </p:nvSpPr>
        <p:spPr>
          <a:xfrm>
            <a:off x="932688" y="4974336"/>
            <a:ext cx="4297680" cy="274320"/>
          </a:xfrm>
          <a:prstGeom prst="rect">
            <a:avLst/>
          </a:prstGeom>
          <a:noFill/>
          <a:ln/>
        </p:spPr>
        <p:txBody>
          <a:bodyPr wrap="square" lIns="0" tIns="0" rIns="0" bIns="0" rtlCol="0" anchor="ctr"/>
          <a:lstStyle/>
          <a:p>
            <a:pPr indent="0" marL="0">
              <a:buNone/>
            </a:pPr>
            <a:r>
              <a:rPr lang="en-US" sz="1350" b="1" dirty="0">
                <a:solidFill>
                  <a:srgbClr val="F2F5F8"/>
                </a:solidFill>
                <a:latin typeface="Calibri" pitchFamily="34" charset="0"/>
                <a:ea typeface="Calibri" pitchFamily="34" charset="-122"/>
                <a:cs typeface="Calibri" pitchFamily="34" charset="-120"/>
              </a:rPr>
              <a:t>A failed check becomes a coverage gap</a:t>
            </a:r>
            <a:endParaRPr lang="en-US" sz="1350" dirty="0"/>
          </a:p>
        </p:txBody>
      </p:sp>
      <p:sp>
        <p:nvSpPr>
          <p:cNvPr id="16" name="Text 14"/>
          <p:cNvSpPr/>
          <p:nvPr/>
        </p:nvSpPr>
        <p:spPr>
          <a:xfrm>
            <a:off x="5394960" y="4974336"/>
            <a:ext cx="6035040" cy="365760"/>
          </a:xfrm>
          <a:prstGeom prst="rect">
            <a:avLst/>
          </a:prstGeom>
          <a:noFill/>
          <a:ln/>
        </p:spPr>
        <p:txBody>
          <a:bodyPr wrap="square" lIns="0" tIns="0" rIns="0" bIns="0" rtlCol="0" anchor="ctr"/>
          <a:lstStyle/>
          <a:p>
            <a:pPr indent="0" marL="0">
              <a:buNone/>
            </a:pPr>
            <a:r>
              <a:rPr lang="en-US" sz="1250" dirty="0">
                <a:solidFill>
                  <a:srgbClr val="A8B4C4"/>
                </a:solidFill>
                <a:latin typeface="Calibri" pitchFamily="34" charset="0"/>
                <a:ea typeface="Calibri" pitchFamily="34" charset="-122"/>
                <a:cs typeface="Calibri" pitchFamily="34" charset="-120"/>
              </a:rPr>
              <a:t>and a gap blocks a deletion verdict outright</a:t>
            </a:r>
            <a:endParaRPr lang="en-US" sz="1250" dirty="0"/>
          </a:p>
        </p:txBody>
      </p:sp>
      <p:sp>
        <p:nvSpPr>
          <p:cNvPr id="17" name="Shape 15"/>
          <p:cNvSpPr/>
          <p:nvPr/>
        </p:nvSpPr>
        <p:spPr>
          <a:xfrm>
            <a:off x="603504" y="5669280"/>
            <a:ext cx="164592" cy="164592"/>
          </a:xfrm>
          <a:prstGeom prst="ellipse">
            <a:avLst/>
          </a:prstGeom>
          <a:solidFill>
            <a:srgbClr val="29B6D8"/>
          </a:solidFill>
          <a:ln/>
        </p:spPr>
      </p:sp>
      <p:sp>
        <p:nvSpPr>
          <p:cNvPr id="18" name="Text 16"/>
          <p:cNvSpPr/>
          <p:nvPr/>
        </p:nvSpPr>
        <p:spPr>
          <a:xfrm>
            <a:off x="932688" y="5577840"/>
            <a:ext cx="4297680" cy="274320"/>
          </a:xfrm>
          <a:prstGeom prst="rect">
            <a:avLst/>
          </a:prstGeom>
          <a:noFill/>
          <a:ln/>
        </p:spPr>
        <p:txBody>
          <a:bodyPr wrap="square" lIns="0" tIns="0" rIns="0" bIns="0" rtlCol="0" anchor="ctr"/>
          <a:lstStyle/>
          <a:p>
            <a:pPr indent="0" marL="0">
              <a:buNone/>
            </a:pPr>
            <a:r>
              <a:rPr lang="en-US" sz="1350" b="1" dirty="0">
                <a:solidFill>
                  <a:srgbClr val="F2F5F8"/>
                </a:solidFill>
                <a:latin typeface="Calibri" pitchFamily="34" charset="0"/>
                <a:ea typeface="Calibri" pitchFamily="34" charset="-122"/>
                <a:cs typeface="Calibri" pitchFamily="34" charset="-120"/>
              </a:rPr>
              <a:t>The report leads with its limitations</a:t>
            </a:r>
            <a:endParaRPr lang="en-US" sz="1350" dirty="0"/>
          </a:p>
        </p:txBody>
      </p:sp>
      <p:sp>
        <p:nvSpPr>
          <p:cNvPr id="19" name="Text 17"/>
          <p:cNvSpPr/>
          <p:nvPr/>
        </p:nvSpPr>
        <p:spPr>
          <a:xfrm>
            <a:off x="5394960" y="5577840"/>
            <a:ext cx="6035040" cy="365760"/>
          </a:xfrm>
          <a:prstGeom prst="rect">
            <a:avLst/>
          </a:prstGeom>
          <a:noFill/>
          <a:ln/>
        </p:spPr>
        <p:txBody>
          <a:bodyPr wrap="square" lIns="0" tIns="0" rIns="0" bIns="0" rtlCol="0" anchor="ctr"/>
          <a:lstStyle/>
          <a:p>
            <a:pPr indent="0" marL="0">
              <a:buNone/>
            </a:pPr>
            <a:r>
              <a:rPr lang="en-US" sz="1250" dirty="0">
                <a:solidFill>
                  <a:srgbClr val="A8B4C4"/>
                </a:solidFill>
                <a:latin typeface="Calibri" pitchFamily="34" charset="0"/>
                <a:ea typeface="Calibri" pitchFamily="34" charset="-122"/>
                <a:cs typeface="Calibri" pitchFamily="34" charset="-120"/>
              </a:rPr>
              <a:t>what the run could NOT prove appears before what it found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11712" y="6455664"/>
            <a:ext cx="365760" cy="274320"/>
          </a:xfrm>
          <a:prstGeom prst="rect">
            <a:avLst/>
          </a:prstGeom>
          <a:noFill/>
          <a:ln/>
        </p:spPr>
        <p:txBody>
          <a:bodyPr wrap="square" lIns="0" tIns="0" rIns="0" bIns="0" rtlCol="0" anchor="ctr"/>
          <a:lstStyle/>
          <a:p>
            <a:pPr algn="r" indent="0" marL="0">
              <a:buNone/>
            </a:pPr>
            <a:r>
              <a:rPr lang="en-US" sz="1000" dirty="0">
                <a:solidFill>
                  <a:srgbClr val="A0A8B4"/>
                </a:solidFill>
                <a:latin typeface="Calibri" pitchFamily="34" charset="0"/>
                <a:ea typeface="Calibri" pitchFamily="34" charset="-122"/>
                <a:cs typeface="Calibri" pitchFamily="34" charset="-120"/>
              </a:rPr>
              <a:t>16</a:t>
            </a:r>
            <a:endParaRPr lang="en-US" sz="1000" dirty="0"/>
          </a:p>
        </p:txBody>
      </p:sp>
      <p:sp>
        <p:nvSpPr>
          <p:cNvPr id="3" name="Text 1"/>
          <p:cNvSpPr/>
          <p:nvPr/>
        </p:nvSpPr>
        <p:spPr>
          <a:xfrm>
            <a:off x="566928" y="402336"/>
            <a:ext cx="11055096" cy="713232"/>
          </a:xfrm>
          <a:prstGeom prst="rect">
            <a:avLst/>
          </a:prstGeom>
          <a:noFill/>
          <a:ln/>
        </p:spPr>
        <p:txBody>
          <a:bodyPr wrap="square" lIns="0" tIns="0" rIns="0" bIns="0" rtlCol="0" anchor="ctr"/>
          <a:lstStyle/>
          <a:p>
            <a:pPr indent="0" marL="0">
              <a:buNone/>
            </a:pPr>
            <a:r>
              <a:rPr lang="en-US" sz="3400" b="1" dirty="0">
                <a:solidFill>
                  <a:srgbClr val="0F1620"/>
                </a:solidFill>
                <a:latin typeface="Arial" pitchFamily="34" charset="0"/>
                <a:ea typeface="Arial" pitchFamily="34" charset="-122"/>
                <a:cs typeface="Arial" pitchFamily="34" charset="-120"/>
              </a:rPr>
              <a:t>Where the human sits</a:t>
            </a:r>
            <a:endParaRPr lang="en-US" sz="3400" dirty="0"/>
          </a:p>
        </p:txBody>
      </p:sp>
      <p:sp>
        <p:nvSpPr>
          <p:cNvPr id="4" name="Text 2"/>
          <p:cNvSpPr/>
          <p:nvPr/>
        </p:nvSpPr>
        <p:spPr>
          <a:xfrm>
            <a:off x="566928" y="1115568"/>
            <a:ext cx="11055096" cy="402336"/>
          </a:xfrm>
          <a:prstGeom prst="rect">
            <a:avLst/>
          </a:prstGeom>
          <a:noFill/>
          <a:ln/>
        </p:spPr>
        <p:txBody>
          <a:bodyPr wrap="square" lIns="0" tIns="0" rIns="0" bIns="0" rtlCol="0" anchor="ctr"/>
          <a:lstStyle/>
          <a:p>
            <a:pPr indent="0" marL="0">
              <a:buNone/>
            </a:pPr>
            <a:r>
              <a:rPr lang="en-US" sz="1450" dirty="0">
                <a:solidFill>
                  <a:srgbClr val="55606E"/>
                </a:solidFill>
                <a:latin typeface="Calibri" pitchFamily="34" charset="0"/>
                <a:ea typeface="Calibri" pitchFamily="34" charset="-122"/>
                <a:cs typeface="Calibri" pitchFamily="34" charset="-120"/>
              </a:rPr>
              <a:t>Automation does the exhaustive work. People make the irreversible decision.</a:t>
            </a:r>
            <a:endParaRPr lang="en-US" sz="1450" dirty="0"/>
          </a:p>
        </p:txBody>
      </p:sp>
      <p:sp>
        <p:nvSpPr>
          <p:cNvPr id="5" name="Shape 3"/>
          <p:cNvSpPr/>
          <p:nvPr/>
        </p:nvSpPr>
        <p:spPr>
          <a:xfrm>
            <a:off x="566928" y="1773936"/>
            <a:ext cx="1225296" cy="566928"/>
          </a:xfrm>
          <a:prstGeom prst="roundRect">
            <a:avLst>
              <a:gd name="adj" fmla="val 8065"/>
            </a:avLst>
          </a:prstGeom>
          <a:solidFill>
            <a:srgbClr val="FFFFFF"/>
          </a:solidFill>
          <a:ln w="17780">
            <a:solidFill>
              <a:srgbClr val="29B6D8"/>
            </a:solidFill>
            <a:prstDash val="solid"/>
          </a:ln>
        </p:spPr>
      </p:sp>
      <p:sp>
        <p:nvSpPr>
          <p:cNvPr id="6" name="Text 4"/>
          <p:cNvSpPr/>
          <p:nvPr/>
        </p:nvSpPr>
        <p:spPr>
          <a:xfrm>
            <a:off x="566928" y="1773936"/>
            <a:ext cx="1225296" cy="566928"/>
          </a:xfrm>
          <a:prstGeom prst="rect">
            <a:avLst/>
          </a:prstGeom>
          <a:noFill/>
          <a:ln/>
        </p:spPr>
        <p:txBody>
          <a:bodyPr wrap="square" lIns="0" tIns="0" rIns="0" bIns="0" rtlCol="0" anchor="ctr"/>
          <a:lstStyle/>
          <a:p>
            <a:pPr algn="ctr" indent="0" marL="0">
              <a:buNone/>
            </a:pPr>
            <a:r>
              <a:rPr lang="en-US" sz="1050" b="1" dirty="0">
                <a:solidFill>
                  <a:srgbClr val="3A4553"/>
                </a:solidFill>
                <a:latin typeface="Arial" pitchFamily="34" charset="0"/>
                <a:ea typeface="Arial" pitchFamily="34" charset="-122"/>
                <a:cs typeface="Arial" pitchFamily="34" charset="-120"/>
              </a:rPr>
              <a:t>Machine</a:t>
            </a:r>
            <a:endParaRPr lang="en-US" sz="1050" dirty="0"/>
          </a:p>
        </p:txBody>
      </p:sp>
      <p:sp>
        <p:nvSpPr>
          <p:cNvPr id="7" name="Text 5"/>
          <p:cNvSpPr/>
          <p:nvPr/>
        </p:nvSpPr>
        <p:spPr>
          <a:xfrm>
            <a:off x="2048256" y="1792224"/>
            <a:ext cx="3017520" cy="292608"/>
          </a:xfrm>
          <a:prstGeom prst="rect">
            <a:avLst/>
          </a:prstGeom>
          <a:noFill/>
          <a:ln/>
        </p:spPr>
        <p:txBody>
          <a:bodyPr wrap="square" lIns="0" tIns="0" rIns="0" bIns="0" rtlCol="0" anchor="ctr"/>
          <a:lstStyle/>
          <a:p>
            <a:pPr indent="0" marL="0">
              <a:buNone/>
            </a:pPr>
            <a:r>
              <a:rPr lang="en-US" sz="1450" b="1" dirty="0">
                <a:solidFill>
                  <a:srgbClr val="0F1620"/>
                </a:solidFill>
                <a:latin typeface="Arial" pitchFamily="34" charset="0"/>
                <a:ea typeface="Arial" pitchFamily="34" charset="-122"/>
                <a:cs typeface="Arial" pitchFamily="34" charset="-120"/>
              </a:rPr>
              <a:t>Analyse &amp; classify</a:t>
            </a:r>
            <a:endParaRPr lang="en-US" sz="1450" dirty="0"/>
          </a:p>
        </p:txBody>
      </p:sp>
      <p:sp>
        <p:nvSpPr>
          <p:cNvPr id="8" name="Text 6"/>
          <p:cNvSpPr/>
          <p:nvPr/>
        </p:nvSpPr>
        <p:spPr>
          <a:xfrm>
            <a:off x="5138928" y="1792224"/>
            <a:ext cx="6766560" cy="548640"/>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Nine collectors, deterministic rules, graph reachability. Exhaustive and repeatable.</a:t>
            </a:r>
            <a:endParaRPr lang="en-US" sz="1200" dirty="0"/>
          </a:p>
        </p:txBody>
      </p:sp>
      <p:sp>
        <p:nvSpPr>
          <p:cNvPr id="9" name="Shape 7"/>
          <p:cNvSpPr/>
          <p:nvPr/>
        </p:nvSpPr>
        <p:spPr>
          <a:xfrm>
            <a:off x="566928" y="2660904"/>
            <a:ext cx="1225296" cy="566928"/>
          </a:xfrm>
          <a:prstGeom prst="roundRect">
            <a:avLst>
              <a:gd name="adj" fmla="val 8065"/>
            </a:avLst>
          </a:prstGeom>
          <a:solidFill>
            <a:srgbClr val="FFFFFF"/>
          </a:solidFill>
          <a:ln w="17780">
            <a:solidFill>
              <a:srgbClr val="3FBF92"/>
            </a:solidFill>
            <a:prstDash val="solid"/>
          </a:ln>
        </p:spPr>
      </p:sp>
      <p:sp>
        <p:nvSpPr>
          <p:cNvPr id="10" name="Text 8"/>
          <p:cNvSpPr/>
          <p:nvPr/>
        </p:nvSpPr>
        <p:spPr>
          <a:xfrm>
            <a:off x="566928" y="2660904"/>
            <a:ext cx="1225296" cy="566928"/>
          </a:xfrm>
          <a:prstGeom prst="rect">
            <a:avLst/>
          </a:prstGeom>
          <a:noFill/>
          <a:ln/>
        </p:spPr>
        <p:txBody>
          <a:bodyPr wrap="square" lIns="0" tIns="0" rIns="0" bIns="0" rtlCol="0" anchor="ctr"/>
          <a:lstStyle/>
          <a:p>
            <a:pPr algn="ctr" indent="0" marL="0">
              <a:buNone/>
            </a:pPr>
            <a:r>
              <a:rPr lang="en-US" sz="1050" b="1" dirty="0">
                <a:solidFill>
                  <a:srgbClr val="3A4553"/>
                </a:solidFill>
                <a:latin typeface="Arial" pitchFamily="34" charset="0"/>
                <a:ea typeface="Arial" pitchFamily="34" charset="-122"/>
                <a:cs typeface="Arial" pitchFamily="34" charset="-120"/>
              </a:rPr>
              <a:t>Machine</a:t>
            </a:r>
            <a:endParaRPr lang="en-US" sz="1050" dirty="0"/>
          </a:p>
        </p:txBody>
      </p:sp>
      <p:sp>
        <p:nvSpPr>
          <p:cNvPr id="11" name="Text 9"/>
          <p:cNvSpPr/>
          <p:nvPr/>
        </p:nvSpPr>
        <p:spPr>
          <a:xfrm>
            <a:off x="2048256" y="2679192"/>
            <a:ext cx="3017520" cy="292608"/>
          </a:xfrm>
          <a:prstGeom prst="rect">
            <a:avLst/>
          </a:prstGeom>
          <a:noFill/>
          <a:ln/>
        </p:spPr>
        <p:txBody>
          <a:bodyPr wrap="square" lIns="0" tIns="0" rIns="0" bIns="0" rtlCol="0" anchor="ctr"/>
          <a:lstStyle/>
          <a:p>
            <a:pPr indent="0" marL="0">
              <a:buNone/>
            </a:pPr>
            <a:r>
              <a:rPr lang="en-US" sz="1450" b="1" dirty="0">
                <a:solidFill>
                  <a:srgbClr val="0F1620"/>
                </a:solidFill>
                <a:latin typeface="Arial" pitchFamily="34" charset="0"/>
                <a:ea typeface="Arial" pitchFamily="34" charset="-122"/>
                <a:cs typeface="Arial" pitchFamily="34" charset="-120"/>
              </a:rPr>
              <a:t>Server validation</a:t>
            </a:r>
            <a:endParaRPr lang="en-US" sz="1450" dirty="0"/>
          </a:p>
        </p:txBody>
      </p:sp>
      <p:sp>
        <p:nvSpPr>
          <p:cNvPr id="12" name="Text 10"/>
          <p:cNvSpPr/>
          <p:nvPr/>
        </p:nvSpPr>
        <p:spPr>
          <a:xfrm>
            <a:off x="5138928" y="2679192"/>
            <a:ext cx="6766560" cy="548640"/>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Salesforce confirms the delete would succeed. Any refusal names the blocker.</a:t>
            </a:r>
            <a:endParaRPr lang="en-US" sz="1200" dirty="0"/>
          </a:p>
        </p:txBody>
      </p:sp>
      <p:sp>
        <p:nvSpPr>
          <p:cNvPr id="13" name="Shape 11"/>
          <p:cNvSpPr/>
          <p:nvPr/>
        </p:nvSpPr>
        <p:spPr>
          <a:xfrm>
            <a:off x="566928" y="3547872"/>
            <a:ext cx="1225296" cy="566928"/>
          </a:xfrm>
          <a:prstGeom prst="roundRect">
            <a:avLst>
              <a:gd name="adj" fmla="val 8065"/>
            </a:avLst>
          </a:prstGeom>
          <a:solidFill>
            <a:srgbClr val="FFFFFF"/>
          </a:solidFill>
          <a:ln w="17780">
            <a:solidFill>
              <a:srgbClr val="9B84F7"/>
            </a:solidFill>
            <a:prstDash val="solid"/>
          </a:ln>
        </p:spPr>
      </p:sp>
      <p:sp>
        <p:nvSpPr>
          <p:cNvPr id="14" name="Text 12"/>
          <p:cNvSpPr/>
          <p:nvPr/>
        </p:nvSpPr>
        <p:spPr>
          <a:xfrm>
            <a:off x="566928" y="3547872"/>
            <a:ext cx="1225296" cy="566928"/>
          </a:xfrm>
          <a:prstGeom prst="rect">
            <a:avLst/>
          </a:prstGeom>
          <a:noFill/>
          <a:ln/>
        </p:spPr>
        <p:txBody>
          <a:bodyPr wrap="square" lIns="0" tIns="0" rIns="0" bIns="0" rtlCol="0" anchor="ctr"/>
          <a:lstStyle/>
          <a:p>
            <a:pPr algn="ctr" indent="0" marL="0">
              <a:buNone/>
            </a:pPr>
            <a:r>
              <a:rPr lang="en-US" sz="1050" b="1" dirty="0">
                <a:solidFill>
                  <a:srgbClr val="3A4553"/>
                </a:solidFill>
                <a:latin typeface="Arial" pitchFamily="34" charset="0"/>
                <a:ea typeface="Arial" pitchFamily="34" charset="-122"/>
                <a:cs typeface="Arial" pitchFamily="34" charset="-120"/>
              </a:rPr>
              <a:t>AI</a:t>
            </a:r>
            <a:endParaRPr lang="en-US" sz="1050" dirty="0"/>
          </a:p>
        </p:txBody>
      </p:sp>
      <p:sp>
        <p:nvSpPr>
          <p:cNvPr id="15" name="Text 13"/>
          <p:cNvSpPr/>
          <p:nvPr/>
        </p:nvSpPr>
        <p:spPr>
          <a:xfrm>
            <a:off x="2048256" y="3566160"/>
            <a:ext cx="3017520" cy="292608"/>
          </a:xfrm>
          <a:prstGeom prst="rect">
            <a:avLst/>
          </a:prstGeom>
          <a:noFill/>
          <a:ln/>
        </p:spPr>
        <p:txBody>
          <a:bodyPr wrap="square" lIns="0" tIns="0" rIns="0" bIns="0" rtlCol="0" anchor="ctr"/>
          <a:lstStyle/>
          <a:p>
            <a:pPr indent="0" marL="0">
              <a:buNone/>
            </a:pPr>
            <a:r>
              <a:rPr lang="en-US" sz="1450" b="1" dirty="0">
                <a:solidFill>
                  <a:srgbClr val="0F1620"/>
                </a:solidFill>
                <a:latin typeface="Arial" pitchFamily="34" charset="0"/>
                <a:ea typeface="Arial" pitchFamily="34" charset="-122"/>
                <a:cs typeface="Arial" pitchFamily="34" charset="-120"/>
              </a:rPr>
              <a:t>Explain &amp; summarise</a:t>
            </a:r>
            <a:endParaRPr lang="en-US" sz="1450" dirty="0"/>
          </a:p>
        </p:txBody>
      </p:sp>
      <p:sp>
        <p:nvSpPr>
          <p:cNvPr id="16" name="Text 14"/>
          <p:cNvSpPr/>
          <p:nvPr/>
        </p:nvSpPr>
        <p:spPr>
          <a:xfrm>
            <a:off x="5138928" y="3566160"/>
            <a:ext cx="6766560" cy="548640"/>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Plain-language purpose and evidence chain, clearly marked as unverified.</a:t>
            </a:r>
            <a:endParaRPr lang="en-US" sz="1200" dirty="0"/>
          </a:p>
        </p:txBody>
      </p:sp>
      <p:sp>
        <p:nvSpPr>
          <p:cNvPr id="17" name="Shape 15"/>
          <p:cNvSpPr/>
          <p:nvPr/>
        </p:nvSpPr>
        <p:spPr>
          <a:xfrm>
            <a:off x="566928" y="4434840"/>
            <a:ext cx="1225296" cy="566928"/>
          </a:xfrm>
          <a:prstGeom prst="roundRect">
            <a:avLst>
              <a:gd name="adj" fmla="val 8065"/>
            </a:avLst>
          </a:prstGeom>
          <a:solidFill>
            <a:srgbClr val="F0A030"/>
          </a:solidFill>
          <a:ln w="12700">
            <a:solidFill>
              <a:srgbClr val="F0A030"/>
            </a:solidFill>
            <a:prstDash val="solid"/>
          </a:ln>
        </p:spPr>
      </p:sp>
      <p:sp>
        <p:nvSpPr>
          <p:cNvPr id="18" name="Text 16"/>
          <p:cNvSpPr/>
          <p:nvPr/>
        </p:nvSpPr>
        <p:spPr>
          <a:xfrm>
            <a:off x="566928" y="4434840"/>
            <a:ext cx="1225296" cy="566928"/>
          </a:xfrm>
          <a:prstGeom prst="rect">
            <a:avLst/>
          </a:prstGeom>
          <a:noFill/>
          <a:ln/>
        </p:spPr>
        <p:txBody>
          <a:bodyPr wrap="square" lIns="0" tIns="0" rIns="0" bIns="0" rtlCol="0" anchor="ctr"/>
          <a:lstStyle/>
          <a:p>
            <a:pPr algn="ctr" indent="0" marL="0">
              <a:buNone/>
            </a:pPr>
            <a:r>
              <a:rPr lang="en-US" sz="1050" b="1" dirty="0">
                <a:solidFill>
                  <a:srgbClr val="0F1620"/>
                </a:solidFill>
                <a:latin typeface="Arial" pitchFamily="34" charset="0"/>
                <a:ea typeface="Arial" pitchFamily="34" charset="-122"/>
                <a:cs typeface="Arial" pitchFamily="34" charset="-120"/>
              </a:rPr>
              <a:t>HUMAN</a:t>
            </a:r>
            <a:endParaRPr lang="en-US" sz="1050" dirty="0"/>
          </a:p>
        </p:txBody>
      </p:sp>
      <p:sp>
        <p:nvSpPr>
          <p:cNvPr id="19" name="Text 17"/>
          <p:cNvSpPr/>
          <p:nvPr/>
        </p:nvSpPr>
        <p:spPr>
          <a:xfrm>
            <a:off x="2048256" y="4453128"/>
            <a:ext cx="3017520" cy="292608"/>
          </a:xfrm>
          <a:prstGeom prst="rect">
            <a:avLst/>
          </a:prstGeom>
          <a:noFill/>
          <a:ln/>
        </p:spPr>
        <p:txBody>
          <a:bodyPr wrap="square" lIns="0" tIns="0" rIns="0" bIns="0" rtlCol="0" anchor="ctr"/>
          <a:lstStyle/>
          <a:p>
            <a:pPr indent="0" marL="0">
              <a:buNone/>
            </a:pPr>
            <a:r>
              <a:rPr lang="en-US" sz="1450" b="1" dirty="0">
                <a:solidFill>
                  <a:srgbClr val="0F1620"/>
                </a:solidFill>
                <a:latin typeface="Arial" pitchFamily="34" charset="0"/>
                <a:ea typeface="Arial" pitchFamily="34" charset="-122"/>
                <a:cs typeface="Arial" pitchFamily="34" charset="-120"/>
              </a:rPr>
              <a:t>Review &amp; approve</a:t>
            </a:r>
            <a:endParaRPr lang="en-US" sz="1450" dirty="0"/>
          </a:p>
        </p:txBody>
      </p:sp>
      <p:sp>
        <p:nvSpPr>
          <p:cNvPr id="20" name="Text 18"/>
          <p:cNvSpPr/>
          <p:nvPr/>
        </p:nvSpPr>
        <p:spPr>
          <a:xfrm>
            <a:off x="5138928" y="4453128"/>
            <a:ext cx="6766560" cy="548640"/>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Sees every check, including the empty ones. Approves, rejects, or defers each item.</a:t>
            </a:r>
            <a:endParaRPr lang="en-US" sz="1200" dirty="0"/>
          </a:p>
        </p:txBody>
      </p:sp>
      <p:sp>
        <p:nvSpPr>
          <p:cNvPr id="21" name="Shape 19"/>
          <p:cNvSpPr/>
          <p:nvPr/>
        </p:nvSpPr>
        <p:spPr>
          <a:xfrm>
            <a:off x="566928" y="5321808"/>
            <a:ext cx="1225296" cy="566928"/>
          </a:xfrm>
          <a:prstGeom prst="roundRect">
            <a:avLst>
              <a:gd name="adj" fmla="val 8065"/>
            </a:avLst>
          </a:prstGeom>
          <a:solidFill>
            <a:srgbClr val="FFFFFF"/>
          </a:solidFill>
          <a:ln w="17780">
            <a:solidFill>
              <a:srgbClr val="29B6D8"/>
            </a:solidFill>
            <a:prstDash val="solid"/>
          </a:ln>
        </p:spPr>
      </p:sp>
      <p:sp>
        <p:nvSpPr>
          <p:cNvPr id="22" name="Text 20"/>
          <p:cNvSpPr/>
          <p:nvPr/>
        </p:nvSpPr>
        <p:spPr>
          <a:xfrm>
            <a:off x="566928" y="5321808"/>
            <a:ext cx="1225296" cy="566928"/>
          </a:xfrm>
          <a:prstGeom prst="rect">
            <a:avLst/>
          </a:prstGeom>
          <a:noFill/>
          <a:ln/>
        </p:spPr>
        <p:txBody>
          <a:bodyPr wrap="square" lIns="0" tIns="0" rIns="0" bIns="0" rtlCol="0" anchor="ctr"/>
          <a:lstStyle/>
          <a:p>
            <a:pPr algn="ctr" indent="0" marL="0">
              <a:buNone/>
            </a:pPr>
            <a:r>
              <a:rPr lang="en-US" sz="1050" b="1" dirty="0">
                <a:solidFill>
                  <a:srgbClr val="3A4553"/>
                </a:solidFill>
                <a:latin typeface="Arial" pitchFamily="34" charset="0"/>
                <a:ea typeface="Arial" pitchFamily="34" charset="-122"/>
                <a:cs typeface="Arial" pitchFamily="34" charset="-120"/>
              </a:rPr>
              <a:t>Agent</a:t>
            </a:r>
            <a:endParaRPr lang="en-US" sz="1050" dirty="0"/>
          </a:p>
        </p:txBody>
      </p:sp>
      <p:sp>
        <p:nvSpPr>
          <p:cNvPr id="23" name="Text 21"/>
          <p:cNvSpPr/>
          <p:nvPr/>
        </p:nvSpPr>
        <p:spPr>
          <a:xfrm>
            <a:off x="2048256" y="5340096"/>
            <a:ext cx="3017520" cy="292608"/>
          </a:xfrm>
          <a:prstGeom prst="rect">
            <a:avLst/>
          </a:prstGeom>
          <a:noFill/>
          <a:ln/>
        </p:spPr>
        <p:txBody>
          <a:bodyPr wrap="square" lIns="0" tIns="0" rIns="0" bIns="0" rtlCol="0" anchor="ctr"/>
          <a:lstStyle/>
          <a:p>
            <a:pPr indent="0" marL="0">
              <a:buNone/>
            </a:pPr>
            <a:r>
              <a:rPr lang="en-US" sz="1450" b="1" dirty="0">
                <a:solidFill>
                  <a:srgbClr val="0F1620"/>
                </a:solidFill>
                <a:latin typeface="Arial" pitchFamily="34" charset="0"/>
                <a:ea typeface="Arial" pitchFamily="34" charset="-122"/>
                <a:cs typeface="Arial" pitchFamily="34" charset="-120"/>
              </a:rPr>
              <a:t>Execute &amp; raise PR</a:t>
            </a:r>
            <a:endParaRPr lang="en-US" sz="1450" dirty="0"/>
          </a:p>
        </p:txBody>
      </p:sp>
      <p:sp>
        <p:nvSpPr>
          <p:cNvPr id="24" name="Text 22"/>
          <p:cNvSpPr/>
          <p:nvPr/>
        </p:nvSpPr>
        <p:spPr>
          <a:xfrm>
            <a:off x="5138928" y="5340096"/>
            <a:ext cx="6766560" cy="548640"/>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Removes metadata, refactors callers, opens a pull request for normal code review.</a:t>
            </a:r>
            <a:endParaRPr lang="en-US" sz="1200" dirty="0"/>
          </a:p>
        </p:txBody>
      </p:sp>
      <p:sp>
        <p:nvSpPr>
          <p:cNvPr id="25" name="Text 23"/>
          <p:cNvSpPr/>
          <p:nvPr/>
        </p:nvSpPr>
        <p:spPr>
          <a:xfrm>
            <a:off x="566928" y="6272784"/>
            <a:ext cx="10332720" cy="329184"/>
          </a:xfrm>
          <a:prstGeom prst="rect">
            <a:avLst/>
          </a:prstGeom>
          <a:noFill/>
          <a:ln/>
        </p:spPr>
        <p:txBody>
          <a:bodyPr wrap="square" lIns="0" tIns="0" rIns="0" bIns="0" rtlCol="0" anchor="ctr"/>
          <a:lstStyle/>
          <a:p>
            <a:pPr indent="0" marL="0">
              <a:buNone/>
            </a:pPr>
            <a:r>
              <a:rPr lang="en-US" sz="1250" i="1" dirty="0">
                <a:solidFill>
                  <a:srgbClr val="55606E"/>
                </a:solidFill>
                <a:latin typeface="Calibri" pitchFamily="34" charset="0"/>
                <a:ea typeface="Calibri" pitchFamily="34" charset="-122"/>
                <a:cs typeface="Calibri" pitchFamily="34" charset="-120"/>
              </a:rPr>
              <a:t>Nothing is deleted without an explicit human approval. The agent executes a decision; it never makes one.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11411712" y="6455664"/>
            <a:ext cx="365760" cy="274320"/>
          </a:xfrm>
          <a:prstGeom prst="rect">
            <a:avLst/>
          </a:prstGeom>
          <a:noFill/>
          <a:ln/>
        </p:spPr>
        <p:txBody>
          <a:bodyPr wrap="square" lIns="0" tIns="0" rIns="0" bIns="0" rtlCol="0" anchor="ctr"/>
          <a:lstStyle/>
          <a:p>
            <a:pPr algn="r" indent="0" marL="0">
              <a:buNone/>
            </a:pPr>
            <a:r>
              <a:rPr lang="en-US" sz="1000" dirty="0">
                <a:solidFill>
                  <a:srgbClr val="76849A"/>
                </a:solidFill>
                <a:latin typeface="Calibri" pitchFamily="34" charset="0"/>
                <a:ea typeface="Calibri" pitchFamily="34" charset="-122"/>
                <a:cs typeface="Calibri" pitchFamily="34" charset="-120"/>
              </a:rPr>
              <a:t>17</a:t>
            </a:r>
            <a:endParaRPr lang="en-US" sz="1000" dirty="0"/>
          </a:p>
        </p:txBody>
      </p:sp>
      <p:sp>
        <p:nvSpPr>
          <p:cNvPr id="3" name="Text 1"/>
          <p:cNvSpPr/>
          <p:nvPr/>
        </p:nvSpPr>
        <p:spPr>
          <a:xfrm>
            <a:off x="566928" y="402336"/>
            <a:ext cx="11055096" cy="713232"/>
          </a:xfrm>
          <a:prstGeom prst="rect">
            <a:avLst/>
          </a:prstGeom>
          <a:noFill/>
          <a:ln/>
        </p:spPr>
        <p:txBody>
          <a:bodyPr wrap="square" lIns="0" tIns="0" rIns="0" bIns="0" rtlCol="0" anchor="ctr"/>
          <a:lstStyle/>
          <a:p>
            <a:pPr indent="0" marL="0">
              <a:buNone/>
            </a:pPr>
            <a:r>
              <a:rPr lang="en-US" sz="3400" b="1" dirty="0">
                <a:solidFill>
                  <a:srgbClr val="F2F5F8"/>
                </a:solidFill>
                <a:latin typeface="Arial" pitchFamily="34" charset="0"/>
                <a:ea typeface="Arial" pitchFamily="34" charset="-122"/>
                <a:cs typeface="Arial" pitchFamily="34" charset="-120"/>
              </a:rPr>
              <a:t>From finding to merged change</a:t>
            </a:r>
            <a:endParaRPr lang="en-US" sz="3400" dirty="0"/>
          </a:p>
        </p:txBody>
      </p:sp>
      <p:sp>
        <p:nvSpPr>
          <p:cNvPr id="4" name="Text 2"/>
          <p:cNvSpPr/>
          <p:nvPr/>
        </p:nvSpPr>
        <p:spPr>
          <a:xfrm>
            <a:off x="566928" y="1115568"/>
            <a:ext cx="11055096" cy="402336"/>
          </a:xfrm>
          <a:prstGeom prst="rect">
            <a:avLst/>
          </a:prstGeom>
          <a:noFill/>
          <a:ln/>
        </p:spPr>
        <p:txBody>
          <a:bodyPr wrap="square" lIns="0" tIns="0" rIns="0" bIns="0" rtlCol="0" anchor="ctr"/>
          <a:lstStyle/>
          <a:p>
            <a:pPr indent="0" marL="0">
              <a:buNone/>
            </a:pPr>
            <a:r>
              <a:rPr lang="en-US" sz="1450" dirty="0">
                <a:solidFill>
                  <a:srgbClr val="A8B4C4"/>
                </a:solidFill>
                <a:latin typeface="Calibri" pitchFamily="34" charset="0"/>
                <a:ea typeface="Calibri" pitchFamily="34" charset="-122"/>
                <a:cs typeface="Calibri" pitchFamily="34" charset="-120"/>
              </a:rPr>
              <a:t>The step most tools stop short of — and where the time is actually saved.</a:t>
            </a:r>
            <a:endParaRPr lang="en-US" sz="1450" dirty="0"/>
          </a:p>
        </p:txBody>
      </p:sp>
      <p:sp>
        <p:nvSpPr>
          <p:cNvPr id="5" name="Shape 3"/>
          <p:cNvSpPr/>
          <p:nvPr/>
        </p:nvSpPr>
        <p:spPr>
          <a:xfrm>
            <a:off x="566928" y="1773936"/>
            <a:ext cx="5349240" cy="1280160"/>
          </a:xfrm>
          <a:prstGeom prst="roundRect">
            <a:avLst>
              <a:gd name="adj" fmla="val 4286"/>
            </a:avLst>
          </a:prstGeom>
          <a:solidFill>
            <a:srgbClr val="1A2430"/>
          </a:solidFill>
          <a:ln w="12700">
            <a:solidFill>
              <a:srgbClr val="32435A"/>
            </a:solidFill>
            <a:prstDash val="solid"/>
          </a:ln>
        </p:spPr>
      </p:sp>
      <p:sp>
        <p:nvSpPr>
          <p:cNvPr id="6" name="Shape 4"/>
          <p:cNvSpPr/>
          <p:nvPr/>
        </p:nvSpPr>
        <p:spPr>
          <a:xfrm>
            <a:off x="822960" y="1993392"/>
            <a:ext cx="365760" cy="365760"/>
          </a:xfrm>
          <a:prstGeom prst="ellipse">
            <a:avLst/>
          </a:prstGeom>
          <a:solidFill>
            <a:srgbClr val="29B6D8"/>
          </a:solidFill>
          <a:ln/>
        </p:spPr>
      </p:sp>
      <p:sp>
        <p:nvSpPr>
          <p:cNvPr id="7" name="Text 5"/>
          <p:cNvSpPr/>
          <p:nvPr/>
        </p:nvSpPr>
        <p:spPr>
          <a:xfrm>
            <a:off x="822960" y="1993392"/>
            <a:ext cx="365760" cy="365760"/>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1</a:t>
            </a:r>
            <a:endParaRPr lang="en-US" sz="1250" dirty="0"/>
          </a:p>
        </p:txBody>
      </p:sp>
      <p:sp>
        <p:nvSpPr>
          <p:cNvPr id="8" name="Text 6"/>
          <p:cNvSpPr/>
          <p:nvPr/>
        </p:nvSpPr>
        <p:spPr>
          <a:xfrm>
            <a:off x="1316736" y="1956816"/>
            <a:ext cx="4297680" cy="292608"/>
          </a:xfrm>
          <a:prstGeom prst="rect">
            <a:avLst/>
          </a:prstGeom>
          <a:noFill/>
          <a:ln/>
        </p:spPr>
        <p:txBody>
          <a:bodyPr wrap="square" lIns="0" tIns="0" rIns="0" bIns="0" rtlCol="0" anchor="ctr"/>
          <a:lstStyle/>
          <a:p>
            <a:pPr indent="0" marL="0">
              <a:buNone/>
            </a:pPr>
            <a:r>
              <a:rPr lang="en-US" sz="1450" b="1" dirty="0">
                <a:solidFill>
                  <a:srgbClr val="F2F5F8"/>
                </a:solidFill>
                <a:latin typeface="Arial" pitchFamily="34" charset="0"/>
                <a:ea typeface="Arial" pitchFamily="34" charset="-122"/>
                <a:cs typeface="Arial" pitchFamily="34" charset="-120"/>
              </a:rPr>
              <a:t>Snapshot</a:t>
            </a:r>
            <a:endParaRPr lang="en-US" sz="1450" dirty="0"/>
          </a:p>
        </p:txBody>
      </p:sp>
      <p:sp>
        <p:nvSpPr>
          <p:cNvPr id="9" name="Text 7"/>
          <p:cNvSpPr/>
          <p:nvPr/>
        </p:nvSpPr>
        <p:spPr>
          <a:xfrm>
            <a:off x="841248" y="2359152"/>
            <a:ext cx="4846320" cy="603504"/>
          </a:xfrm>
          <a:prstGeom prst="rect">
            <a:avLst/>
          </a:prstGeom>
          <a:noFill/>
          <a:ln/>
        </p:spPr>
        <p:txBody>
          <a:bodyPr wrap="square" lIns="0" tIns="0" rIns="0" bIns="0" rtlCol="0" anchor="ctr"/>
          <a:lstStyle/>
          <a:p>
            <a:pPr indent="0" marL="0">
              <a:lnSpc>
                <a:spcPts val="1500"/>
              </a:lnSpc>
              <a:buNone/>
            </a:pPr>
            <a:r>
              <a:rPr lang="en-US" sz="1150" dirty="0">
                <a:solidFill>
                  <a:srgbClr val="A8B4C4"/>
                </a:solidFill>
                <a:latin typeface="Calibri" pitchFamily="34" charset="0"/>
                <a:ea typeface="Calibri" pitchFamily="34" charset="-122"/>
                <a:cs typeface="Calibri" pitchFamily="34" charset="-120"/>
              </a:rPr>
              <a:t>Retrieve metadata and export affected data to CSV. Committed to git. The rollback artefact.</a:t>
            </a:r>
            <a:endParaRPr lang="en-US" sz="1150" dirty="0"/>
          </a:p>
        </p:txBody>
      </p:sp>
      <p:sp>
        <p:nvSpPr>
          <p:cNvPr id="10" name="Shape 8"/>
          <p:cNvSpPr/>
          <p:nvPr/>
        </p:nvSpPr>
        <p:spPr>
          <a:xfrm>
            <a:off x="6272784" y="1773936"/>
            <a:ext cx="5349240" cy="1280160"/>
          </a:xfrm>
          <a:prstGeom prst="roundRect">
            <a:avLst>
              <a:gd name="adj" fmla="val 4286"/>
            </a:avLst>
          </a:prstGeom>
          <a:solidFill>
            <a:srgbClr val="1A2430"/>
          </a:solidFill>
          <a:ln w="12700">
            <a:solidFill>
              <a:srgbClr val="32435A"/>
            </a:solidFill>
            <a:prstDash val="solid"/>
          </a:ln>
        </p:spPr>
      </p:sp>
      <p:sp>
        <p:nvSpPr>
          <p:cNvPr id="11" name="Shape 9"/>
          <p:cNvSpPr/>
          <p:nvPr/>
        </p:nvSpPr>
        <p:spPr>
          <a:xfrm>
            <a:off x="6528816" y="1993392"/>
            <a:ext cx="365760" cy="365760"/>
          </a:xfrm>
          <a:prstGeom prst="ellipse">
            <a:avLst/>
          </a:prstGeom>
          <a:solidFill>
            <a:srgbClr val="29B6D8"/>
          </a:solidFill>
          <a:ln/>
        </p:spPr>
      </p:sp>
      <p:sp>
        <p:nvSpPr>
          <p:cNvPr id="12" name="Text 10"/>
          <p:cNvSpPr/>
          <p:nvPr/>
        </p:nvSpPr>
        <p:spPr>
          <a:xfrm>
            <a:off x="6528816" y="1993392"/>
            <a:ext cx="365760" cy="365760"/>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2</a:t>
            </a:r>
            <a:endParaRPr lang="en-US" sz="1250" dirty="0"/>
          </a:p>
        </p:txBody>
      </p:sp>
      <p:sp>
        <p:nvSpPr>
          <p:cNvPr id="13" name="Text 11"/>
          <p:cNvSpPr/>
          <p:nvPr/>
        </p:nvSpPr>
        <p:spPr>
          <a:xfrm>
            <a:off x="7022592" y="1956816"/>
            <a:ext cx="4297680" cy="292608"/>
          </a:xfrm>
          <a:prstGeom prst="rect">
            <a:avLst/>
          </a:prstGeom>
          <a:noFill/>
          <a:ln/>
        </p:spPr>
        <p:txBody>
          <a:bodyPr wrap="square" lIns="0" tIns="0" rIns="0" bIns="0" rtlCol="0" anchor="ctr"/>
          <a:lstStyle/>
          <a:p>
            <a:pPr indent="0" marL="0">
              <a:buNone/>
            </a:pPr>
            <a:r>
              <a:rPr lang="en-US" sz="1450" b="1" dirty="0">
                <a:solidFill>
                  <a:srgbClr val="F2F5F8"/>
                </a:solidFill>
                <a:latin typeface="Arial" pitchFamily="34" charset="0"/>
                <a:ea typeface="Arial" pitchFamily="34" charset="-122"/>
                <a:cs typeface="Arial" pitchFamily="34" charset="-120"/>
              </a:rPr>
              <a:t>Refactor callers</a:t>
            </a:r>
            <a:endParaRPr lang="en-US" sz="1450" dirty="0"/>
          </a:p>
        </p:txBody>
      </p:sp>
      <p:sp>
        <p:nvSpPr>
          <p:cNvPr id="14" name="Text 12"/>
          <p:cNvSpPr/>
          <p:nvPr/>
        </p:nvSpPr>
        <p:spPr>
          <a:xfrm>
            <a:off x="6547104" y="2359152"/>
            <a:ext cx="4846320" cy="603504"/>
          </a:xfrm>
          <a:prstGeom prst="rect">
            <a:avLst/>
          </a:prstGeom>
          <a:noFill/>
          <a:ln/>
        </p:spPr>
        <p:txBody>
          <a:bodyPr wrap="square" lIns="0" tIns="0" rIns="0" bIns="0" rtlCol="0" anchor="ctr"/>
          <a:lstStyle/>
          <a:p>
            <a:pPr indent="0" marL="0">
              <a:lnSpc>
                <a:spcPts val="1500"/>
              </a:lnSpc>
              <a:buNone/>
            </a:pPr>
            <a:r>
              <a:rPr lang="en-US" sz="1150" dirty="0">
                <a:solidFill>
                  <a:srgbClr val="A8B4C4"/>
                </a:solidFill>
                <a:latin typeface="Calibri" pitchFamily="34" charset="0"/>
                <a:ea typeface="Calibri" pitchFamily="34" charset="-122"/>
                <a:cs typeface="Calibri" pitchFamily="34" charset="-120"/>
              </a:rPr>
              <a:t>Remove field references from Apex, flows, layouts and reports. The reason a delete usually fails.</a:t>
            </a:r>
            <a:endParaRPr lang="en-US" sz="1150" dirty="0"/>
          </a:p>
        </p:txBody>
      </p:sp>
      <p:sp>
        <p:nvSpPr>
          <p:cNvPr id="15" name="Shape 13"/>
          <p:cNvSpPr/>
          <p:nvPr/>
        </p:nvSpPr>
        <p:spPr>
          <a:xfrm>
            <a:off x="566928" y="3236976"/>
            <a:ext cx="5349240" cy="1280160"/>
          </a:xfrm>
          <a:prstGeom prst="roundRect">
            <a:avLst>
              <a:gd name="adj" fmla="val 4286"/>
            </a:avLst>
          </a:prstGeom>
          <a:solidFill>
            <a:srgbClr val="1A2430"/>
          </a:solidFill>
          <a:ln w="12700">
            <a:solidFill>
              <a:srgbClr val="32435A"/>
            </a:solidFill>
            <a:prstDash val="solid"/>
          </a:ln>
        </p:spPr>
      </p:sp>
      <p:sp>
        <p:nvSpPr>
          <p:cNvPr id="16" name="Shape 14"/>
          <p:cNvSpPr/>
          <p:nvPr/>
        </p:nvSpPr>
        <p:spPr>
          <a:xfrm>
            <a:off x="822960" y="3456432"/>
            <a:ext cx="365760" cy="365760"/>
          </a:xfrm>
          <a:prstGeom prst="ellipse">
            <a:avLst/>
          </a:prstGeom>
          <a:solidFill>
            <a:srgbClr val="29B6D8"/>
          </a:solidFill>
          <a:ln/>
        </p:spPr>
      </p:sp>
      <p:sp>
        <p:nvSpPr>
          <p:cNvPr id="17" name="Text 15"/>
          <p:cNvSpPr/>
          <p:nvPr/>
        </p:nvSpPr>
        <p:spPr>
          <a:xfrm>
            <a:off x="822960" y="3456432"/>
            <a:ext cx="365760" cy="365760"/>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3</a:t>
            </a:r>
            <a:endParaRPr lang="en-US" sz="1250" dirty="0"/>
          </a:p>
        </p:txBody>
      </p:sp>
      <p:sp>
        <p:nvSpPr>
          <p:cNvPr id="18" name="Text 16"/>
          <p:cNvSpPr/>
          <p:nvPr/>
        </p:nvSpPr>
        <p:spPr>
          <a:xfrm>
            <a:off x="1316736" y="3419856"/>
            <a:ext cx="4297680" cy="292608"/>
          </a:xfrm>
          <a:prstGeom prst="rect">
            <a:avLst/>
          </a:prstGeom>
          <a:noFill/>
          <a:ln/>
        </p:spPr>
        <p:txBody>
          <a:bodyPr wrap="square" lIns="0" tIns="0" rIns="0" bIns="0" rtlCol="0" anchor="ctr"/>
          <a:lstStyle/>
          <a:p>
            <a:pPr indent="0" marL="0">
              <a:buNone/>
            </a:pPr>
            <a:r>
              <a:rPr lang="en-US" sz="1450" b="1" dirty="0">
                <a:solidFill>
                  <a:srgbClr val="F2F5F8"/>
                </a:solidFill>
                <a:latin typeface="Arial" pitchFamily="34" charset="0"/>
                <a:ea typeface="Arial" pitchFamily="34" charset="-122"/>
                <a:cs typeface="Arial" pitchFamily="34" charset="-120"/>
              </a:rPr>
              <a:t>Generate destructive change</a:t>
            </a:r>
            <a:endParaRPr lang="en-US" sz="1450" dirty="0"/>
          </a:p>
        </p:txBody>
      </p:sp>
      <p:sp>
        <p:nvSpPr>
          <p:cNvPr id="19" name="Text 17"/>
          <p:cNvSpPr/>
          <p:nvPr/>
        </p:nvSpPr>
        <p:spPr>
          <a:xfrm>
            <a:off x="841248" y="3822192"/>
            <a:ext cx="4846320" cy="603504"/>
          </a:xfrm>
          <a:prstGeom prst="rect">
            <a:avLst/>
          </a:prstGeom>
          <a:noFill/>
          <a:ln/>
        </p:spPr>
        <p:txBody>
          <a:bodyPr wrap="square" lIns="0" tIns="0" rIns="0" bIns="0" rtlCol="0" anchor="ctr"/>
          <a:lstStyle/>
          <a:p>
            <a:pPr indent="0" marL="0">
              <a:lnSpc>
                <a:spcPts val="1500"/>
              </a:lnSpc>
              <a:buNone/>
            </a:pPr>
            <a:r>
              <a:rPr lang="en-US" sz="1150" dirty="0">
                <a:solidFill>
                  <a:srgbClr val="A8B4C4"/>
                </a:solidFill>
                <a:latin typeface="Calibri" pitchFamily="34" charset="0"/>
                <a:ea typeface="Calibri" pitchFamily="34" charset="-122"/>
                <a:cs typeface="Calibri" pitchFamily="34" charset="-120"/>
              </a:rPr>
              <a:t>Build package.xml and destructiveChanges.xml for the approved set only.</a:t>
            </a:r>
            <a:endParaRPr lang="en-US" sz="1150" dirty="0"/>
          </a:p>
        </p:txBody>
      </p:sp>
      <p:sp>
        <p:nvSpPr>
          <p:cNvPr id="20" name="Shape 18"/>
          <p:cNvSpPr/>
          <p:nvPr/>
        </p:nvSpPr>
        <p:spPr>
          <a:xfrm>
            <a:off x="6272784" y="3236976"/>
            <a:ext cx="5349240" cy="1280160"/>
          </a:xfrm>
          <a:prstGeom prst="roundRect">
            <a:avLst>
              <a:gd name="adj" fmla="val 4286"/>
            </a:avLst>
          </a:prstGeom>
          <a:solidFill>
            <a:srgbClr val="1A2430"/>
          </a:solidFill>
          <a:ln w="12700">
            <a:solidFill>
              <a:srgbClr val="32435A"/>
            </a:solidFill>
            <a:prstDash val="solid"/>
          </a:ln>
        </p:spPr>
      </p:sp>
      <p:sp>
        <p:nvSpPr>
          <p:cNvPr id="21" name="Shape 19"/>
          <p:cNvSpPr/>
          <p:nvPr/>
        </p:nvSpPr>
        <p:spPr>
          <a:xfrm>
            <a:off x="6528816" y="3456432"/>
            <a:ext cx="365760" cy="365760"/>
          </a:xfrm>
          <a:prstGeom prst="ellipse">
            <a:avLst/>
          </a:prstGeom>
          <a:solidFill>
            <a:srgbClr val="29B6D8"/>
          </a:solidFill>
          <a:ln/>
        </p:spPr>
      </p:sp>
      <p:sp>
        <p:nvSpPr>
          <p:cNvPr id="22" name="Text 20"/>
          <p:cNvSpPr/>
          <p:nvPr/>
        </p:nvSpPr>
        <p:spPr>
          <a:xfrm>
            <a:off x="6528816" y="3456432"/>
            <a:ext cx="365760" cy="365760"/>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4</a:t>
            </a:r>
            <a:endParaRPr lang="en-US" sz="1250" dirty="0"/>
          </a:p>
        </p:txBody>
      </p:sp>
      <p:sp>
        <p:nvSpPr>
          <p:cNvPr id="23" name="Text 21"/>
          <p:cNvSpPr/>
          <p:nvPr/>
        </p:nvSpPr>
        <p:spPr>
          <a:xfrm>
            <a:off x="7022592" y="3419856"/>
            <a:ext cx="4297680" cy="292608"/>
          </a:xfrm>
          <a:prstGeom prst="rect">
            <a:avLst/>
          </a:prstGeom>
          <a:noFill/>
          <a:ln/>
        </p:spPr>
        <p:txBody>
          <a:bodyPr wrap="square" lIns="0" tIns="0" rIns="0" bIns="0" rtlCol="0" anchor="ctr"/>
          <a:lstStyle/>
          <a:p>
            <a:pPr indent="0" marL="0">
              <a:buNone/>
            </a:pPr>
            <a:r>
              <a:rPr lang="en-US" sz="1450" b="1" dirty="0">
                <a:solidFill>
                  <a:srgbClr val="F2F5F8"/>
                </a:solidFill>
                <a:latin typeface="Arial" pitchFamily="34" charset="0"/>
                <a:ea typeface="Arial" pitchFamily="34" charset="-122"/>
                <a:cs typeface="Arial" pitchFamily="34" charset="-120"/>
              </a:rPr>
              <a:t>Validate again</a:t>
            </a:r>
            <a:endParaRPr lang="en-US" sz="1450" dirty="0"/>
          </a:p>
        </p:txBody>
      </p:sp>
      <p:sp>
        <p:nvSpPr>
          <p:cNvPr id="24" name="Text 22"/>
          <p:cNvSpPr/>
          <p:nvPr/>
        </p:nvSpPr>
        <p:spPr>
          <a:xfrm>
            <a:off x="6547104" y="3822192"/>
            <a:ext cx="4846320" cy="603504"/>
          </a:xfrm>
          <a:prstGeom prst="rect">
            <a:avLst/>
          </a:prstGeom>
          <a:noFill/>
          <a:ln/>
        </p:spPr>
        <p:txBody>
          <a:bodyPr wrap="square" lIns="0" tIns="0" rIns="0" bIns="0" rtlCol="0" anchor="ctr"/>
          <a:lstStyle/>
          <a:p>
            <a:pPr indent="0" marL="0">
              <a:lnSpc>
                <a:spcPts val="1500"/>
              </a:lnSpc>
              <a:buNone/>
            </a:pPr>
            <a:r>
              <a:rPr lang="en-US" sz="1150" dirty="0">
                <a:solidFill>
                  <a:srgbClr val="A8B4C4"/>
                </a:solidFill>
                <a:latin typeface="Calibri" pitchFamily="34" charset="0"/>
                <a:ea typeface="Calibri" pitchFamily="34" charset="-122"/>
                <a:cs typeface="Calibri" pitchFamily="34" charset="-120"/>
              </a:rPr>
              <a:t>Re-run the check against the current org — it may have changed since analysis.</a:t>
            </a:r>
            <a:endParaRPr lang="en-US" sz="1150" dirty="0"/>
          </a:p>
        </p:txBody>
      </p:sp>
      <p:sp>
        <p:nvSpPr>
          <p:cNvPr id="25" name="Shape 23"/>
          <p:cNvSpPr/>
          <p:nvPr/>
        </p:nvSpPr>
        <p:spPr>
          <a:xfrm>
            <a:off x="566928" y="4700016"/>
            <a:ext cx="5349240" cy="1280160"/>
          </a:xfrm>
          <a:prstGeom prst="roundRect">
            <a:avLst>
              <a:gd name="adj" fmla="val 4286"/>
            </a:avLst>
          </a:prstGeom>
          <a:solidFill>
            <a:srgbClr val="1A2430"/>
          </a:solidFill>
          <a:ln w="12700">
            <a:solidFill>
              <a:srgbClr val="32435A"/>
            </a:solidFill>
            <a:prstDash val="solid"/>
          </a:ln>
        </p:spPr>
      </p:sp>
      <p:sp>
        <p:nvSpPr>
          <p:cNvPr id="26" name="Shape 24"/>
          <p:cNvSpPr/>
          <p:nvPr/>
        </p:nvSpPr>
        <p:spPr>
          <a:xfrm>
            <a:off x="822960" y="4919472"/>
            <a:ext cx="365760" cy="365760"/>
          </a:xfrm>
          <a:prstGeom prst="ellipse">
            <a:avLst/>
          </a:prstGeom>
          <a:solidFill>
            <a:srgbClr val="29B6D8"/>
          </a:solidFill>
          <a:ln/>
        </p:spPr>
      </p:sp>
      <p:sp>
        <p:nvSpPr>
          <p:cNvPr id="27" name="Text 25"/>
          <p:cNvSpPr/>
          <p:nvPr/>
        </p:nvSpPr>
        <p:spPr>
          <a:xfrm>
            <a:off x="822960" y="4919472"/>
            <a:ext cx="365760" cy="365760"/>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5</a:t>
            </a:r>
            <a:endParaRPr lang="en-US" sz="1250" dirty="0"/>
          </a:p>
        </p:txBody>
      </p:sp>
      <p:sp>
        <p:nvSpPr>
          <p:cNvPr id="28" name="Text 26"/>
          <p:cNvSpPr/>
          <p:nvPr/>
        </p:nvSpPr>
        <p:spPr>
          <a:xfrm>
            <a:off x="1316736" y="4882896"/>
            <a:ext cx="4297680" cy="292608"/>
          </a:xfrm>
          <a:prstGeom prst="rect">
            <a:avLst/>
          </a:prstGeom>
          <a:noFill/>
          <a:ln/>
        </p:spPr>
        <p:txBody>
          <a:bodyPr wrap="square" lIns="0" tIns="0" rIns="0" bIns="0" rtlCol="0" anchor="ctr"/>
          <a:lstStyle/>
          <a:p>
            <a:pPr indent="0" marL="0">
              <a:buNone/>
            </a:pPr>
            <a:r>
              <a:rPr lang="en-US" sz="1450" b="1" dirty="0">
                <a:solidFill>
                  <a:srgbClr val="F2F5F8"/>
                </a:solidFill>
                <a:latin typeface="Arial" pitchFamily="34" charset="0"/>
                <a:ea typeface="Arial" pitchFamily="34" charset="-122"/>
                <a:cs typeface="Arial" pitchFamily="34" charset="-120"/>
              </a:rPr>
              <a:t>Open a pull request</a:t>
            </a:r>
            <a:endParaRPr lang="en-US" sz="1450" dirty="0"/>
          </a:p>
        </p:txBody>
      </p:sp>
      <p:sp>
        <p:nvSpPr>
          <p:cNvPr id="29" name="Text 27"/>
          <p:cNvSpPr/>
          <p:nvPr/>
        </p:nvSpPr>
        <p:spPr>
          <a:xfrm>
            <a:off x="841248" y="5285232"/>
            <a:ext cx="4846320" cy="603504"/>
          </a:xfrm>
          <a:prstGeom prst="rect">
            <a:avLst/>
          </a:prstGeom>
          <a:noFill/>
          <a:ln/>
        </p:spPr>
        <p:txBody>
          <a:bodyPr wrap="square" lIns="0" tIns="0" rIns="0" bIns="0" rtlCol="0" anchor="ctr"/>
          <a:lstStyle/>
          <a:p>
            <a:pPr indent="0" marL="0">
              <a:lnSpc>
                <a:spcPts val="1500"/>
              </a:lnSpc>
              <a:buNone/>
            </a:pPr>
            <a:r>
              <a:rPr lang="en-US" sz="1150" dirty="0">
                <a:solidFill>
                  <a:srgbClr val="A8B4C4"/>
                </a:solidFill>
                <a:latin typeface="Calibri" pitchFamily="34" charset="0"/>
                <a:ea typeface="Calibri" pitchFamily="34" charset="-122"/>
                <a:cs typeface="Calibri" pitchFamily="34" charset="-120"/>
              </a:rPr>
              <a:t>Branch, commit, PR with the evidence trail and rollback plan in the description.</a:t>
            </a:r>
            <a:endParaRPr lang="en-US" sz="1150" dirty="0"/>
          </a:p>
        </p:txBody>
      </p:sp>
      <p:sp>
        <p:nvSpPr>
          <p:cNvPr id="30" name="Shape 28"/>
          <p:cNvSpPr/>
          <p:nvPr/>
        </p:nvSpPr>
        <p:spPr>
          <a:xfrm>
            <a:off x="6272784" y="4700016"/>
            <a:ext cx="5349240" cy="1280160"/>
          </a:xfrm>
          <a:prstGeom prst="roundRect">
            <a:avLst>
              <a:gd name="adj" fmla="val 4286"/>
            </a:avLst>
          </a:prstGeom>
          <a:solidFill>
            <a:srgbClr val="1A2430"/>
          </a:solidFill>
          <a:ln w="12700">
            <a:solidFill>
              <a:srgbClr val="32435A"/>
            </a:solidFill>
            <a:prstDash val="solid"/>
          </a:ln>
        </p:spPr>
      </p:sp>
      <p:sp>
        <p:nvSpPr>
          <p:cNvPr id="31" name="Shape 29"/>
          <p:cNvSpPr/>
          <p:nvPr/>
        </p:nvSpPr>
        <p:spPr>
          <a:xfrm>
            <a:off x="6528816" y="4919472"/>
            <a:ext cx="365760" cy="365760"/>
          </a:xfrm>
          <a:prstGeom prst="ellipse">
            <a:avLst/>
          </a:prstGeom>
          <a:solidFill>
            <a:srgbClr val="29B6D8"/>
          </a:solidFill>
          <a:ln/>
        </p:spPr>
      </p:sp>
      <p:sp>
        <p:nvSpPr>
          <p:cNvPr id="32" name="Text 30"/>
          <p:cNvSpPr/>
          <p:nvPr/>
        </p:nvSpPr>
        <p:spPr>
          <a:xfrm>
            <a:off x="6528816" y="4919472"/>
            <a:ext cx="365760" cy="365760"/>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6</a:t>
            </a:r>
            <a:endParaRPr lang="en-US" sz="1250" dirty="0"/>
          </a:p>
        </p:txBody>
      </p:sp>
      <p:sp>
        <p:nvSpPr>
          <p:cNvPr id="33" name="Text 31"/>
          <p:cNvSpPr/>
          <p:nvPr/>
        </p:nvSpPr>
        <p:spPr>
          <a:xfrm>
            <a:off x="7022592" y="4882896"/>
            <a:ext cx="4297680" cy="292608"/>
          </a:xfrm>
          <a:prstGeom prst="rect">
            <a:avLst/>
          </a:prstGeom>
          <a:noFill/>
          <a:ln/>
        </p:spPr>
        <p:txBody>
          <a:bodyPr wrap="square" lIns="0" tIns="0" rIns="0" bIns="0" rtlCol="0" anchor="ctr"/>
          <a:lstStyle/>
          <a:p>
            <a:pPr indent="0" marL="0">
              <a:buNone/>
            </a:pPr>
            <a:r>
              <a:rPr lang="en-US" sz="1450" b="1" dirty="0">
                <a:solidFill>
                  <a:srgbClr val="F2F5F8"/>
                </a:solidFill>
                <a:latin typeface="Arial" pitchFamily="34" charset="0"/>
                <a:ea typeface="Arial" pitchFamily="34" charset="-122"/>
                <a:cs typeface="Arial" pitchFamily="34" charset="-120"/>
              </a:rPr>
              <a:t>Normal code review</a:t>
            </a:r>
            <a:endParaRPr lang="en-US" sz="1450" dirty="0"/>
          </a:p>
        </p:txBody>
      </p:sp>
      <p:sp>
        <p:nvSpPr>
          <p:cNvPr id="34" name="Text 32"/>
          <p:cNvSpPr/>
          <p:nvPr/>
        </p:nvSpPr>
        <p:spPr>
          <a:xfrm>
            <a:off x="6547104" y="5285232"/>
            <a:ext cx="4846320" cy="603504"/>
          </a:xfrm>
          <a:prstGeom prst="rect">
            <a:avLst/>
          </a:prstGeom>
          <a:noFill/>
          <a:ln/>
        </p:spPr>
        <p:txBody>
          <a:bodyPr wrap="square" lIns="0" tIns="0" rIns="0" bIns="0" rtlCol="0" anchor="ctr"/>
          <a:lstStyle/>
          <a:p>
            <a:pPr indent="0" marL="0">
              <a:lnSpc>
                <a:spcPts val="1500"/>
              </a:lnSpc>
              <a:buNone/>
            </a:pPr>
            <a:r>
              <a:rPr lang="en-US" sz="1150" dirty="0">
                <a:solidFill>
                  <a:srgbClr val="A8B4C4"/>
                </a:solidFill>
                <a:latin typeface="Calibri" pitchFamily="34" charset="0"/>
                <a:ea typeface="Calibri" pitchFamily="34" charset="-122"/>
                <a:cs typeface="Calibri" pitchFamily="34" charset="-120"/>
              </a:rPr>
              <a:t>The team reviews a diff, not a spreadsheet. Merge triggers the existing deploy pipeline.</a:t>
            </a:r>
            <a:endParaRPr lang="en-US" sz="1150" dirty="0"/>
          </a:p>
        </p:txBody>
      </p:sp>
      <p:sp>
        <p:nvSpPr>
          <p:cNvPr id="35" name="Text 33"/>
          <p:cNvSpPr/>
          <p:nvPr/>
        </p:nvSpPr>
        <p:spPr>
          <a:xfrm>
            <a:off x="566928" y="6181344"/>
            <a:ext cx="10332720" cy="365760"/>
          </a:xfrm>
          <a:prstGeom prst="rect">
            <a:avLst/>
          </a:prstGeom>
          <a:noFill/>
          <a:ln/>
        </p:spPr>
        <p:txBody>
          <a:bodyPr wrap="square" lIns="0" tIns="0" rIns="0" bIns="0" rtlCol="0" anchor="ctr"/>
          <a:lstStyle/>
          <a:p>
            <a:pPr indent="0" marL="0">
              <a:buNone/>
            </a:pPr>
            <a:r>
              <a:rPr lang="en-US" sz="1250" i="1" dirty="0">
                <a:solidFill>
                  <a:srgbClr val="76849A"/>
                </a:solidFill>
                <a:latin typeface="Calibri" pitchFamily="34" charset="0"/>
                <a:ea typeface="Calibri" pitchFamily="34" charset="-122"/>
                <a:cs typeface="Calibri" pitchFamily="34" charset="-120"/>
              </a:rPr>
              <a:t>The agent works only on components a human approved, and its output is a pull request — reviewable, revertible, and subject to your existing release process.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11712" y="6455664"/>
            <a:ext cx="365760" cy="274320"/>
          </a:xfrm>
          <a:prstGeom prst="rect">
            <a:avLst/>
          </a:prstGeom>
          <a:noFill/>
          <a:ln/>
        </p:spPr>
        <p:txBody>
          <a:bodyPr wrap="square" lIns="0" tIns="0" rIns="0" bIns="0" rtlCol="0" anchor="ctr"/>
          <a:lstStyle/>
          <a:p>
            <a:pPr algn="r" indent="0" marL="0">
              <a:buNone/>
            </a:pPr>
            <a:r>
              <a:rPr lang="en-US" sz="1000" dirty="0">
                <a:solidFill>
                  <a:srgbClr val="A0A8B4"/>
                </a:solidFill>
                <a:latin typeface="Calibri" pitchFamily="34" charset="0"/>
                <a:ea typeface="Calibri" pitchFamily="34" charset="-122"/>
                <a:cs typeface="Calibri" pitchFamily="34" charset="-120"/>
              </a:rPr>
              <a:t>18</a:t>
            </a:r>
            <a:endParaRPr lang="en-US" sz="1000" dirty="0"/>
          </a:p>
        </p:txBody>
      </p:sp>
      <p:sp>
        <p:nvSpPr>
          <p:cNvPr id="3" name="Text 1"/>
          <p:cNvSpPr/>
          <p:nvPr/>
        </p:nvSpPr>
        <p:spPr>
          <a:xfrm>
            <a:off x="566928" y="402336"/>
            <a:ext cx="11055096" cy="713232"/>
          </a:xfrm>
          <a:prstGeom prst="rect">
            <a:avLst/>
          </a:prstGeom>
          <a:noFill/>
          <a:ln/>
        </p:spPr>
        <p:txBody>
          <a:bodyPr wrap="square" lIns="0" tIns="0" rIns="0" bIns="0" rtlCol="0" anchor="ctr"/>
          <a:lstStyle/>
          <a:p>
            <a:pPr indent="0" marL="0">
              <a:buNone/>
            </a:pPr>
            <a:r>
              <a:rPr lang="en-US" sz="3400" b="1" dirty="0">
                <a:solidFill>
                  <a:srgbClr val="0F1620"/>
                </a:solidFill>
                <a:latin typeface="Arial" pitchFamily="34" charset="0"/>
                <a:ea typeface="Arial" pitchFamily="34" charset="-122"/>
                <a:cs typeface="Arial" pitchFamily="34" charset="-120"/>
              </a:rPr>
              <a:t>Risks, and what we do about each</a:t>
            </a:r>
            <a:endParaRPr lang="en-US" sz="3400" dirty="0"/>
          </a:p>
        </p:txBody>
      </p:sp>
      <p:sp>
        <p:nvSpPr>
          <p:cNvPr id="4" name="Text 2"/>
          <p:cNvSpPr/>
          <p:nvPr/>
        </p:nvSpPr>
        <p:spPr>
          <a:xfrm>
            <a:off x="566928" y="1115568"/>
            <a:ext cx="11055096" cy="402336"/>
          </a:xfrm>
          <a:prstGeom prst="rect">
            <a:avLst/>
          </a:prstGeom>
          <a:noFill/>
          <a:ln/>
        </p:spPr>
        <p:txBody>
          <a:bodyPr wrap="square" lIns="0" tIns="0" rIns="0" bIns="0" rtlCol="0" anchor="ctr"/>
          <a:lstStyle/>
          <a:p>
            <a:pPr indent="0" marL="0">
              <a:buNone/>
            </a:pPr>
            <a:r>
              <a:rPr lang="en-US" sz="1450" dirty="0">
                <a:solidFill>
                  <a:srgbClr val="55606E"/>
                </a:solidFill>
                <a:latin typeface="Calibri" pitchFamily="34" charset="0"/>
                <a:ea typeface="Calibri" pitchFamily="34" charset="-122"/>
                <a:cs typeface="Calibri" pitchFamily="34" charset="-120"/>
              </a:rPr>
              <a:t>The failure modes are known. Every one has a specific control.</a:t>
            </a:r>
            <a:endParaRPr lang="en-US" sz="1450" dirty="0"/>
          </a:p>
        </p:txBody>
      </p:sp>
      <p:sp>
        <p:nvSpPr>
          <p:cNvPr id="5" name="Shape 3"/>
          <p:cNvSpPr/>
          <p:nvPr/>
        </p:nvSpPr>
        <p:spPr>
          <a:xfrm>
            <a:off x="566928" y="1737360"/>
            <a:ext cx="11055096" cy="640080"/>
          </a:xfrm>
          <a:prstGeom prst="roundRect">
            <a:avLst>
              <a:gd name="adj" fmla="val 8571"/>
            </a:avLst>
          </a:prstGeom>
          <a:solidFill>
            <a:srgbClr val="FFFFFF"/>
          </a:solidFill>
          <a:ln w="12700">
            <a:solidFill>
              <a:srgbClr val="DDE4EC"/>
            </a:solidFill>
            <a:prstDash val="solid"/>
          </a:ln>
        </p:spPr>
      </p:sp>
      <p:sp>
        <p:nvSpPr>
          <p:cNvPr id="6" name="Text 4"/>
          <p:cNvSpPr/>
          <p:nvPr/>
        </p:nvSpPr>
        <p:spPr>
          <a:xfrm>
            <a:off x="804672" y="1792224"/>
            <a:ext cx="2377440" cy="256032"/>
          </a:xfrm>
          <a:prstGeom prst="rect">
            <a:avLst/>
          </a:prstGeom>
          <a:noFill/>
          <a:ln/>
        </p:spPr>
        <p:txBody>
          <a:bodyPr wrap="square" lIns="0" tIns="0" rIns="0" bIns="0" rtlCol="0" anchor="ctr"/>
          <a:lstStyle/>
          <a:p>
            <a:pPr indent="0" marL="0">
              <a:buNone/>
            </a:pPr>
            <a:r>
              <a:rPr lang="en-US" sz="1250" b="1" dirty="0">
                <a:solidFill>
                  <a:srgbClr val="0F1620"/>
                </a:solidFill>
                <a:latin typeface="Calibri" pitchFamily="34" charset="0"/>
                <a:ea typeface="Calibri" pitchFamily="34" charset="-122"/>
                <a:cs typeface="Calibri" pitchFamily="34" charset="-120"/>
              </a:rPr>
              <a:t>Runtime-built names</a:t>
            </a:r>
            <a:endParaRPr lang="en-US" sz="1250" dirty="0"/>
          </a:p>
        </p:txBody>
      </p:sp>
      <p:sp>
        <p:nvSpPr>
          <p:cNvPr id="7" name="Text 5"/>
          <p:cNvSpPr/>
          <p:nvPr/>
        </p:nvSpPr>
        <p:spPr>
          <a:xfrm>
            <a:off x="804672" y="2039112"/>
            <a:ext cx="2926080" cy="292608"/>
          </a:xfrm>
          <a:prstGeom prst="rect">
            <a:avLst/>
          </a:prstGeom>
          <a:noFill/>
          <a:ln/>
        </p:spPr>
        <p:txBody>
          <a:bodyPr wrap="square" lIns="0" tIns="0" rIns="0" bIns="0" rtlCol="0" anchor="ctr"/>
          <a:lstStyle/>
          <a:p>
            <a:pPr indent="0" marL="0">
              <a:buNone/>
            </a:pPr>
            <a:r>
              <a:rPr lang="en-US" sz="1050" dirty="0">
                <a:solidFill>
                  <a:srgbClr val="7A8494"/>
                </a:solidFill>
                <a:latin typeface="Calibri" pitchFamily="34" charset="0"/>
                <a:ea typeface="Calibri" pitchFamily="34" charset="-122"/>
                <a:cs typeface="Calibri" pitchFamily="34" charset="-120"/>
              </a:rPr>
              <a:t>A field name built from data we cannot see.</a:t>
            </a:r>
            <a:endParaRPr lang="en-US" sz="1050" dirty="0"/>
          </a:p>
        </p:txBody>
      </p:sp>
      <p:sp>
        <p:nvSpPr>
          <p:cNvPr id="8" name="Shape 6"/>
          <p:cNvSpPr/>
          <p:nvPr/>
        </p:nvSpPr>
        <p:spPr>
          <a:xfrm>
            <a:off x="3858768" y="1975104"/>
            <a:ext cx="164592" cy="164592"/>
          </a:xfrm>
          <a:prstGeom prst="ellipse">
            <a:avLst/>
          </a:prstGeom>
          <a:solidFill>
            <a:srgbClr val="3FBF92"/>
          </a:solidFill>
          <a:ln/>
        </p:spPr>
      </p:sp>
      <p:sp>
        <p:nvSpPr>
          <p:cNvPr id="9" name="Text 7"/>
          <p:cNvSpPr/>
          <p:nvPr/>
        </p:nvSpPr>
        <p:spPr>
          <a:xfrm>
            <a:off x="4169664" y="1883664"/>
            <a:ext cx="7223760" cy="438912"/>
          </a:xfrm>
          <a:prstGeom prst="rect">
            <a:avLst/>
          </a:prstGeom>
          <a:noFill/>
          <a:ln/>
        </p:spPr>
        <p:txBody>
          <a:bodyPr wrap="square" lIns="0" tIns="0" rIns="0" bIns="0" rtlCol="0" anchor="ctr"/>
          <a:lstStyle/>
          <a:p>
            <a:pPr indent="0" marL="0">
              <a:lnSpc>
                <a:spcPts val="1500"/>
              </a:lnSpc>
              <a:buNone/>
            </a:pPr>
            <a:r>
              <a:rPr lang="en-US" sz="1200" dirty="0">
                <a:solidFill>
                  <a:srgbClr val="3A4553"/>
                </a:solidFill>
                <a:latin typeface="Calibri" pitchFamily="34" charset="0"/>
                <a:ea typeface="Calibri" pitchFamily="34" charset="-122"/>
                <a:cs typeface="Calibri" pitchFamily="34" charset="-120"/>
              </a:rPr>
              <a:t>Detect the construct and quarantine every object it could touch. Deliberately blunt.</a:t>
            </a:r>
            <a:endParaRPr lang="en-US" sz="1200" dirty="0"/>
          </a:p>
        </p:txBody>
      </p:sp>
      <p:sp>
        <p:nvSpPr>
          <p:cNvPr id="10" name="Shape 8"/>
          <p:cNvSpPr/>
          <p:nvPr/>
        </p:nvSpPr>
        <p:spPr>
          <a:xfrm>
            <a:off x="566928" y="2487168"/>
            <a:ext cx="11055096" cy="640080"/>
          </a:xfrm>
          <a:prstGeom prst="roundRect">
            <a:avLst>
              <a:gd name="adj" fmla="val 8571"/>
            </a:avLst>
          </a:prstGeom>
          <a:solidFill>
            <a:srgbClr val="F6F8FB"/>
          </a:solidFill>
          <a:ln w="12700">
            <a:solidFill>
              <a:srgbClr val="DDE4EC"/>
            </a:solidFill>
            <a:prstDash val="solid"/>
          </a:ln>
        </p:spPr>
      </p:sp>
      <p:sp>
        <p:nvSpPr>
          <p:cNvPr id="11" name="Text 9"/>
          <p:cNvSpPr/>
          <p:nvPr/>
        </p:nvSpPr>
        <p:spPr>
          <a:xfrm>
            <a:off x="804672" y="2542032"/>
            <a:ext cx="2377440" cy="256032"/>
          </a:xfrm>
          <a:prstGeom prst="rect">
            <a:avLst/>
          </a:prstGeom>
          <a:noFill/>
          <a:ln/>
        </p:spPr>
        <p:txBody>
          <a:bodyPr wrap="square" lIns="0" tIns="0" rIns="0" bIns="0" rtlCol="0" anchor="ctr"/>
          <a:lstStyle/>
          <a:p>
            <a:pPr indent="0" marL="0">
              <a:buNone/>
            </a:pPr>
            <a:r>
              <a:rPr lang="en-US" sz="1250" b="1" dirty="0">
                <a:solidFill>
                  <a:srgbClr val="0F1620"/>
                </a:solidFill>
                <a:latin typeface="Calibri" pitchFamily="34" charset="0"/>
                <a:ea typeface="Calibri" pitchFamily="34" charset="-122"/>
                <a:cs typeface="Calibri" pitchFamily="34" charset="-120"/>
              </a:rPr>
              <a:t>API names stored as data</a:t>
            </a:r>
            <a:endParaRPr lang="en-US" sz="1250" dirty="0"/>
          </a:p>
        </p:txBody>
      </p:sp>
      <p:sp>
        <p:nvSpPr>
          <p:cNvPr id="12" name="Text 10"/>
          <p:cNvSpPr/>
          <p:nvPr/>
        </p:nvSpPr>
        <p:spPr>
          <a:xfrm>
            <a:off x="804672" y="2788920"/>
            <a:ext cx="2926080" cy="292608"/>
          </a:xfrm>
          <a:prstGeom prst="rect">
            <a:avLst/>
          </a:prstGeom>
          <a:noFill/>
          <a:ln/>
        </p:spPr>
        <p:txBody>
          <a:bodyPr wrap="square" lIns="0" tIns="0" rIns="0" bIns="0" rtlCol="0" anchor="ctr"/>
          <a:lstStyle/>
          <a:p>
            <a:pPr indent="0" marL="0">
              <a:buNone/>
            </a:pPr>
            <a:r>
              <a:rPr lang="en-US" sz="1050" dirty="0">
                <a:solidFill>
                  <a:srgbClr val="7A8494"/>
                </a:solidFill>
                <a:latin typeface="Calibri" pitchFamily="34" charset="0"/>
                <a:ea typeface="Calibri" pitchFamily="34" charset="-122"/>
                <a:cs typeface="Calibri" pitchFamily="34" charset="-120"/>
              </a:rPr>
              <a:t>Config records store field names as text.</a:t>
            </a:r>
            <a:endParaRPr lang="en-US" sz="1050" dirty="0"/>
          </a:p>
        </p:txBody>
      </p:sp>
      <p:sp>
        <p:nvSpPr>
          <p:cNvPr id="13" name="Shape 11"/>
          <p:cNvSpPr/>
          <p:nvPr/>
        </p:nvSpPr>
        <p:spPr>
          <a:xfrm>
            <a:off x="3858768" y="2724912"/>
            <a:ext cx="164592" cy="164592"/>
          </a:xfrm>
          <a:prstGeom prst="ellipse">
            <a:avLst/>
          </a:prstGeom>
          <a:solidFill>
            <a:srgbClr val="3FBF92"/>
          </a:solidFill>
          <a:ln/>
        </p:spPr>
      </p:sp>
      <p:sp>
        <p:nvSpPr>
          <p:cNvPr id="14" name="Text 12"/>
          <p:cNvSpPr/>
          <p:nvPr/>
        </p:nvSpPr>
        <p:spPr>
          <a:xfrm>
            <a:off x="4169664" y="2633472"/>
            <a:ext cx="7223760" cy="438912"/>
          </a:xfrm>
          <a:prstGeom prst="rect">
            <a:avLst/>
          </a:prstGeom>
          <a:noFill/>
          <a:ln/>
        </p:spPr>
        <p:txBody>
          <a:bodyPr wrap="square" lIns="0" tIns="0" rIns="0" bIns="0" rtlCol="0" anchor="ctr"/>
          <a:lstStyle/>
          <a:p>
            <a:pPr indent="0" marL="0">
              <a:lnSpc>
                <a:spcPts val="1500"/>
              </a:lnSpc>
              <a:buNone/>
            </a:pPr>
            <a:r>
              <a:rPr lang="en-US" sz="1200" dirty="0">
                <a:solidFill>
                  <a:srgbClr val="3A4553"/>
                </a:solidFill>
                <a:latin typeface="Calibri" pitchFamily="34" charset="0"/>
                <a:ea typeface="Calibri" pitchFamily="34" charset="-122"/>
                <a:cs typeface="Calibri" pitchFamily="34" charset="-120"/>
              </a:rPr>
              <a:t>Dedicated collector queries every custom metadata row and sweeps text values.</a:t>
            </a:r>
            <a:endParaRPr lang="en-US" sz="1200" dirty="0"/>
          </a:p>
        </p:txBody>
      </p:sp>
      <p:sp>
        <p:nvSpPr>
          <p:cNvPr id="15" name="Shape 13"/>
          <p:cNvSpPr/>
          <p:nvPr/>
        </p:nvSpPr>
        <p:spPr>
          <a:xfrm>
            <a:off x="566928" y="3236976"/>
            <a:ext cx="11055096" cy="640080"/>
          </a:xfrm>
          <a:prstGeom prst="roundRect">
            <a:avLst>
              <a:gd name="adj" fmla="val 8571"/>
            </a:avLst>
          </a:prstGeom>
          <a:solidFill>
            <a:srgbClr val="FFFFFF"/>
          </a:solidFill>
          <a:ln w="12700">
            <a:solidFill>
              <a:srgbClr val="DDE4EC"/>
            </a:solidFill>
            <a:prstDash val="solid"/>
          </a:ln>
        </p:spPr>
      </p:sp>
      <p:sp>
        <p:nvSpPr>
          <p:cNvPr id="16" name="Text 14"/>
          <p:cNvSpPr/>
          <p:nvPr/>
        </p:nvSpPr>
        <p:spPr>
          <a:xfrm>
            <a:off x="804672" y="3291840"/>
            <a:ext cx="2377440" cy="256032"/>
          </a:xfrm>
          <a:prstGeom prst="rect">
            <a:avLst/>
          </a:prstGeom>
          <a:noFill/>
          <a:ln/>
        </p:spPr>
        <p:txBody>
          <a:bodyPr wrap="square" lIns="0" tIns="0" rIns="0" bIns="0" rtlCol="0" anchor="ctr"/>
          <a:lstStyle/>
          <a:p>
            <a:pPr indent="0" marL="0">
              <a:buNone/>
            </a:pPr>
            <a:r>
              <a:rPr lang="en-US" sz="1250" b="1" dirty="0">
                <a:solidFill>
                  <a:srgbClr val="0F1620"/>
                </a:solidFill>
                <a:latin typeface="Calibri" pitchFamily="34" charset="0"/>
                <a:ea typeface="Calibri" pitchFamily="34" charset="-122"/>
                <a:cs typeface="Calibri" pitchFamily="34" charset="-120"/>
              </a:rPr>
              <a:t>Partial dependency data</a:t>
            </a:r>
            <a:endParaRPr lang="en-US" sz="1250" dirty="0"/>
          </a:p>
        </p:txBody>
      </p:sp>
      <p:sp>
        <p:nvSpPr>
          <p:cNvPr id="17" name="Text 15"/>
          <p:cNvSpPr/>
          <p:nvPr/>
        </p:nvSpPr>
        <p:spPr>
          <a:xfrm>
            <a:off x="804672" y="3538728"/>
            <a:ext cx="2926080" cy="292608"/>
          </a:xfrm>
          <a:prstGeom prst="rect">
            <a:avLst/>
          </a:prstGeom>
          <a:noFill/>
          <a:ln/>
        </p:spPr>
        <p:txBody>
          <a:bodyPr wrap="square" lIns="0" tIns="0" rIns="0" bIns="0" rtlCol="0" anchor="ctr"/>
          <a:lstStyle/>
          <a:p>
            <a:pPr indent="0" marL="0">
              <a:buNone/>
            </a:pPr>
            <a:r>
              <a:rPr lang="en-US" sz="1050" dirty="0">
                <a:solidFill>
                  <a:srgbClr val="7A8494"/>
                </a:solidFill>
                <a:latin typeface="Calibri" pitchFamily="34" charset="0"/>
                <a:ea typeface="Calibri" pitchFamily="34" charset="-122"/>
                <a:cs typeface="Calibri" pitchFamily="34" charset="-120"/>
              </a:rPr>
              <a:t>Its own dependency data omits reports and rules.</a:t>
            </a:r>
            <a:endParaRPr lang="en-US" sz="1050" dirty="0"/>
          </a:p>
        </p:txBody>
      </p:sp>
      <p:sp>
        <p:nvSpPr>
          <p:cNvPr id="18" name="Shape 16"/>
          <p:cNvSpPr/>
          <p:nvPr/>
        </p:nvSpPr>
        <p:spPr>
          <a:xfrm>
            <a:off x="3858768" y="3474720"/>
            <a:ext cx="164592" cy="164592"/>
          </a:xfrm>
          <a:prstGeom prst="ellipse">
            <a:avLst/>
          </a:prstGeom>
          <a:solidFill>
            <a:srgbClr val="3FBF92"/>
          </a:solidFill>
          <a:ln/>
        </p:spPr>
      </p:sp>
      <p:sp>
        <p:nvSpPr>
          <p:cNvPr id="19" name="Text 17"/>
          <p:cNvSpPr/>
          <p:nvPr/>
        </p:nvSpPr>
        <p:spPr>
          <a:xfrm>
            <a:off x="4169664" y="3383280"/>
            <a:ext cx="7223760" cy="438912"/>
          </a:xfrm>
          <a:prstGeom prst="rect">
            <a:avLst/>
          </a:prstGeom>
          <a:noFill/>
          <a:ln/>
        </p:spPr>
        <p:txBody>
          <a:bodyPr wrap="square" lIns="0" tIns="0" rIns="0" bIns="0" rtlCol="0" anchor="ctr"/>
          <a:lstStyle/>
          <a:p>
            <a:pPr indent="0" marL="0">
              <a:lnSpc>
                <a:spcPts val="1500"/>
              </a:lnSpc>
              <a:buNone/>
            </a:pPr>
            <a:r>
              <a:rPr lang="en-US" sz="1200" dirty="0">
                <a:solidFill>
                  <a:srgbClr val="3A4553"/>
                </a:solidFill>
                <a:latin typeface="Calibri" pitchFamily="34" charset="0"/>
                <a:ea typeface="Calibri" pitchFamily="34" charset="-122"/>
                <a:cs typeface="Calibri" pitchFamily="34" charset="-120"/>
              </a:rPr>
              <a:t>Local parsing is primary. Absence there is never counted as evidence.</a:t>
            </a:r>
            <a:endParaRPr lang="en-US" sz="1200" dirty="0"/>
          </a:p>
        </p:txBody>
      </p:sp>
      <p:sp>
        <p:nvSpPr>
          <p:cNvPr id="20" name="Shape 18"/>
          <p:cNvSpPr/>
          <p:nvPr/>
        </p:nvSpPr>
        <p:spPr>
          <a:xfrm>
            <a:off x="566928" y="3986784"/>
            <a:ext cx="11055096" cy="640080"/>
          </a:xfrm>
          <a:prstGeom prst="roundRect">
            <a:avLst>
              <a:gd name="adj" fmla="val 8571"/>
            </a:avLst>
          </a:prstGeom>
          <a:solidFill>
            <a:srgbClr val="F6F8FB"/>
          </a:solidFill>
          <a:ln w="12700">
            <a:solidFill>
              <a:srgbClr val="DDE4EC"/>
            </a:solidFill>
            <a:prstDash val="solid"/>
          </a:ln>
        </p:spPr>
      </p:sp>
      <p:sp>
        <p:nvSpPr>
          <p:cNvPr id="21" name="Text 19"/>
          <p:cNvSpPr/>
          <p:nvPr/>
        </p:nvSpPr>
        <p:spPr>
          <a:xfrm>
            <a:off x="804672" y="4041648"/>
            <a:ext cx="2377440" cy="256032"/>
          </a:xfrm>
          <a:prstGeom prst="rect">
            <a:avLst/>
          </a:prstGeom>
          <a:noFill/>
          <a:ln/>
        </p:spPr>
        <p:txBody>
          <a:bodyPr wrap="square" lIns="0" tIns="0" rIns="0" bIns="0" rtlCol="0" anchor="ctr"/>
          <a:lstStyle/>
          <a:p>
            <a:pPr indent="0" marL="0">
              <a:buNone/>
            </a:pPr>
            <a:r>
              <a:rPr lang="en-US" sz="1250" b="1" dirty="0">
                <a:solidFill>
                  <a:srgbClr val="0F1620"/>
                </a:solidFill>
                <a:latin typeface="Calibri" pitchFamily="34" charset="0"/>
                <a:ea typeface="Calibri" pitchFamily="34" charset="-122"/>
                <a:cs typeface="Calibri" pitchFamily="34" charset="-120"/>
              </a:rPr>
              <a:t>External integrations</a:t>
            </a:r>
            <a:endParaRPr lang="en-US" sz="1250" dirty="0"/>
          </a:p>
        </p:txBody>
      </p:sp>
      <p:sp>
        <p:nvSpPr>
          <p:cNvPr id="22" name="Text 20"/>
          <p:cNvSpPr/>
          <p:nvPr/>
        </p:nvSpPr>
        <p:spPr>
          <a:xfrm>
            <a:off x="804672" y="4288536"/>
            <a:ext cx="2926080" cy="292608"/>
          </a:xfrm>
          <a:prstGeom prst="rect">
            <a:avLst/>
          </a:prstGeom>
          <a:noFill/>
          <a:ln/>
        </p:spPr>
        <p:txBody>
          <a:bodyPr wrap="square" lIns="0" tIns="0" rIns="0" bIns="0" rtlCol="0" anchor="ctr"/>
          <a:lstStyle/>
          <a:p>
            <a:pPr indent="0" marL="0">
              <a:buNone/>
            </a:pPr>
            <a:r>
              <a:rPr lang="en-US" sz="1050" dirty="0">
                <a:solidFill>
                  <a:srgbClr val="7A8494"/>
                </a:solidFill>
                <a:latin typeface="Calibri" pitchFamily="34" charset="0"/>
                <a:ea typeface="Calibri" pitchFamily="34" charset="-122"/>
                <a:cs typeface="Calibri" pitchFamily="34" charset="-120"/>
              </a:rPr>
              <a:t>Field mappings live outside the org.</a:t>
            </a:r>
            <a:endParaRPr lang="en-US" sz="1050" dirty="0"/>
          </a:p>
        </p:txBody>
      </p:sp>
      <p:sp>
        <p:nvSpPr>
          <p:cNvPr id="23" name="Shape 21"/>
          <p:cNvSpPr/>
          <p:nvPr/>
        </p:nvSpPr>
        <p:spPr>
          <a:xfrm>
            <a:off x="3858768" y="4224528"/>
            <a:ext cx="164592" cy="164592"/>
          </a:xfrm>
          <a:prstGeom prst="ellipse">
            <a:avLst/>
          </a:prstGeom>
          <a:solidFill>
            <a:srgbClr val="3FBF92"/>
          </a:solidFill>
          <a:ln/>
        </p:spPr>
      </p:sp>
      <p:sp>
        <p:nvSpPr>
          <p:cNvPr id="24" name="Text 22"/>
          <p:cNvSpPr/>
          <p:nvPr/>
        </p:nvSpPr>
        <p:spPr>
          <a:xfrm>
            <a:off x="4169664" y="4133088"/>
            <a:ext cx="7223760" cy="438912"/>
          </a:xfrm>
          <a:prstGeom prst="rect">
            <a:avLst/>
          </a:prstGeom>
          <a:noFill/>
          <a:ln/>
        </p:spPr>
        <p:txBody>
          <a:bodyPr wrap="square" lIns="0" tIns="0" rIns="0" bIns="0" rtlCol="0" anchor="ctr"/>
          <a:lstStyle/>
          <a:p>
            <a:pPr indent="0" marL="0">
              <a:lnSpc>
                <a:spcPts val="1500"/>
              </a:lnSpc>
              <a:buNone/>
            </a:pPr>
            <a:r>
              <a:rPr lang="en-US" sz="1200" dirty="0">
                <a:solidFill>
                  <a:srgbClr val="3A4553"/>
                </a:solidFill>
                <a:latin typeface="Calibri" pitchFamily="34" charset="0"/>
                <a:ea typeface="Calibri" pitchFamily="34" charset="-122"/>
                <a:cs typeface="Calibri" pitchFamily="34" charset="-120"/>
              </a:rPr>
              <a:t>Stated as a blind spot; the observation window before deletion is what catches it.</a:t>
            </a:r>
            <a:endParaRPr lang="en-US" sz="1200" dirty="0"/>
          </a:p>
        </p:txBody>
      </p:sp>
      <p:sp>
        <p:nvSpPr>
          <p:cNvPr id="25" name="Shape 23"/>
          <p:cNvSpPr/>
          <p:nvPr/>
        </p:nvSpPr>
        <p:spPr>
          <a:xfrm>
            <a:off x="566928" y="4736592"/>
            <a:ext cx="11055096" cy="640080"/>
          </a:xfrm>
          <a:prstGeom prst="roundRect">
            <a:avLst>
              <a:gd name="adj" fmla="val 8571"/>
            </a:avLst>
          </a:prstGeom>
          <a:solidFill>
            <a:srgbClr val="FFFFFF"/>
          </a:solidFill>
          <a:ln w="12700">
            <a:solidFill>
              <a:srgbClr val="DDE4EC"/>
            </a:solidFill>
            <a:prstDash val="solid"/>
          </a:ln>
        </p:spPr>
      </p:sp>
      <p:sp>
        <p:nvSpPr>
          <p:cNvPr id="26" name="Text 24"/>
          <p:cNvSpPr/>
          <p:nvPr/>
        </p:nvSpPr>
        <p:spPr>
          <a:xfrm>
            <a:off x="804672" y="4791456"/>
            <a:ext cx="2377440" cy="256032"/>
          </a:xfrm>
          <a:prstGeom prst="rect">
            <a:avLst/>
          </a:prstGeom>
          <a:noFill/>
          <a:ln/>
        </p:spPr>
        <p:txBody>
          <a:bodyPr wrap="square" lIns="0" tIns="0" rIns="0" bIns="0" rtlCol="0" anchor="ctr"/>
          <a:lstStyle/>
          <a:p>
            <a:pPr indent="0" marL="0">
              <a:buNone/>
            </a:pPr>
            <a:r>
              <a:rPr lang="en-US" sz="1250" b="1" dirty="0">
                <a:solidFill>
                  <a:srgbClr val="0F1620"/>
                </a:solidFill>
                <a:latin typeface="Calibri" pitchFamily="34" charset="0"/>
                <a:ea typeface="Calibri" pitchFamily="34" charset="-122"/>
                <a:cs typeface="Calibri" pitchFamily="34" charset="-120"/>
              </a:rPr>
              <a:t>Restricted API user</a:t>
            </a:r>
            <a:endParaRPr lang="en-US" sz="1250" dirty="0"/>
          </a:p>
        </p:txBody>
      </p:sp>
      <p:sp>
        <p:nvSpPr>
          <p:cNvPr id="27" name="Text 25"/>
          <p:cNvSpPr/>
          <p:nvPr/>
        </p:nvSpPr>
        <p:spPr>
          <a:xfrm>
            <a:off x="804672" y="5038344"/>
            <a:ext cx="2926080" cy="292608"/>
          </a:xfrm>
          <a:prstGeom prst="rect">
            <a:avLst/>
          </a:prstGeom>
          <a:noFill/>
          <a:ln/>
        </p:spPr>
        <p:txBody>
          <a:bodyPr wrap="square" lIns="0" tIns="0" rIns="0" bIns="0" rtlCol="0" anchor="ctr"/>
          <a:lstStyle/>
          <a:p>
            <a:pPr indent="0" marL="0">
              <a:buNone/>
            </a:pPr>
            <a:r>
              <a:rPr lang="en-US" sz="1050" dirty="0">
                <a:solidFill>
                  <a:srgbClr val="7A8494"/>
                </a:solidFill>
                <a:latin typeface="Calibri" pitchFamily="34" charset="0"/>
                <a:ea typeface="Calibri" pitchFamily="34" charset="-122"/>
                <a:cs typeface="Calibri" pitchFamily="34" charset="-120"/>
              </a:rPr>
              <a:t>Anything invisible to the user looks unused.</a:t>
            </a:r>
            <a:endParaRPr lang="en-US" sz="1050" dirty="0"/>
          </a:p>
        </p:txBody>
      </p:sp>
      <p:sp>
        <p:nvSpPr>
          <p:cNvPr id="28" name="Shape 26"/>
          <p:cNvSpPr/>
          <p:nvPr/>
        </p:nvSpPr>
        <p:spPr>
          <a:xfrm>
            <a:off x="3858768" y="4974336"/>
            <a:ext cx="164592" cy="164592"/>
          </a:xfrm>
          <a:prstGeom prst="ellipse">
            <a:avLst/>
          </a:prstGeom>
          <a:solidFill>
            <a:srgbClr val="3FBF92"/>
          </a:solidFill>
          <a:ln/>
        </p:spPr>
      </p:sp>
      <p:sp>
        <p:nvSpPr>
          <p:cNvPr id="29" name="Text 27"/>
          <p:cNvSpPr/>
          <p:nvPr/>
        </p:nvSpPr>
        <p:spPr>
          <a:xfrm>
            <a:off x="4169664" y="4882896"/>
            <a:ext cx="7223760" cy="438912"/>
          </a:xfrm>
          <a:prstGeom prst="rect">
            <a:avLst/>
          </a:prstGeom>
          <a:noFill/>
          <a:ln/>
        </p:spPr>
        <p:txBody>
          <a:bodyPr wrap="square" lIns="0" tIns="0" rIns="0" bIns="0" rtlCol="0" anchor="ctr"/>
          <a:lstStyle/>
          <a:p>
            <a:pPr indent="0" marL="0">
              <a:lnSpc>
                <a:spcPts val="1500"/>
              </a:lnSpc>
              <a:buNone/>
            </a:pPr>
            <a:r>
              <a:rPr lang="en-US" sz="1200" dirty="0">
                <a:solidFill>
                  <a:srgbClr val="3A4553"/>
                </a:solidFill>
                <a:latin typeface="Calibri" pitchFamily="34" charset="0"/>
                <a:ea typeface="Calibri" pitchFamily="34" charset="-122"/>
                <a:cs typeface="Calibri" pitchFamily="34" charset="-120"/>
              </a:rPr>
              <a:t>The run records who it ran as and warns if that user is not an administrator.</a:t>
            </a:r>
            <a:endParaRPr lang="en-US" sz="1200" dirty="0"/>
          </a:p>
        </p:txBody>
      </p:sp>
      <p:sp>
        <p:nvSpPr>
          <p:cNvPr id="30" name="Shape 28"/>
          <p:cNvSpPr/>
          <p:nvPr/>
        </p:nvSpPr>
        <p:spPr>
          <a:xfrm>
            <a:off x="566928" y="5486400"/>
            <a:ext cx="11055096" cy="640080"/>
          </a:xfrm>
          <a:prstGeom prst="roundRect">
            <a:avLst>
              <a:gd name="adj" fmla="val 8571"/>
            </a:avLst>
          </a:prstGeom>
          <a:solidFill>
            <a:srgbClr val="F6F8FB"/>
          </a:solidFill>
          <a:ln w="12700">
            <a:solidFill>
              <a:srgbClr val="DDE4EC"/>
            </a:solidFill>
            <a:prstDash val="solid"/>
          </a:ln>
        </p:spPr>
      </p:sp>
      <p:sp>
        <p:nvSpPr>
          <p:cNvPr id="31" name="Text 29"/>
          <p:cNvSpPr/>
          <p:nvPr/>
        </p:nvSpPr>
        <p:spPr>
          <a:xfrm>
            <a:off x="804672" y="5541264"/>
            <a:ext cx="2377440" cy="256032"/>
          </a:xfrm>
          <a:prstGeom prst="rect">
            <a:avLst/>
          </a:prstGeom>
          <a:noFill/>
          <a:ln/>
        </p:spPr>
        <p:txBody>
          <a:bodyPr wrap="square" lIns="0" tIns="0" rIns="0" bIns="0" rtlCol="0" anchor="ctr"/>
          <a:lstStyle/>
          <a:p>
            <a:pPr indent="0" marL="0">
              <a:buNone/>
            </a:pPr>
            <a:r>
              <a:rPr lang="en-US" sz="1250" b="1" dirty="0">
                <a:solidFill>
                  <a:srgbClr val="0F1620"/>
                </a:solidFill>
                <a:latin typeface="Calibri" pitchFamily="34" charset="0"/>
                <a:ea typeface="Calibri" pitchFamily="34" charset="-122"/>
                <a:cs typeface="Calibri" pitchFamily="34" charset="-120"/>
              </a:rPr>
              <a:t>Irreversible deletion</a:t>
            </a:r>
            <a:endParaRPr lang="en-US" sz="1250" dirty="0"/>
          </a:p>
        </p:txBody>
      </p:sp>
      <p:sp>
        <p:nvSpPr>
          <p:cNvPr id="32" name="Text 30"/>
          <p:cNvSpPr/>
          <p:nvPr/>
        </p:nvSpPr>
        <p:spPr>
          <a:xfrm>
            <a:off x="804672" y="5788152"/>
            <a:ext cx="2926080" cy="292608"/>
          </a:xfrm>
          <a:prstGeom prst="rect">
            <a:avLst/>
          </a:prstGeom>
          <a:noFill/>
          <a:ln/>
        </p:spPr>
        <p:txBody>
          <a:bodyPr wrap="square" lIns="0" tIns="0" rIns="0" bIns="0" rtlCol="0" anchor="ctr"/>
          <a:lstStyle/>
          <a:p>
            <a:pPr indent="0" marL="0">
              <a:buNone/>
            </a:pPr>
            <a:r>
              <a:rPr lang="en-US" sz="1050" dirty="0">
                <a:solidFill>
                  <a:srgbClr val="7A8494"/>
                </a:solidFill>
                <a:latin typeface="Calibri" pitchFamily="34" charset="0"/>
                <a:ea typeface="Calibri" pitchFamily="34" charset="-122"/>
                <a:cs typeface="Calibri" pitchFamily="34" charset="-120"/>
              </a:rPr>
              <a:t>Fields recoverable 15 days; Apex not at all.</a:t>
            </a:r>
            <a:endParaRPr lang="en-US" sz="1050" dirty="0"/>
          </a:p>
        </p:txBody>
      </p:sp>
      <p:sp>
        <p:nvSpPr>
          <p:cNvPr id="33" name="Shape 31"/>
          <p:cNvSpPr/>
          <p:nvPr/>
        </p:nvSpPr>
        <p:spPr>
          <a:xfrm>
            <a:off x="3858768" y="5724144"/>
            <a:ext cx="164592" cy="164592"/>
          </a:xfrm>
          <a:prstGeom prst="ellipse">
            <a:avLst/>
          </a:prstGeom>
          <a:solidFill>
            <a:srgbClr val="3FBF92"/>
          </a:solidFill>
          <a:ln/>
        </p:spPr>
      </p:sp>
      <p:sp>
        <p:nvSpPr>
          <p:cNvPr id="34" name="Text 32"/>
          <p:cNvSpPr/>
          <p:nvPr/>
        </p:nvSpPr>
        <p:spPr>
          <a:xfrm>
            <a:off x="4169664" y="5632704"/>
            <a:ext cx="7223760" cy="438912"/>
          </a:xfrm>
          <a:prstGeom prst="rect">
            <a:avLst/>
          </a:prstGeom>
          <a:noFill/>
          <a:ln/>
        </p:spPr>
        <p:txBody>
          <a:bodyPr wrap="square" lIns="0" tIns="0" rIns="0" bIns="0" rtlCol="0" anchor="ctr"/>
          <a:lstStyle/>
          <a:p>
            <a:pPr indent="0" marL="0">
              <a:lnSpc>
                <a:spcPts val="1500"/>
              </a:lnSpc>
              <a:buNone/>
            </a:pPr>
            <a:r>
              <a:rPr lang="en-US" sz="1200" dirty="0">
                <a:solidFill>
                  <a:srgbClr val="3A4553"/>
                </a:solidFill>
                <a:latin typeface="Calibri" pitchFamily="34" charset="0"/>
                <a:ea typeface="Calibri" pitchFamily="34" charset="-122"/>
                <a:cs typeface="Calibri" pitchFamily="34" charset="-120"/>
              </a:rPr>
              <a:t>Snapshot, staged deprecation, observation window, small batches, PR-based rollback.</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11411712" y="6455664"/>
            <a:ext cx="365760" cy="274320"/>
          </a:xfrm>
          <a:prstGeom prst="rect">
            <a:avLst/>
          </a:prstGeom>
          <a:noFill/>
          <a:ln/>
        </p:spPr>
        <p:txBody>
          <a:bodyPr wrap="square" lIns="0" tIns="0" rIns="0" bIns="0" rtlCol="0" anchor="ctr"/>
          <a:lstStyle/>
          <a:p>
            <a:pPr algn="r" indent="0" marL="0">
              <a:buNone/>
            </a:pPr>
            <a:r>
              <a:rPr lang="en-US" sz="1000" dirty="0">
                <a:solidFill>
                  <a:srgbClr val="76849A"/>
                </a:solidFill>
                <a:latin typeface="Calibri" pitchFamily="34" charset="0"/>
                <a:ea typeface="Calibri" pitchFamily="34" charset="-122"/>
                <a:cs typeface="Calibri" pitchFamily="34" charset="-120"/>
              </a:rPr>
              <a:t>19</a:t>
            </a:r>
            <a:endParaRPr lang="en-US" sz="1000" dirty="0"/>
          </a:p>
        </p:txBody>
      </p:sp>
      <p:sp>
        <p:nvSpPr>
          <p:cNvPr id="3" name="Text 1"/>
          <p:cNvSpPr/>
          <p:nvPr/>
        </p:nvSpPr>
        <p:spPr>
          <a:xfrm>
            <a:off x="566928" y="402336"/>
            <a:ext cx="11055096" cy="713232"/>
          </a:xfrm>
          <a:prstGeom prst="rect">
            <a:avLst/>
          </a:prstGeom>
          <a:noFill/>
          <a:ln/>
        </p:spPr>
        <p:txBody>
          <a:bodyPr wrap="square" lIns="0" tIns="0" rIns="0" bIns="0" rtlCol="0" anchor="ctr"/>
          <a:lstStyle/>
          <a:p>
            <a:pPr indent="0" marL="0">
              <a:buNone/>
            </a:pPr>
            <a:r>
              <a:rPr lang="en-US" sz="3400" b="1" dirty="0">
                <a:solidFill>
                  <a:srgbClr val="F2F5F8"/>
                </a:solidFill>
                <a:latin typeface="Arial" pitchFamily="34" charset="0"/>
                <a:ea typeface="Arial" pitchFamily="34" charset="-122"/>
                <a:cs typeface="Arial" pitchFamily="34" charset="-120"/>
              </a:rPr>
              <a:t>What this cannot know</a:t>
            </a:r>
            <a:endParaRPr lang="en-US" sz="3400" dirty="0"/>
          </a:p>
        </p:txBody>
      </p:sp>
      <p:sp>
        <p:nvSpPr>
          <p:cNvPr id="4" name="Text 2"/>
          <p:cNvSpPr/>
          <p:nvPr/>
        </p:nvSpPr>
        <p:spPr>
          <a:xfrm>
            <a:off x="566928" y="1115568"/>
            <a:ext cx="11055096" cy="402336"/>
          </a:xfrm>
          <a:prstGeom prst="rect">
            <a:avLst/>
          </a:prstGeom>
          <a:noFill/>
          <a:ln/>
        </p:spPr>
        <p:txBody>
          <a:bodyPr wrap="square" lIns="0" tIns="0" rIns="0" bIns="0" rtlCol="0" anchor="ctr"/>
          <a:lstStyle/>
          <a:p>
            <a:pPr indent="0" marL="0">
              <a:buNone/>
            </a:pPr>
            <a:r>
              <a:rPr lang="en-US" sz="1450" dirty="0">
                <a:solidFill>
                  <a:srgbClr val="A8B4C4"/>
                </a:solidFill>
                <a:latin typeface="Calibri" pitchFamily="34" charset="0"/>
                <a:ea typeface="Calibri" pitchFamily="34" charset="-122"/>
                <a:cs typeface="Calibri" pitchFamily="34" charset="-120"/>
              </a:rPr>
              <a:t>Stated openly, because a cleanup tool that hides its limits is dangerous.</a:t>
            </a:r>
            <a:endParaRPr lang="en-US" sz="1450" dirty="0"/>
          </a:p>
        </p:txBody>
      </p:sp>
      <p:sp>
        <p:nvSpPr>
          <p:cNvPr id="5" name="Shape 3"/>
          <p:cNvSpPr/>
          <p:nvPr/>
        </p:nvSpPr>
        <p:spPr>
          <a:xfrm>
            <a:off x="603504" y="1874520"/>
            <a:ext cx="146304" cy="146304"/>
          </a:xfrm>
          <a:prstGeom prst="ellipse">
            <a:avLst/>
          </a:prstGeom>
          <a:solidFill>
            <a:srgbClr val="F0A030"/>
          </a:solidFill>
          <a:ln/>
        </p:spPr>
      </p:sp>
      <p:sp>
        <p:nvSpPr>
          <p:cNvPr id="6" name="Text 4"/>
          <p:cNvSpPr/>
          <p:nvPr/>
        </p:nvSpPr>
        <p:spPr>
          <a:xfrm>
            <a:off x="932688" y="1773936"/>
            <a:ext cx="10607040" cy="384048"/>
          </a:xfrm>
          <a:prstGeom prst="rect">
            <a:avLst/>
          </a:prstGeom>
          <a:noFill/>
          <a:ln/>
        </p:spPr>
        <p:txBody>
          <a:bodyPr wrap="square" lIns="0" tIns="0" rIns="0" bIns="0" rtlCol="0" anchor="ctr"/>
          <a:lstStyle/>
          <a:p>
            <a:pPr indent="0" marL="0">
              <a:buNone/>
            </a:pPr>
            <a:r>
              <a:rPr lang="en-US" sz="1400" dirty="0">
                <a:solidFill>
                  <a:srgbClr val="A8B4C4"/>
                </a:solidFill>
                <a:latin typeface="Calibri" pitchFamily="34" charset="0"/>
                <a:ea typeface="Calibri" pitchFamily="34" charset="-122"/>
                <a:cs typeface="Calibri" pitchFamily="34" charset="-120"/>
              </a:rPr>
              <a:t>Names assembled at runtime from data the analysis cannot observe</a:t>
            </a:r>
            <a:endParaRPr lang="en-US" sz="1400" dirty="0"/>
          </a:p>
        </p:txBody>
      </p:sp>
      <p:sp>
        <p:nvSpPr>
          <p:cNvPr id="7" name="Shape 5"/>
          <p:cNvSpPr/>
          <p:nvPr/>
        </p:nvSpPr>
        <p:spPr>
          <a:xfrm>
            <a:off x="603504" y="2386584"/>
            <a:ext cx="146304" cy="146304"/>
          </a:xfrm>
          <a:prstGeom prst="ellipse">
            <a:avLst/>
          </a:prstGeom>
          <a:solidFill>
            <a:srgbClr val="F0A030"/>
          </a:solidFill>
          <a:ln/>
        </p:spPr>
      </p:sp>
      <p:sp>
        <p:nvSpPr>
          <p:cNvPr id="8" name="Text 6"/>
          <p:cNvSpPr/>
          <p:nvPr/>
        </p:nvSpPr>
        <p:spPr>
          <a:xfrm>
            <a:off x="932688" y="2286000"/>
            <a:ext cx="10607040" cy="384048"/>
          </a:xfrm>
          <a:prstGeom prst="rect">
            <a:avLst/>
          </a:prstGeom>
          <a:noFill/>
          <a:ln/>
        </p:spPr>
        <p:txBody>
          <a:bodyPr wrap="square" lIns="0" tIns="0" rIns="0" bIns="0" rtlCol="0" anchor="ctr"/>
          <a:lstStyle/>
          <a:p>
            <a:pPr indent="0" marL="0">
              <a:buNone/>
            </a:pPr>
            <a:r>
              <a:rPr lang="en-US" sz="1400" dirty="0">
                <a:solidFill>
                  <a:srgbClr val="A8B4C4"/>
                </a:solidFill>
                <a:latin typeface="Calibri" pitchFamily="34" charset="0"/>
                <a:ea typeface="Calibri" pitchFamily="34" charset="-122"/>
                <a:cs typeface="Calibri" pitchFamily="34" charset="-120"/>
              </a:rPr>
              <a:t>External systems whose field mappings live outside the org entirely</a:t>
            </a:r>
            <a:endParaRPr lang="en-US" sz="1400" dirty="0"/>
          </a:p>
        </p:txBody>
      </p:sp>
      <p:sp>
        <p:nvSpPr>
          <p:cNvPr id="9" name="Shape 7"/>
          <p:cNvSpPr/>
          <p:nvPr/>
        </p:nvSpPr>
        <p:spPr>
          <a:xfrm>
            <a:off x="603504" y="2898648"/>
            <a:ext cx="146304" cy="146304"/>
          </a:xfrm>
          <a:prstGeom prst="ellipse">
            <a:avLst/>
          </a:prstGeom>
          <a:solidFill>
            <a:srgbClr val="F0A030"/>
          </a:solidFill>
          <a:ln/>
        </p:spPr>
      </p:sp>
      <p:sp>
        <p:nvSpPr>
          <p:cNvPr id="10" name="Text 8"/>
          <p:cNvSpPr/>
          <p:nvPr/>
        </p:nvSpPr>
        <p:spPr>
          <a:xfrm>
            <a:off x="932688" y="2798064"/>
            <a:ext cx="10607040" cy="384048"/>
          </a:xfrm>
          <a:prstGeom prst="rect">
            <a:avLst/>
          </a:prstGeom>
          <a:noFill/>
          <a:ln/>
        </p:spPr>
        <p:txBody>
          <a:bodyPr wrap="square" lIns="0" tIns="0" rIns="0" bIns="0" rtlCol="0" anchor="ctr"/>
          <a:lstStyle/>
          <a:p>
            <a:pPr indent="0" marL="0">
              <a:buNone/>
            </a:pPr>
            <a:r>
              <a:rPr lang="en-US" sz="1400" dirty="0">
                <a:solidFill>
                  <a:srgbClr val="A8B4C4"/>
                </a:solidFill>
                <a:latin typeface="Calibri" pitchFamily="34" charset="0"/>
                <a:ea typeface="Calibri" pitchFamily="34" charset="-122"/>
                <a:cs typeface="Calibri" pitchFamily="34" charset="-120"/>
              </a:rPr>
              <a:t>Ad-hoc reports built in the report builder and never saved</a:t>
            </a:r>
            <a:endParaRPr lang="en-US" sz="1400" dirty="0"/>
          </a:p>
        </p:txBody>
      </p:sp>
      <p:sp>
        <p:nvSpPr>
          <p:cNvPr id="11" name="Shape 9"/>
          <p:cNvSpPr/>
          <p:nvPr/>
        </p:nvSpPr>
        <p:spPr>
          <a:xfrm>
            <a:off x="603504" y="3410712"/>
            <a:ext cx="146304" cy="146304"/>
          </a:xfrm>
          <a:prstGeom prst="ellipse">
            <a:avLst/>
          </a:prstGeom>
          <a:solidFill>
            <a:srgbClr val="F0A030"/>
          </a:solidFill>
          <a:ln/>
        </p:spPr>
      </p:sp>
      <p:sp>
        <p:nvSpPr>
          <p:cNvPr id="12" name="Text 10"/>
          <p:cNvSpPr/>
          <p:nvPr/>
        </p:nvSpPr>
        <p:spPr>
          <a:xfrm>
            <a:off x="932688" y="3310128"/>
            <a:ext cx="10607040" cy="384048"/>
          </a:xfrm>
          <a:prstGeom prst="rect">
            <a:avLst/>
          </a:prstGeom>
          <a:noFill/>
          <a:ln/>
        </p:spPr>
        <p:txBody>
          <a:bodyPr wrap="square" lIns="0" tIns="0" rIns="0" bIns="0" rtlCol="0" anchor="ctr"/>
          <a:lstStyle/>
          <a:p>
            <a:pPr indent="0" marL="0">
              <a:buNone/>
            </a:pPr>
            <a:r>
              <a:rPr lang="en-US" sz="1400" dirty="0">
                <a:solidFill>
                  <a:srgbClr val="A8B4C4"/>
                </a:solidFill>
                <a:latin typeface="Calibri" pitchFamily="34" charset="0"/>
                <a:ea typeface="Calibri" pitchFamily="34" charset="-122"/>
                <a:cs typeface="Calibri" pitchFamily="34" charset="-120"/>
              </a:rPr>
              <a:t>Anonymous Apex, which is not persisted and cannot be inspected</a:t>
            </a:r>
            <a:endParaRPr lang="en-US" sz="1400" dirty="0"/>
          </a:p>
        </p:txBody>
      </p:sp>
      <p:sp>
        <p:nvSpPr>
          <p:cNvPr id="13" name="Shape 11"/>
          <p:cNvSpPr/>
          <p:nvPr/>
        </p:nvSpPr>
        <p:spPr>
          <a:xfrm>
            <a:off x="603504" y="3922776"/>
            <a:ext cx="146304" cy="146304"/>
          </a:xfrm>
          <a:prstGeom prst="ellipse">
            <a:avLst/>
          </a:prstGeom>
          <a:solidFill>
            <a:srgbClr val="F0A030"/>
          </a:solidFill>
          <a:ln/>
        </p:spPr>
      </p:sp>
      <p:sp>
        <p:nvSpPr>
          <p:cNvPr id="14" name="Text 12"/>
          <p:cNvSpPr/>
          <p:nvPr/>
        </p:nvSpPr>
        <p:spPr>
          <a:xfrm>
            <a:off x="932688" y="3822192"/>
            <a:ext cx="10607040" cy="384048"/>
          </a:xfrm>
          <a:prstGeom prst="rect">
            <a:avLst/>
          </a:prstGeom>
          <a:noFill/>
          <a:ln/>
        </p:spPr>
        <p:txBody>
          <a:bodyPr wrap="square" lIns="0" tIns="0" rIns="0" bIns="0" rtlCol="0" anchor="ctr"/>
          <a:lstStyle/>
          <a:p>
            <a:pPr indent="0" marL="0">
              <a:buNone/>
            </a:pPr>
            <a:r>
              <a:rPr lang="en-US" sz="1400" dirty="0">
                <a:solidFill>
                  <a:srgbClr val="A8B4C4"/>
                </a:solidFill>
                <a:latin typeface="Calibri" pitchFamily="34" charset="0"/>
                <a:ea typeface="Calibri" pitchFamily="34" charset="-122"/>
                <a:cs typeface="Calibri" pitchFamily="34" charset="-120"/>
              </a:rPr>
              <a:t>Managed-package code reading your fields via dynamic describe</a:t>
            </a:r>
            <a:endParaRPr lang="en-US" sz="1400" dirty="0"/>
          </a:p>
        </p:txBody>
      </p:sp>
      <p:sp>
        <p:nvSpPr>
          <p:cNvPr id="15" name="Shape 13"/>
          <p:cNvSpPr/>
          <p:nvPr/>
        </p:nvSpPr>
        <p:spPr>
          <a:xfrm>
            <a:off x="603504" y="4434840"/>
            <a:ext cx="146304" cy="146304"/>
          </a:xfrm>
          <a:prstGeom prst="ellipse">
            <a:avLst/>
          </a:prstGeom>
          <a:solidFill>
            <a:srgbClr val="F0A030"/>
          </a:solidFill>
          <a:ln/>
        </p:spPr>
      </p:sp>
      <p:sp>
        <p:nvSpPr>
          <p:cNvPr id="16" name="Text 14"/>
          <p:cNvSpPr/>
          <p:nvPr/>
        </p:nvSpPr>
        <p:spPr>
          <a:xfrm>
            <a:off x="932688" y="4334256"/>
            <a:ext cx="10607040" cy="384048"/>
          </a:xfrm>
          <a:prstGeom prst="rect">
            <a:avLst/>
          </a:prstGeom>
          <a:noFill/>
          <a:ln/>
        </p:spPr>
        <p:txBody>
          <a:bodyPr wrap="square" lIns="0" tIns="0" rIns="0" bIns="0" rtlCol="0" anchor="ctr"/>
          <a:lstStyle/>
          <a:p>
            <a:pPr indent="0" marL="0">
              <a:buNone/>
            </a:pPr>
            <a:r>
              <a:rPr lang="en-US" sz="1400" dirty="0">
                <a:solidFill>
                  <a:srgbClr val="A8B4C4"/>
                </a:solidFill>
                <a:latin typeface="Calibri" pitchFamily="34" charset="0"/>
                <a:ea typeface="Calibri" pitchFamily="34" charset="-122"/>
                <a:cs typeface="Calibri" pitchFamily="34" charset="-120"/>
              </a:rPr>
              <a:t>Anything created between the analysis and the eventual deletion</a:t>
            </a:r>
            <a:endParaRPr lang="en-US" sz="1400" dirty="0"/>
          </a:p>
        </p:txBody>
      </p:sp>
      <p:sp>
        <p:nvSpPr>
          <p:cNvPr id="17" name="Shape 15"/>
          <p:cNvSpPr/>
          <p:nvPr/>
        </p:nvSpPr>
        <p:spPr>
          <a:xfrm>
            <a:off x="566928" y="4956048"/>
            <a:ext cx="11055096" cy="1298448"/>
          </a:xfrm>
          <a:prstGeom prst="roundRect">
            <a:avLst>
              <a:gd name="adj" fmla="val 4225"/>
            </a:avLst>
          </a:prstGeom>
          <a:solidFill>
            <a:srgbClr val="1E2A38"/>
          </a:solidFill>
          <a:ln w="12700">
            <a:solidFill>
              <a:srgbClr val="F0A030"/>
            </a:solidFill>
            <a:prstDash val="solid"/>
          </a:ln>
        </p:spPr>
      </p:sp>
      <p:sp>
        <p:nvSpPr>
          <p:cNvPr id="18" name="Text 16"/>
          <p:cNvSpPr/>
          <p:nvPr/>
        </p:nvSpPr>
        <p:spPr>
          <a:xfrm>
            <a:off x="950976" y="5138928"/>
            <a:ext cx="5486400" cy="274320"/>
          </a:xfrm>
          <a:prstGeom prst="rect">
            <a:avLst/>
          </a:prstGeom>
          <a:noFill/>
          <a:ln/>
        </p:spPr>
        <p:txBody>
          <a:bodyPr wrap="square" lIns="0" tIns="0" rIns="0" bIns="0" rtlCol="0" anchor="ctr"/>
          <a:lstStyle/>
          <a:p>
            <a:pPr indent="0" marL="0">
              <a:buNone/>
            </a:pPr>
            <a:r>
              <a:rPr lang="en-US" sz="1200" b="1" dirty="0">
                <a:solidFill>
                  <a:srgbClr val="F0A030"/>
                </a:solidFill>
                <a:latin typeface="Arial" pitchFamily="34" charset="0"/>
                <a:ea typeface="Arial" pitchFamily="34" charset="-122"/>
                <a:cs typeface="Arial" pitchFamily="34" charset="-120"/>
              </a:rPr>
              <a:t>So an UNUSED verdict means exactly this:</a:t>
            </a:r>
            <a:endParaRPr lang="en-US" sz="1200" dirty="0"/>
          </a:p>
        </p:txBody>
      </p:sp>
      <p:sp>
        <p:nvSpPr>
          <p:cNvPr id="19" name="Text 17"/>
          <p:cNvSpPr/>
          <p:nvPr/>
        </p:nvSpPr>
        <p:spPr>
          <a:xfrm>
            <a:off x="950976" y="5449824"/>
            <a:ext cx="10241280" cy="658368"/>
          </a:xfrm>
          <a:prstGeom prst="rect">
            <a:avLst/>
          </a:prstGeom>
          <a:noFill/>
          <a:ln/>
        </p:spPr>
        <p:txBody>
          <a:bodyPr wrap="square" lIns="0" tIns="0" rIns="0" bIns="0" rtlCol="0" anchor="ctr"/>
          <a:lstStyle/>
          <a:p>
            <a:pPr indent="0" marL="0">
              <a:lnSpc>
                <a:spcPts val="1900"/>
              </a:lnSpc>
              <a:buNone/>
            </a:pPr>
            <a:r>
              <a:rPr lang="en-US" sz="1400" dirty="0">
                <a:solidFill>
                  <a:srgbClr val="F2F5F8"/>
                </a:solidFill>
                <a:latin typeface="Calibri" pitchFamily="34" charset="0"/>
                <a:ea typeface="Calibri" pitchFamily="34" charset="-122"/>
                <a:cs typeface="Calibri" pitchFamily="34" charset="-120"/>
              </a:rPr>
              <a:t>No evidence of use was found, and every decisive check ran cleanly. It is a well-supported recommendation — not an authorisation to delete.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11712" y="6455664"/>
            <a:ext cx="365760" cy="274320"/>
          </a:xfrm>
          <a:prstGeom prst="rect">
            <a:avLst/>
          </a:prstGeom>
          <a:noFill/>
          <a:ln/>
        </p:spPr>
        <p:txBody>
          <a:bodyPr wrap="square" lIns="0" tIns="0" rIns="0" bIns="0" rtlCol="0" anchor="ctr"/>
          <a:lstStyle/>
          <a:p>
            <a:pPr algn="r" indent="0" marL="0">
              <a:buNone/>
            </a:pPr>
            <a:r>
              <a:rPr lang="en-US" sz="1000" dirty="0">
                <a:solidFill>
                  <a:srgbClr val="A0A8B4"/>
                </a:solidFill>
                <a:latin typeface="Calibri" pitchFamily="34" charset="0"/>
                <a:ea typeface="Calibri" pitchFamily="34" charset="-122"/>
                <a:cs typeface="Calibri" pitchFamily="34" charset="-120"/>
              </a:rPr>
              <a:t>20</a:t>
            </a:r>
            <a:endParaRPr lang="en-US" sz="1000" dirty="0"/>
          </a:p>
        </p:txBody>
      </p:sp>
      <p:sp>
        <p:nvSpPr>
          <p:cNvPr id="3" name="Text 1"/>
          <p:cNvSpPr/>
          <p:nvPr/>
        </p:nvSpPr>
        <p:spPr>
          <a:xfrm>
            <a:off x="566928" y="402336"/>
            <a:ext cx="11055096" cy="713232"/>
          </a:xfrm>
          <a:prstGeom prst="rect">
            <a:avLst/>
          </a:prstGeom>
          <a:noFill/>
          <a:ln/>
        </p:spPr>
        <p:txBody>
          <a:bodyPr wrap="square" lIns="0" tIns="0" rIns="0" bIns="0" rtlCol="0" anchor="ctr"/>
          <a:lstStyle/>
          <a:p>
            <a:pPr indent="0" marL="0">
              <a:buNone/>
            </a:pPr>
            <a:r>
              <a:rPr lang="en-US" sz="3400" b="1" dirty="0">
                <a:solidFill>
                  <a:srgbClr val="0F1620"/>
                </a:solidFill>
                <a:latin typeface="Arial" pitchFamily="34" charset="0"/>
                <a:ea typeface="Arial" pitchFamily="34" charset="-122"/>
                <a:cs typeface="Arial" pitchFamily="34" charset="-120"/>
              </a:rPr>
              <a:t>What it produces</a:t>
            </a:r>
            <a:endParaRPr lang="en-US" sz="3400" dirty="0"/>
          </a:p>
        </p:txBody>
      </p:sp>
      <p:sp>
        <p:nvSpPr>
          <p:cNvPr id="4" name="Text 2"/>
          <p:cNvSpPr/>
          <p:nvPr/>
        </p:nvSpPr>
        <p:spPr>
          <a:xfrm>
            <a:off x="566928" y="1115568"/>
            <a:ext cx="11055096" cy="402336"/>
          </a:xfrm>
          <a:prstGeom prst="rect">
            <a:avLst/>
          </a:prstGeom>
          <a:noFill/>
          <a:ln/>
        </p:spPr>
        <p:txBody>
          <a:bodyPr wrap="square" lIns="0" tIns="0" rIns="0" bIns="0" rtlCol="0" anchor="ctr"/>
          <a:lstStyle/>
          <a:p>
            <a:pPr indent="0" marL="0">
              <a:buNone/>
            </a:pPr>
            <a:r>
              <a:rPr lang="en-US" sz="1450" dirty="0">
                <a:solidFill>
                  <a:srgbClr val="55606E"/>
                </a:solidFill>
                <a:latin typeface="Calibri" pitchFamily="34" charset="0"/>
                <a:ea typeface="Calibri" pitchFamily="34" charset="-122"/>
                <a:cs typeface="Calibri" pitchFamily="34" charset="-120"/>
              </a:rPr>
              <a:t>Measured on a live org: 131 in-scope components, roughly 90 API calls per run.</a:t>
            </a:r>
            <a:endParaRPr lang="en-US" sz="1450" dirty="0"/>
          </a:p>
        </p:txBody>
      </p:sp>
      <p:sp>
        <p:nvSpPr>
          <p:cNvPr id="5" name="Shape 3"/>
          <p:cNvSpPr/>
          <p:nvPr/>
        </p:nvSpPr>
        <p:spPr>
          <a:xfrm>
            <a:off x="566928" y="1792224"/>
            <a:ext cx="2633472" cy="1481328"/>
          </a:xfrm>
          <a:prstGeom prst="roundRect">
            <a:avLst>
              <a:gd name="adj" fmla="val 3704"/>
            </a:avLst>
          </a:prstGeom>
          <a:solidFill>
            <a:srgbClr val="F6F8FB"/>
          </a:solidFill>
          <a:ln w="12700">
            <a:solidFill>
              <a:srgbClr val="DDE4EC"/>
            </a:solidFill>
            <a:prstDash val="solid"/>
          </a:ln>
        </p:spPr>
      </p:sp>
      <p:sp>
        <p:nvSpPr>
          <p:cNvPr id="6" name="Text 4"/>
          <p:cNvSpPr/>
          <p:nvPr/>
        </p:nvSpPr>
        <p:spPr>
          <a:xfrm>
            <a:off x="822960" y="1938528"/>
            <a:ext cx="2103120" cy="694944"/>
          </a:xfrm>
          <a:prstGeom prst="rect">
            <a:avLst/>
          </a:prstGeom>
          <a:noFill/>
          <a:ln/>
        </p:spPr>
        <p:txBody>
          <a:bodyPr wrap="square" lIns="0" tIns="0" rIns="0" bIns="0" rtlCol="0" anchor="ctr"/>
          <a:lstStyle/>
          <a:p>
            <a:pPr indent="0" marL="0">
              <a:buNone/>
            </a:pPr>
            <a:r>
              <a:rPr lang="en-US" sz="4600" b="1" dirty="0">
                <a:solidFill>
                  <a:srgbClr val="F0A030"/>
                </a:solidFill>
                <a:latin typeface="Arial" pitchFamily="34" charset="0"/>
                <a:ea typeface="Arial" pitchFamily="34" charset="-122"/>
                <a:cs typeface="Arial" pitchFamily="34" charset="-120"/>
              </a:rPr>
              <a:t>25</a:t>
            </a:r>
            <a:endParaRPr lang="en-US" sz="4600" dirty="0"/>
          </a:p>
        </p:txBody>
      </p:sp>
      <p:sp>
        <p:nvSpPr>
          <p:cNvPr id="7" name="Text 5"/>
          <p:cNvSpPr/>
          <p:nvPr/>
        </p:nvSpPr>
        <p:spPr>
          <a:xfrm>
            <a:off x="822960" y="2688336"/>
            <a:ext cx="2194560" cy="457200"/>
          </a:xfrm>
          <a:prstGeom prst="rect">
            <a:avLst/>
          </a:prstGeom>
          <a:noFill/>
          <a:ln/>
        </p:spPr>
        <p:txBody>
          <a:bodyPr wrap="square" lIns="0" tIns="0" rIns="0" bIns="0" rtlCol="0" anchor="ctr"/>
          <a:lstStyle/>
          <a:p>
            <a:pPr indent="0" marL="0">
              <a:lnSpc>
                <a:spcPts val="1400"/>
              </a:lnSpc>
              <a:buNone/>
            </a:pPr>
            <a:r>
              <a:rPr lang="en-US" sz="1150" dirty="0">
                <a:solidFill>
                  <a:srgbClr val="5A6472"/>
                </a:solidFill>
                <a:latin typeface="Calibri" pitchFamily="34" charset="0"/>
                <a:ea typeface="Calibri" pitchFamily="34" charset="-122"/>
                <a:cs typeface="Calibri" pitchFamily="34" charset="-120"/>
              </a:rPr>
              <a:t>confidently unused</a:t>
            </a:r>
            <a:endParaRPr lang="en-US" sz="1150" dirty="0"/>
          </a:p>
        </p:txBody>
      </p:sp>
      <p:sp>
        <p:nvSpPr>
          <p:cNvPr id="8" name="Shape 6"/>
          <p:cNvSpPr/>
          <p:nvPr/>
        </p:nvSpPr>
        <p:spPr>
          <a:xfrm>
            <a:off x="3410712" y="1792224"/>
            <a:ext cx="2633472" cy="1481328"/>
          </a:xfrm>
          <a:prstGeom prst="roundRect">
            <a:avLst>
              <a:gd name="adj" fmla="val 3704"/>
            </a:avLst>
          </a:prstGeom>
          <a:solidFill>
            <a:srgbClr val="F6F8FB"/>
          </a:solidFill>
          <a:ln w="12700">
            <a:solidFill>
              <a:srgbClr val="DDE4EC"/>
            </a:solidFill>
            <a:prstDash val="solid"/>
          </a:ln>
        </p:spPr>
      </p:sp>
      <p:sp>
        <p:nvSpPr>
          <p:cNvPr id="9" name="Text 7"/>
          <p:cNvSpPr/>
          <p:nvPr/>
        </p:nvSpPr>
        <p:spPr>
          <a:xfrm>
            <a:off x="3666744" y="1938528"/>
            <a:ext cx="2103120" cy="694944"/>
          </a:xfrm>
          <a:prstGeom prst="rect">
            <a:avLst/>
          </a:prstGeom>
          <a:noFill/>
          <a:ln/>
        </p:spPr>
        <p:txBody>
          <a:bodyPr wrap="square" lIns="0" tIns="0" rIns="0" bIns="0" rtlCol="0" anchor="ctr"/>
          <a:lstStyle/>
          <a:p>
            <a:pPr indent="0" marL="0">
              <a:buNone/>
            </a:pPr>
            <a:r>
              <a:rPr lang="en-US" sz="4600" b="1" dirty="0">
                <a:solidFill>
                  <a:srgbClr val="3FBF92"/>
                </a:solidFill>
                <a:latin typeface="Arial" pitchFamily="34" charset="0"/>
                <a:ea typeface="Arial" pitchFamily="34" charset="-122"/>
                <a:cs typeface="Arial" pitchFamily="34" charset="-120"/>
              </a:rPr>
              <a:t>13</a:t>
            </a:r>
            <a:endParaRPr lang="en-US" sz="4600" dirty="0"/>
          </a:p>
        </p:txBody>
      </p:sp>
      <p:sp>
        <p:nvSpPr>
          <p:cNvPr id="10" name="Text 8"/>
          <p:cNvSpPr/>
          <p:nvPr/>
        </p:nvSpPr>
        <p:spPr>
          <a:xfrm>
            <a:off x="3666744" y="2688336"/>
            <a:ext cx="2194560" cy="457200"/>
          </a:xfrm>
          <a:prstGeom prst="rect">
            <a:avLst/>
          </a:prstGeom>
          <a:noFill/>
          <a:ln/>
        </p:spPr>
        <p:txBody>
          <a:bodyPr wrap="square" lIns="0" tIns="0" rIns="0" bIns="0" rtlCol="0" anchor="ctr"/>
          <a:lstStyle/>
          <a:p>
            <a:pPr indent="0" marL="0">
              <a:lnSpc>
                <a:spcPts val="1400"/>
              </a:lnSpc>
              <a:buNone/>
            </a:pPr>
            <a:r>
              <a:rPr lang="en-US" sz="1150" dirty="0">
                <a:solidFill>
                  <a:srgbClr val="5A6472"/>
                </a:solidFill>
                <a:latin typeface="Calibri" pitchFamily="34" charset="0"/>
                <a:ea typeface="Calibri" pitchFamily="34" charset="-122"/>
                <a:cs typeface="Calibri" pitchFamily="34" charset="-120"/>
              </a:rPr>
              <a:t>server-validated by Salesforce</a:t>
            </a:r>
            <a:endParaRPr lang="en-US" sz="1150" dirty="0"/>
          </a:p>
        </p:txBody>
      </p:sp>
      <p:sp>
        <p:nvSpPr>
          <p:cNvPr id="11" name="Shape 9"/>
          <p:cNvSpPr/>
          <p:nvPr/>
        </p:nvSpPr>
        <p:spPr>
          <a:xfrm>
            <a:off x="6254496" y="1792224"/>
            <a:ext cx="2633472" cy="1481328"/>
          </a:xfrm>
          <a:prstGeom prst="roundRect">
            <a:avLst>
              <a:gd name="adj" fmla="val 3704"/>
            </a:avLst>
          </a:prstGeom>
          <a:solidFill>
            <a:srgbClr val="F6F8FB"/>
          </a:solidFill>
          <a:ln w="12700">
            <a:solidFill>
              <a:srgbClr val="DDE4EC"/>
            </a:solidFill>
            <a:prstDash val="solid"/>
          </a:ln>
        </p:spPr>
      </p:sp>
      <p:sp>
        <p:nvSpPr>
          <p:cNvPr id="12" name="Text 10"/>
          <p:cNvSpPr/>
          <p:nvPr/>
        </p:nvSpPr>
        <p:spPr>
          <a:xfrm>
            <a:off x="6510528" y="1938528"/>
            <a:ext cx="2103120" cy="694944"/>
          </a:xfrm>
          <a:prstGeom prst="rect">
            <a:avLst/>
          </a:prstGeom>
          <a:noFill/>
          <a:ln/>
        </p:spPr>
        <p:txBody>
          <a:bodyPr wrap="square" lIns="0" tIns="0" rIns="0" bIns="0" rtlCol="0" anchor="ctr"/>
          <a:lstStyle/>
          <a:p>
            <a:pPr indent="0" marL="0">
              <a:buNone/>
            </a:pPr>
            <a:r>
              <a:rPr lang="en-US" sz="4600" b="1" dirty="0">
                <a:solidFill>
                  <a:srgbClr val="6E8CF5"/>
                </a:solidFill>
                <a:latin typeface="Arial" pitchFamily="34" charset="0"/>
                <a:ea typeface="Arial" pitchFamily="34" charset="-122"/>
                <a:cs typeface="Arial" pitchFamily="34" charset="-120"/>
              </a:rPr>
              <a:t>19</a:t>
            </a:r>
            <a:endParaRPr lang="en-US" sz="4600" dirty="0"/>
          </a:p>
        </p:txBody>
      </p:sp>
      <p:sp>
        <p:nvSpPr>
          <p:cNvPr id="13" name="Text 11"/>
          <p:cNvSpPr/>
          <p:nvPr/>
        </p:nvSpPr>
        <p:spPr>
          <a:xfrm>
            <a:off x="6510528" y="2688336"/>
            <a:ext cx="2194560" cy="457200"/>
          </a:xfrm>
          <a:prstGeom prst="rect">
            <a:avLst/>
          </a:prstGeom>
          <a:noFill/>
          <a:ln/>
        </p:spPr>
        <p:txBody>
          <a:bodyPr wrap="square" lIns="0" tIns="0" rIns="0" bIns="0" rtlCol="0" anchor="ctr"/>
          <a:lstStyle/>
          <a:p>
            <a:pPr indent="0" marL="0">
              <a:lnSpc>
                <a:spcPts val="1400"/>
              </a:lnSpc>
              <a:buNone/>
            </a:pPr>
            <a:r>
              <a:rPr lang="en-US" sz="1150" dirty="0">
                <a:solidFill>
                  <a:srgbClr val="5A6472"/>
                </a:solidFill>
                <a:latin typeface="Calibri" pitchFamily="34" charset="0"/>
                <a:ea typeface="Calibri" pitchFamily="34" charset="-122"/>
                <a:cs typeface="Calibri" pitchFamily="34" charset="-120"/>
              </a:rPr>
              <a:t>need a human decision</a:t>
            </a:r>
            <a:endParaRPr lang="en-US" sz="1150" dirty="0"/>
          </a:p>
        </p:txBody>
      </p:sp>
      <p:sp>
        <p:nvSpPr>
          <p:cNvPr id="14" name="Shape 12"/>
          <p:cNvSpPr/>
          <p:nvPr/>
        </p:nvSpPr>
        <p:spPr>
          <a:xfrm>
            <a:off x="9098280" y="1792224"/>
            <a:ext cx="2633472" cy="1481328"/>
          </a:xfrm>
          <a:prstGeom prst="roundRect">
            <a:avLst>
              <a:gd name="adj" fmla="val 3704"/>
            </a:avLst>
          </a:prstGeom>
          <a:solidFill>
            <a:srgbClr val="F6F8FB"/>
          </a:solidFill>
          <a:ln w="12700">
            <a:solidFill>
              <a:srgbClr val="DDE4EC"/>
            </a:solidFill>
            <a:prstDash val="solid"/>
          </a:ln>
        </p:spPr>
      </p:sp>
      <p:sp>
        <p:nvSpPr>
          <p:cNvPr id="15" name="Text 13"/>
          <p:cNvSpPr/>
          <p:nvPr/>
        </p:nvSpPr>
        <p:spPr>
          <a:xfrm>
            <a:off x="9354312" y="1938528"/>
            <a:ext cx="2103120" cy="694944"/>
          </a:xfrm>
          <a:prstGeom prst="rect">
            <a:avLst/>
          </a:prstGeom>
          <a:noFill/>
          <a:ln/>
        </p:spPr>
        <p:txBody>
          <a:bodyPr wrap="square" lIns="0" tIns="0" rIns="0" bIns="0" rtlCol="0" anchor="ctr"/>
          <a:lstStyle/>
          <a:p>
            <a:pPr indent="0" marL="0">
              <a:buNone/>
            </a:pPr>
            <a:r>
              <a:rPr lang="en-US" sz="4600" b="1" dirty="0">
                <a:solidFill>
                  <a:srgbClr val="0F1620"/>
                </a:solidFill>
                <a:latin typeface="Arial" pitchFamily="34" charset="0"/>
                <a:ea typeface="Arial" pitchFamily="34" charset="-122"/>
                <a:cs typeface="Arial" pitchFamily="34" charset="-120"/>
              </a:rPr>
              <a:t>0</a:t>
            </a:r>
            <a:endParaRPr lang="en-US" sz="4600" dirty="0"/>
          </a:p>
        </p:txBody>
      </p:sp>
      <p:sp>
        <p:nvSpPr>
          <p:cNvPr id="16" name="Text 14"/>
          <p:cNvSpPr/>
          <p:nvPr/>
        </p:nvSpPr>
        <p:spPr>
          <a:xfrm>
            <a:off x="9354312" y="2688336"/>
            <a:ext cx="2194560" cy="457200"/>
          </a:xfrm>
          <a:prstGeom prst="rect">
            <a:avLst/>
          </a:prstGeom>
          <a:noFill/>
          <a:ln/>
        </p:spPr>
        <p:txBody>
          <a:bodyPr wrap="square" lIns="0" tIns="0" rIns="0" bIns="0" rtlCol="0" anchor="ctr"/>
          <a:lstStyle/>
          <a:p>
            <a:pPr indent="0" marL="0">
              <a:lnSpc>
                <a:spcPts val="1400"/>
              </a:lnSpc>
              <a:buNone/>
            </a:pPr>
            <a:r>
              <a:rPr lang="en-US" sz="1150" dirty="0">
                <a:solidFill>
                  <a:srgbClr val="5A6472"/>
                </a:solidFill>
                <a:latin typeface="Calibri" pitchFamily="34" charset="0"/>
                <a:ea typeface="Calibri" pitchFamily="34" charset="-122"/>
                <a:cs typeface="Calibri" pitchFamily="34" charset="-120"/>
              </a:rPr>
              <a:t>confirmed false positives</a:t>
            </a:r>
            <a:endParaRPr lang="en-US" sz="1150" dirty="0"/>
          </a:p>
        </p:txBody>
      </p:sp>
      <p:graphicFrame>
        <p:nvGraphicFramePr>
          <p:cNvPr id="17" name="Chart 0" descr=""/>
          <p:cNvGraphicFramePr/>
          <p:nvPr/>
        </p:nvGraphicFramePr>
        <p:xfrm>
          <a:off x="566928" y="3529584"/>
          <a:ext cx="5577840" cy="2450592"/>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p:nvPr/>
        </p:nvSpPr>
        <p:spPr>
          <a:xfrm>
            <a:off x="6583680" y="3566160"/>
            <a:ext cx="4572000" cy="292608"/>
          </a:xfrm>
          <a:prstGeom prst="rect">
            <a:avLst/>
          </a:prstGeom>
          <a:noFill/>
          <a:ln/>
        </p:spPr>
        <p:txBody>
          <a:bodyPr wrap="square" lIns="0" tIns="0" rIns="0" bIns="0" rtlCol="0" anchor="ctr"/>
          <a:lstStyle/>
          <a:p>
            <a:pPr indent="0" marL="0">
              <a:buNone/>
            </a:pPr>
            <a:r>
              <a:rPr lang="en-US" sz="1500" b="1" dirty="0">
                <a:solidFill>
                  <a:srgbClr val="0F1620"/>
                </a:solidFill>
                <a:latin typeface="Arial" pitchFamily="34" charset="0"/>
                <a:ea typeface="Arial" pitchFamily="34" charset="-122"/>
                <a:cs typeface="Arial" pitchFamily="34" charset="-120"/>
              </a:rPr>
              <a:t>Deliverables</a:t>
            </a:r>
            <a:endParaRPr lang="en-US" sz="1500" dirty="0"/>
          </a:p>
        </p:txBody>
      </p:sp>
      <p:sp>
        <p:nvSpPr>
          <p:cNvPr id="19" name="Text 16"/>
          <p:cNvSpPr/>
          <p:nvPr/>
        </p:nvSpPr>
        <p:spPr>
          <a:xfrm>
            <a:off x="6583680" y="3986784"/>
            <a:ext cx="5029200" cy="365760"/>
          </a:xfrm>
          <a:prstGeom prst="rect">
            <a:avLst/>
          </a:prstGeom>
          <a:noFill/>
          <a:ln/>
        </p:spPr>
        <p:txBody>
          <a:bodyPr wrap="square" lIns="0" tIns="0" rIns="0" bIns="0" rtlCol="0" anchor="ctr"/>
          <a:lstStyle/>
          <a:p>
            <a:pPr marL="342900" indent="-342900">
              <a:buSzPct val="100000"/>
              <a:buChar char="•"/>
            </a:pPr>
            <a:r>
              <a:rPr lang="en-US" sz="1250" dirty="0">
                <a:solidFill>
                  <a:srgbClr val="5A6472"/>
                </a:solidFill>
                <a:latin typeface="Calibri" pitchFamily="34" charset="0"/>
                <a:ea typeface="Calibri" pitchFamily="34" charset="-122"/>
                <a:cs typeface="Calibri" pitchFamily="34" charset="-120"/>
              </a:rPr>
              <a:t>Working spreadsheet with a full evidence sheet</a:t>
            </a:r>
            <a:endParaRPr lang="en-US" sz="1250" dirty="0"/>
          </a:p>
        </p:txBody>
      </p:sp>
      <p:sp>
        <p:nvSpPr>
          <p:cNvPr id="20" name="Text 17"/>
          <p:cNvSpPr/>
          <p:nvPr/>
        </p:nvSpPr>
        <p:spPr>
          <a:xfrm>
            <a:off x="6583680" y="4389120"/>
            <a:ext cx="5029200" cy="365760"/>
          </a:xfrm>
          <a:prstGeom prst="rect">
            <a:avLst/>
          </a:prstGeom>
          <a:noFill/>
          <a:ln/>
        </p:spPr>
        <p:txBody>
          <a:bodyPr wrap="square" lIns="0" tIns="0" rIns="0" bIns="0" rtlCol="0" anchor="ctr"/>
          <a:lstStyle/>
          <a:p>
            <a:pPr marL="342900" indent="-342900">
              <a:buSzPct val="100000"/>
              <a:buChar char="•"/>
            </a:pPr>
            <a:r>
              <a:rPr lang="en-US" sz="1250" dirty="0">
                <a:solidFill>
                  <a:srgbClr val="5A6472"/>
                </a:solidFill>
                <a:latin typeface="Calibri" pitchFamily="34" charset="0"/>
                <a:ea typeface="Calibri" pitchFamily="34" charset="-122"/>
                <a:cs typeface="Calibri" pitchFamily="34" charset="-120"/>
              </a:rPr>
              <a:t>Markdown report for Confluence or a pull request</a:t>
            </a:r>
            <a:endParaRPr lang="en-US" sz="1250" dirty="0"/>
          </a:p>
        </p:txBody>
      </p:sp>
      <p:sp>
        <p:nvSpPr>
          <p:cNvPr id="21" name="Text 18"/>
          <p:cNvSpPr/>
          <p:nvPr/>
        </p:nvSpPr>
        <p:spPr>
          <a:xfrm>
            <a:off x="6583680" y="4791456"/>
            <a:ext cx="5029200" cy="365760"/>
          </a:xfrm>
          <a:prstGeom prst="rect">
            <a:avLst/>
          </a:prstGeom>
          <a:noFill/>
          <a:ln/>
        </p:spPr>
        <p:txBody>
          <a:bodyPr wrap="square" lIns="0" tIns="0" rIns="0" bIns="0" rtlCol="0" anchor="ctr"/>
          <a:lstStyle/>
          <a:p>
            <a:pPr marL="342900" indent="-342900">
              <a:buSzPct val="100000"/>
              <a:buChar char="•"/>
            </a:pPr>
            <a:r>
              <a:rPr lang="en-US" sz="1250" dirty="0">
                <a:solidFill>
                  <a:srgbClr val="5A6472"/>
                </a:solidFill>
                <a:latin typeface="Calibri" pitchFamily="34" charset="0"/>
                <a:ea typeface="Calibri" pitchFamily="34" charset="-122"/>
                <a:cs typeface="Calibri" pitchFamily="34" charset="-120"/>
              </a:rPr>
              <a:t>Versioned JSON for scripting and run-over-run diffs</a:t>
            </a:r>
            <a:endParaRPr lang="en-US" sz="1250" dirty="0"/>
          </a:p>
        </p:txBody>
      </p:sp>
      <p:sp>
        <p:nvSpPr>
          <p:cNvPr id="22" name="Text 19"/>
          <p:cNvSpPr/>
          <p:nvPr/>
        </p:nvSpPr>
        <p:spPr>
          <a:xfrm>
            <a:off x="6583680" y="5193792"/>
            <a:ext cx="5029200" cy="365760"/>
          </a:xfrm>
          <a:prstGeom prst="rect">
            <a:avLst/>
          </a:prstGeom>
          <a:noFill/>
          <a:ln/>
        </p:spPr>
        <p:txBody>
          <a:bodyPr wrap="square" lIns="0" tIns="0" rIns="0" bIns="0" rtlCol="0" anchor="ctr"/>
          <a:lstStyle/>
          <a:p>
            <a:pPr marL="342900" indent="-342900">
              <a:buSzPct val="100000"/>
              <a:buChar char="•"/>
            </a:pPr>
            <a:r>
              <a:rPr lang="en-US" sz="1250" dirty="0">
                <a:solidFill>
                  <a:srgbClr val="5A6472"/>
                </a:solidFill>
                <a:latin typeface="Calibri" pitchFamily="34" charset="0"/>
                <a:ea typeface="Calibri" pitchFamily="34" charset="-122"/>
                <a:cs typeface="Calibri" pitchFamily="34" charset="-120"/>
              </a:rPr>
              <a:t>Deployable destructiveChanges.xml for the approved set</a:t>
            </a:r>
            <a:endParaRPr lang="en-US" sz="1250" dirty="0"/>
          </a:p>
        </p:txBody>
      </p:sp>
      <p:sp>
        <p:nvSpPr>
          <p:cNvPr id="23" name="Text 20"/>
          <p:cNvSpPr/>
          <p:nvPr/>
        </p:nvSpPr>
        <p:spPr>
          <a:xfrm>
            <a:off x="6583680" y="5596128"/>
            <a:ext cx="5029200" cy="365760"/>
          </a:xfrm>
          <a:prstGeom prst="rect">
            <a:avLst/>
          </a:prstGeom>
          <a:noFill/>
          <a:ln/>
        </p:spPr>
        <p:txBody>
          <a:bodyPr wrap="square" lIns="0" tIns="0" rIns="0" bIns="0" rtlCol="0" anchor="ctr"/>
          <a:lstStyle/>
          <a:p>
            <a:pPr marL="342900" indent="-342900">
              <a:buSzPct val="100000"/>
              <a:buChar char="•"/>
            </a:pPr>
            <a:r>
              <a:rPr lang="en-US" sz="1250" dirty="0">
                <a:solidFill>
                  <a:srgbClr val="5A6472"/>
                </a:solidFill>
                <a:latin typeface="Calibri" pitchFamily="34" charset="0"/>
                <a:ea typeface="Calibri" pitchFamily="34" charset="-122"/>
                <a:cs typeface="Calibri" pitchFamily="34" charset="-120"/>
              </a:rPr>
              <a:t>Interactive dependency graph and review console</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11411712" y="6455664"/>
            <a:ext cx="365760" cy="274320"/>
          </a:xfrm>
          <a:prstGeom prst="rect">
            <a:avLst/>
          </a:prstGeom>
          <a:noFill/>
          <a:ln/>
        </p:spPr>
        <p:txBody>
          <a:bodyPr wrap="square" lIns="0" tIns="0" rIns="0" bIns="0" rtlCol="0" anchor="ctr"/>
          <a:lstStyle/>
          <a:p>
            <a:pPr algn="r" indent="0" marL="0">
              <a:buNone/>
            </a:pPr>
            <a:r>
              <a:rPr lang="en-US" sz="1000" dirty="0">
                <a:solidFill>
                  <a:srgbClr val="76849A"/>
                </a:solidFill>
                <a:latin typeface="Calibri" pitchFamily="34" charset="0"/>
                <a:ea typeface="Calibri" pitchFamily="34" charset="-122"/>
                <a:cs typeface="Calibri" pitchFamily="34" charset="-120"/>
              </a:rPr>
              <a:t>21</a:t>
            </a:r>
            <a:endParaRPr lang="en-US" sz="1000" dirty="0"/>
          </a:p>
        </p:txBody>
      </p:sp>
      <p:sp>
        <p:nvSpPr>
          <p:cNvPr id="3" name="Shape 1"/>
          <p:cNvSpPr/>
          <p:nvPr/>
        </p:nvSpPr>
        <p:spPr>
          <a:xfrm>
            <a:off x="-1737360" y="3017520"/>
            <a:ext cx="6035040" cy="6035040"/>
          </a:xfrm>
          <a:prstGeom prst="ellipse">
            <a:avLst/>
          </a:prstGeom>
          <a:solidFill>
            <a:srgbClr val="29B6D8">
              <a:alpha val="10000"/>
            </a:srgbClr>
          </a:solidFill>
          <a:ln w="12700">
            <a:solidFill>
              <a:srgbClr val="0F1620"/>
            </a:solidFill>
            <a:prstDash val="solid"/>
          </a:ln>
        </p:spPr>
      </p:sp>
      <p:sp>
        <p:nvSpPr>
          <p:cNvPr id="4" name="Text 2"/>
          <p:cNvSpPr/>
          <p:nvPr/>
        </p:nvSpPr>
        <p:spPr>
          <a:xfrm>
            <a:off x="566928" y="1371600"/>
            <a:ext cx="8229600" cy="658368"/>
          </a:xfrm>
          <a:prstGeom prst="rect">
            <a:avLst/>
          </a:prstGeom>
          <a:noFill/>
          <a:ln/>
        </p:spPr>
        <p:txBody>
          <a:bodyPr wrap="square" lIns="0" tIns="0" rIns="0" bIns="0" rtlCol="0" anchor="ctr"/>
          <a:lstStyle/>
          <a:p>
            <a:pPr indent="0" marL="0">
              <a:buNone/>
            </a:pPr>
            <a:r>
              <a:rPr lang="en-US" sz="3400" b="1" dirty="0">
                <a:solidFill>
                  <a:srgbClr val="F2F5F8"/>
                </a:solidFill>
                <a:latin typeface="Arial" pitchFamily="34" charset="0"/>
                <a:ea typeface="Arial" pitchFamily="34" charset="-122"/>
                <a:cs typeface="Arial" pitchFamily="34" charset="-120"/>
              </a:rPr>
              <a:t>Why this approach wins</a:t>
            </a:r>
            <a:endParaRPr lang="en-US" sz="3400" dirty="0"/>
          </a:p>
        </p:txBody>
      </p:sp>
      <p:sp>
        <p:nvSpPr>
          <p:cNvPr id="5" name="Shape 3"/>
          <p:cNvSpPr/>
          <p:nvPr/>
        </p:nvSpPr>
        <p:spPr>
          <a:xfrm>
            <a:off x="4480560" y="2432304"/>
            <a:ext cx="347472" cy="347472"/>
          </a:xfrm>
          <a:prstGeom prst="ellipse">
            <a:avLst/>
          </a:prstGeom>
          <a:solidFill>
            <a:srgbClr val="29B6D8"/>
          </a:solidFill>
          <a:ln/>
        </p:spPr>
      </p:sp>
      <p:sp>
        <p:nvSpPr>
          <p:cNvPr id="6" name="Text 4"/>
          <p:cNvSpPr/>
          <p:nvPr/>
        </p:nvSpPr>
        <p:spPr>
          <a:xfrm>
            <a:off x="4480560" y="2432304"/>
            <a:ext cx="347472" cy="347472"/>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1</a:t>
            </a:r>
            <a:endParaRPr lang="en-US" sz="1250" dirty="0"/>
          </a:p>
        </p:txBody>
      </p:sp>
      <p:sp>
        <p:nvSpPr>
          <p:cNvPr id="7" name="Text 5"/>
          <p:cNvSpPr/>
          <p:nvPr/>
        </p:nvSpPr>
        <p:spPr>
          <a:xfrm>
            <a:off x="4974336" y="2359152"/>
            <a:ext cx="2194560" cy="292608"/>
          </a:xfrm>
          <a:prstGeom prst="rect">
            <a:avLst/>
          </a:prstGeom>
          <a:noFill/>
          <a:ln/>
        </p:spPr>
        <p:txBody>
          <a:bodyPr wrap="square" lIns="0" tIns="0" rIns="0" bIns="0" rtlCol="0" anchor="ctr"/>
          <a:lstStyle/>
          <a:p>
            <a:pPr indent="0" marL="0">
              <a:buNone/>
            </a:pPr>
            <a:r>
              <a:rPr lang="en-US" sz="1500" b="1" dirty="0">
                <a:solidFill>
                  <a:srgbClr val="F2F5F8"/>
                </a:solidFill>
                <a:latin typeface="Arial" pitchFamily="34" charset="0"/>
                <a:ea typeface="Arial" pitchFamily="34" charset="-122"/>
                <a:cs typeface="Arial" pitchFamily="34" charset="-120"/>
              </a:rPr>
              <a:t>Reproducible</a:t>
            </a:r>
            <a:endParaRPr lang="en-US" sz="1500" dirty="0"/>
          </a:p>
        </p:txBody>
      </p:sp>
      <p:sp>
        <p:nvSpPr>
          <p:cNvPr id="8" name="Text 6"/>
          <p:cNvSpPr/>
          <p:nvPr/>
        </p:nvSpPr>
        <p:spPr>
          <a:xfrm>
            <a:off x="7223760" y="2359152"/>
            <a:ext cx="4389120" cy="585216"/>
          </a:xfrm>
          <a:prstGeom prst="rect">
            <a:avLst/>
          </a:prstGeom>
          <a:noFill/>
          <a:ln/>
        </p:spPr>
        <p:txBody>
          <a:bodyPr wrap="square" lIns="0" tIns="0" rIns="0" bIns="0" rtlCol="0" anchor="ctr"/>
          <a:lstStyle/>
          <a:p>
            <a:pPr indent="0" marL="0">
              <a:lnSpc>
                <a:spcPts val="1600"/>
              </a:lnSpc>
              <a:buNone/>
            </a:pPr>
            <a:r>
              <a:rPr lang="en-US" sz="1200" dirty="0">
                <a:solidFill>
                  <a:srgbClr val="A8B4C4"/>
                </a:solidFill>
                <a:latin typeface="Calibri" pitchFamily="34" charset="0"/>
                <a:ea typeface="Calibri" pitchFamily="34" charset="-122"/>
                <a:cs typeface="Calibri" pitchFamily="34" charset="-120"/>
              </a:rPr>
              <a:t>The same org yields the same answer. Findings can be re-checked, diffed and audited.</a:t>
            </a:r>
            <a:endParaRPr lang="en-US" sz="1200" dirty="0"/>
          </a:p>
        </p:txBody>
      </p:sp>
      <p:sp>
        <p:nvSpPr>
          <p:cNvPr id="9" name="Shape 7"/>
          <p:cNvSpPr/>
          <p:nvPr/>
        </p:nvSpPr>
        <p:spPr>
          <a:xfrm>
            <a:off x="4480560" y="3163824"/>
            <a:ext cx="347472" cy="347472"/>
          </a:xfrm>
          <a:prstGeom prst="ellipse">
            <a:avLst/>
          </a:prstGeom>
          <a:solidFill>
            <a:srgbClr val="29B6D8"/>
          </a:solidFill>
          <a:ln/>
        </p:spPr>
      </p:sp>
      <p:sp>
        <p:nvSpPr>
          <p:cNvPr id="10" name="Text 8"/>
          <p:cNvSpPr/>
          <p:nvPr/>
        </p:nvSpPr>
        <p:spPr>
          <a:xfrm>
            <a:off x="4480560" y="3163824"/>
            <a:ext cx="347472" cy="347472"/>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2</a:t>
            </a:r>
            <a:endParaRPr lang="en-US" sz="1250" dirty="0"/>
          </a:p>
        </p:txBody>
      </p:sp>
      <p:sp>
        <p:nvSpPr>
          <p:cNvPr id="11" name="Text 9"/>
          <p:cNvSpPr/>
          <p:nvPr/>
        </p:nvSpPr>
        <p:spPr>
          <a:xfrm>
            <a:off x="4974336" y="3090672"/>
            <a:ext cx="2194560" cy="292608"/>
          </a:xfrm>
          <a:prstGeom prst="rect">
            <a:avLst/>
          </a:prstGeom>
          <a:noFill/>
          <a:ln/>
        </p:spPr>
        <p:txBody>
          <a:bodyPr wrap="square" lIns="0" tIns="0" rIns="0" bIns="0" rtlCol="0" anchor="ctr"/>
          <a:lstStyle/>
          <a:p>
            <a:pPr indent="0" marL="0">
              <a:buNone/>
            </a:pPr>
            <a:r>
              <a:rPr lang="en-US" sz="1500" b="1" dirty="0">
                <a:solidFill>
                  <a:srgbClr val="F2F5F8"/>
                </a:solidFill>
                <a:latin typeface="Arial" pitchFamily="34" charset="0"/>
                <a:ea typeface="Arial" pitchFamily="34" charset="-122"/>
                <a:cs typeface="Arial" pitchFamily="34" charset="-120"/>
              </a:rPr>
              <a:t>Defensible</a:t>
            </a:r>
            <a:endParaRPr lang="en-US" sz="1500" dirty="0"/>
          </a:p>
        </p:txBody>
      </p:sp>
      <p:sp>
        <p:nvSpPr>
          <p:cNvPr id="12" name="Text 10"/>
          <p:cNvSpPr/>
          <p:nvPr/>
        </p:nvSpPr>
        <p:spPr>
          <a:xfrm>
            <a:off x="7223760" y="3090672"/>
            <a:ext cx="4389120" cy="585216"/>
          </a:xfrm>
          <a:prstGeom prst="rect">
            <a:avLst/>
          </a:prstGeom>
          <a:noFill/>
          <a:ln/>
        </p:spPr>
        <p:txBody>
          <a:bodyPr wrap="square" lIns="0" tIns="0" rIns="0" bIns="0" rtlCol="0" anchor="ctr"/>
          <a:lstStyle/>
          <a:p>
            <a:pPr indent="0" marL="0">
              <a:lnSpc>
                <a:spcPts val="1600"/>
              </a:lnSpc>
              <a:buNone/>
            </a:pPr>
            <a:r>
              <a:rPr lang="en-US" sz="1200" dirty="0">
                <a:solidFill>
                  <a:srgbClr val="A8B4C4"/>
                </a:solidFill>
                <a:latin typeface="Calibri" pitchFamily="34" charset="0"/>
                <a:ea typeface="Calibri" pitchFamily="34" charset="-122"/>
                <a:cs typeface="Calibri" pitchFamily="34" charset="-120"/>
              </a:rPr>
              <a:t>Every verdict names the places searched, including the ones that came back empty.</a:t>
            </a:r>
            <a:endParaRPr lang="en-US" sz="1200" dirty="0"/>
          </a:p>
        </p:txBody>
      </p:sp>
      <p:sp>
        <p:nvSpPr>
          <p:cNvPr id="13" name="Shape 11"/>
          <p:cNvSpPr/>
          <p:nvPr/>
        </p:nvSpPr>
        <p:spPr>
          <a:xfrm>
            <a:off x="4480560" y="3895344"/>
            <a:ext cx="347472" cy="347472"/>
          </a:xfrm>
          <a:prstGeom prst="ellipse">
            <a:avLst/>
          </a:prstGeom>
          <a:solidFill>
            <a:srgbClr val="29B6D8"/>
          </a:solidFill>
          <a:ln/>
        </p:spPr>
      </p:sp>
      <p:sp>
        <p:nvSpPr>
          <p:cNvPr id="14" name="Text 12"/>
          <p:cNvSpPr/>
          <p:nvPr/>
        </p:nvSpPr>
        <p:spPr>
          <a:xfrm>
            <a:off x="4480560" y="3895344"/>
            <a:ext cx="347472" cy="347472"/>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3</a:t>
            </a:r>
            <a:endParaRPr lang="en-US" sz="1250" dirty="0"/>
          </a:p>
        </p:txBody>
      </p:sp>
      <p:sp>
        <p:nvSpPr>
          <p:cNvPr id="15" name="Text 13"/>
          <p:cNvSpPr/>
          <p:nvPr/>
        </p:nvSpPr>
        <p:spPr>
          <a:xfrm>
            <a:off x="4974336" y="3822192"/>
            <a:ext cx="2194560" cy="292608"/>
          </a:xfrm>
          <a:prstGeom prst="rect">
            <a:avLst/>
          </a:prstGeom>
          <a:noFill/>
          <a:ln/>
        </p:spPr>
        <p:txBody>
          <a:bodyPr wrap="square" lIns="0" tIns="0" rIns="0" bIns="0" rtlCol="0" anchor="ctr"/>
          <a:lstStyle/>
          <a:p>
            <a:pPr indent="0" marL="0">
              <a:buNone/>
            </a:pPr>
            <a:r>
              <a:rPr lang="en-US" sz="1500" b="1" dirty="0">
                <a:solidFill>
                  <a:srgbClr val="F2F5F8"/>
                </a:solidFill>
                <a:latin typeface="Arial" pitchFamily="34" charset="0"/>
                <a:ea typeface="Arial" pitchFamily="34" charset="-122"/>
                <a:cs typeface="Arial" pitchFamily="34" charset="-120"/>
              </a:rPr>
              <a:t>Bounded cost</a:t>
            </a:r>
            <a:endParaRPr lang="en-US" sz="1500" dirty="0"/>
          </a:p>
        </p:txBody>
      </p:sp>
      <p:sp>
        <p:nvSpPr>
          <p:cNvPr id="16" name="Text 14"/>
          <p:cNvSpPr/>
          <p:nvPr/>
        </p:nvSpPr>
        <p:spPr>
          <a:xfrm>
            <a:off x="7223760" y="3822192"/>
            <a:ext cx="4389120" cy="585216"/>
          </a:xfrm>
          <a:prstGeom prst="rect">
            <a:avLst/>
          </a:prstGeom>
          <a:noFill/>
          <a:ln/>
        </p:spPr>
        <p:txBody>
          <a:bodyPr wrap="square" lIns="0" tIns="0" rIns="0" bIns="0" rtlCol="0" anchor="ctr"/>
          <a:lstStyle/>
          <a:p>
            <a:pPr indent="0" marL="0">
              <a:lnSpc>
                <a:spcPts val="1600"/>
              </a:lnSpc>
              <a:buNone/>
            </a:pPr>
            <a:r>
              <a:rPr lang="en-US" sz="1200" dirty="0">
                <a:solidFill>
                  <a:srgbClr val="A8B4C4"/>
                </a:solidFill>
                <a:latin typeface="Calibri" pitchFamily="34" charset="0"/>
                <a:ea typeface="Calibri" pitchFamily="34" charset="-122"/>
                <a:cs typeface="Calibri" pitchFamily="34" charset="-120"/>
              </a:rPr>
              <a:t>Deterministic checks do the exhaustive work; the model sees only what survives them.</a:t>
            </a:r>
            <a:endParaRPr lang="en-US" sz="1200" dirty="0"/>
          </a:p>
        </p:txBody>
      </p:sp>
      <p:sp>
        <p:nvSpPr>
          <p:cNvPr id="17" name="Shape 15"/>
          <p:cNvSpPr/>
          <p:nvPr/>
        </p:nvSpPr>
        <p:spPr>
          <a:xfrm>
            <a:off x="4480560" y="4626864"/>
            <a:ext cx="347472" cy="347472"/>
          </a:xfrm>
          <a:prstGeom prst="ellipse">
            <a:avLst/>
          </a:prstGeom>
          <a:solidFill>
            <a:srgbClr val="29B6D8"/>
          </a:solidFill>
          <a:ln/>
        </p:spPr>
      </p:sp>
      <p:sp>
        <p:nvSpPr>
          <p:cNvPr id="18" name="Text 16"/>
          <p:cNvSpPr/>
          <p:nvPr/>
        </p:nvSpPr>
        <p:spPr>
          <a:xfrm>
            <a:off x="4480560" y="4626864"/>
            <a:ext cx="347472" cy="347472"/>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4</a:t>
            </a:r>
            <a:endParaRPr lang="en-US" sz="1250" dirty="0"/>
          </a:p>
        </p:txBody>
      </p:sp>
      <p:sp>
        <p:nvSpPr>
          <p:cNvPr id="19" name="Text 17"/>
          <p:cNvSpPr/>
          <p:nvPr/>
        </p:nvSpPr>
        <p:spPr>
          <a:xfrm>
            <a:off x="4974336" y="4553712"/>
            <a:ext cx="2194560" cy="292608"/>
          </a:xfrm>
          <a:prstGeom prst="rect">
            <a:avLst/>
          </a:prstGeom>
          <a:noFill/>
          <a:ln/>
        </p:spPr>
        <p:txBody>
          <a:bodyPr wrap="square" lIns="0" tIns="0" rIns="0" bIns="0" rtlCol="0" anchor="ctr"/>
          <a:lstStyle/>
          <a:p>
            <a:pPr indent="0" marL="0">
              <a:buNone/>
            </a:pPr>
            <a:r>
              <a:rPr lang="en-US" sz="1500" b="1" dirty="0">
                <a:solidFill>
                  <a:srgbClr val="F2F5F8"/>
                </a:solidFill>
                <a:latin typeface="Arial" pitchFamily="34" charset="0"/>
                <a:ea typeface="Arial" pitchFamily="34" charset="-122"/>
                <a:cs typeface="Arial" pitchFamily="34" charset="-120"/>
              </a:rPr>
              <a:t>Actionable</a:t>
            </a:r>
            <a:endParaRPr lang="en-US" sz="1500" dirty="0"/>
          </a:p>
        </p:txBody>
      </p:sp>
      <p:sp>
        <p:nvSpPr>
          <p:cNvPr id="20" name="Text 18"/>
          <p:cNvSpPr/>
          <p:nvPr/>
        </p:nvSpPr>
        <p:spPr>
          <a:xfrm>
            <a:off x="7223760" y="4553712"/>
            <a:ext cx="4389120" cy="585216"/>
          </a:xfrm>
          <a:prstGeom prst="rect">
            <a:avLst/>
          </a:prstGeom>
          <a:noFill/>
          <a:ln/>
        </p:spPr>
        <p:txBody>
          <a:bodyPr wrap="square" lIns="0" tIns="0" rIns="0" bIns="0" rtlCol="0" anchor="ctr"/>
          <a:lstStyle/>
          <a:p>
            <a:pPr indent="0" marL="0">
              <a:lnSpc>
                <a:spcPts val="1600"/>
              </a:lnSpc>
              <a:buNone/>
            </a:pPr>
            <a:r>
              <a:rPr lang="en-US" sz="1200" dirty="0">
                <a:solidFill>
                  <a:srgbClr val="A8B4C4"/>
                </a:solidFill>
                <a:latin typeface="Calibri" pitchFamily="34" charset="0"/>
                <a:ea typeface="Calibri" pitchFamily="34" charset="-122"/>
                <a:cs typeface="Calibri" pitchFamily="34" charset="-120"/>
              </a:rPr>
              <a:t>Ends in a reviewed pull request, not a spreadsheet somebody files away.</a:t>
            </a:r>
            <a:endParaRPr lang="en-US" sz="1200" dirty="0"/>
          </a:p>
        </p:txBody>
      </p:sp>
      <p:sp>
        <p:nvSpPr>
          <p:cNvPr id="21" name="Shape 19"/>
          <p:cNvSpPr/>
          <p:nvPr/>
        </p:nvSpPr>
        <p:spPr>
          <a:xfrm>
            <a:off x="4480560" y="5358384"/>
            <a:ext cx="347472" cy="347472"/>
          </a:xfrm>
          <a:prstGeom prst="ellipse">
            <a:avLst/>
          </a:prstGeom>
          <a:solidFill>
            <a:srgbClr val="29B6D8"/>
          </a:solidFill>
          <a:ln/>
        </p:spPr>
      </p:sp>
      <p:sp>
        <p:nvSpPr>
          <p:cNvPr id="22" name="Text 20"/>
          <p:cNvSpPr/>
          <p:nvPr/>
        </p:nvSpPr>
        <p:spPr>
          <a:xfrm>
            <a:off x="4480560" y="5358384"/>
            <a:ext cx="347472" cy="347472"/>
          </a:xfrm>
          <a:prstGeom prst="rect">
            <a:avLst/>
          </a:prstGeom>
          <a:noFill/>
          <a:ln/>
        </p:spPr>
        <p:txBody>
          <a:bodyPr wrap="square" lIns="0" tIns="0" rIns="0" bIns="0" rtlCol="0" anchor="ctr"/>
          <a:lstStyle/>
          <a:p>
            <a:pPr algn="ctr" indent="0" marL="0">
              <a:buNone/>
            </a:pPr>
            <a:r>
              <a:rPr lang="en-US" sz="1250" b="1" dirty="0">
                <a:solidFill>
                  <a:srgbClr val="0F1620"/>
                </a:solidFill>
                <a:latin typeface="Arial" pitchFamily="34" charset="0"/>
                <a:ea typeface="Arial" pitchFamily="34" charset="-122"/>
                <a:cs typeface="Arial" pitchFamily="34" charset="-120"/>
              </a:rPr>
              <a:t>5</a:t>
            </a:r>
            <a:endParaRPr lang="en-US" sz="1250" dirty="0"/>
          </a:p>
        </p:txBody>
      </p:sp>
      <p:sp>
        <p:nvSpPr>
          <p:cNvPr id="23" name="Text 21"/>
          <p:cNvSpPr/>
          <p:nvPr/>
        </p:nvSpPr>
        <p:spPr>
          <a:xfrm>
            <a:off x="4974336" y="5285232"/>
            <a:ext cx="2194560" cy="292608"/>
          </a:xfrm>
          <a:prstGeom prst="rect">
            <a:avLst/>
          </a:prstGeom>
          <a:noFill/>
          <a:ln/>
        </p:spPr>
        <p:txBody>
          <a:bodyPr wrap="square" lIns="0" tIns="0" rIns="0" bIns="0" rtlCol="0" anchor="ctr"/>
          <a:lstStyle/>
          <a:p>
            <a:pPr indent="0" marL="0">
              <a:buNone/>
            </a:pPr>
            <a:r>
              <a:rPr lang="en-US" sz="1500" b="1" dirty="0">
                <a:solidFill>
                  <a:srgbClr val="F2F5F8"/>
                </a:solidFill>
                <a:latin typeface="Arial" pitchFamily="34" charset="0"/>
                <a:ea typeface="Arial" pitchFamily="34" charset="-122"/>
                <a:cs typeface="Arial" pitchFamily="34" charset="-120"/>
              </a:rPr>
              <a:t>Honest</a:t>
            </a:r>
            <a:endParaRPr lang="en-US" sz="1500" dirty="0"/>
          </a:p>
        </p:txBody>
      </p:sp>
      <p:sp>
        <p:nvSpPr>
          <p:cNvPr id="24" name="Text 22"/>
          <p:cNvSpPr/>
          <p:nvPr/>
        </p:nvSpPr>
        <p:spPr>
          <a:xfrm>
            <a:off x="7223760" y="5285232"/>
            <a:ext cx="4389120" cy="585216"/>
          </a:xfrm>
          <a:prstGeom prst="rect">
            <a:avLst/>
          </a:prstGeom>
          <a:noFill/>
          <a:ln/>
        </p:spPr>
        <p:txBody>
          <a:bodyPr wrap="square" lIns="0" tIns="0" rIns="0" bIns="0" rtlCol="0" anchor="ctr"/>
          <a:lstStyle/>
          <a:p>
            <a:pPr indent="0" marL="0">
              <a:lnSpc>
                <a:spcPts val="1600"/>
              </a:lnSpc>
              <a:buNone/>
            </a:pPr>
            <a:r>
              <a:rPr lang="en-US" sz="1200" dirty="0">
                <a:solidFill>
                  <a:srgbClr val="A8B4C4"/>
                </a:solidFill>
                <a:latin typeface="Calibri" pitchFamily="34" charset="0"/>
                <a:ea typeface="Calibri" pitchFamily="34" charset="-122"/>
                <a:cs typeface="Calibri" pitchFamily="34" charset="-120"/>
              </a:rPr>
              <a:t>Says what it cannot know, and holds back rather than guessing.</a:t>
            </a:r>
            <a:endParaRPr lang="en-US" sz="1200" dirty="0"/>
          </a:p>
        </p:txBody>
      </p:sp>
      <p:sp>
        <p:nvSpPr>
          <p:cNvPr id="25" name="Text 23"/>
          <p:cNvSpPr/>
          <p:nvPr/>
        </p:nvSpPr>
        <p:spPr>
          <a:xfrm>
            <a:off x="566928" y="3200400"/>
            <a:ext cx="3749040" cy="1645920"/>
          </a:xfrm>
          <a:prstGeom prst="rect">
            <a:avLst/>
          </a:prstGeom>
          <a:noFill/>
          <a:ln/>
        </p:spPr>
        <p:txBody>
          <a:bodyPr wrap="square" lIns="0" tIns="0" rIns="0" bIns="0" rtlCol="0" anchor="ctr"/>
          <a:lstStyle/>
          <a:p>
            <a:pPr indent="0" marL="0">
              <a:lnSpc>
                <a:spcPts val="2800"/>
              </a:lnSpc>
              <a:buNone/>
            </a:pPr>
            <a:r>
              <a:rPr lang="en-US" sz="1700" b="1" dirty="0">
                <a:solidFill>
                  <a:srgbClr val="29B6D8"/>
                </a:solidFill>
                <a:latin typeface="Arial" pitchFamily="34" charset="0"/>
                <a:ea typeface="Arial" pitchFamily="34" charset="-122"/>
                <a:cs typeface="Arial" pitchFamily="34" charset="-120"/>
              </a:rPr>
              <a:t>Deterministic where it must be.</a:t>
            </a:r>
            <a:endParaRPr lang="en-US" sz="1700" dirty="0"/>
          </a:p>
          <a:p>
            <a:pPr indent="0" marL="0">
              <a:lnSpc>
                <a:spcPts val="2800"/>
              </a:lnSpc>
              <a:buNone/>
            </a:pPr>
            <a:r>
              <a:rPr lang="en-US" sz="1700" b="1" dirty="0">
                <a:solidFill>
                  <a:srgbClr val="29B6D8"/>
                </a:solidFill>
                <a:latin typeface="Arial" pitchFamily="34" charset="0"/>
                <a:ea typeface="Arial" pitchFamily="34" charset="-122"/>
                <a:cs typeface="Arial" pitchFamily="34" charset="-120"/>
              </a:rPr>
              <a:t>Intelligent where it helps.</a:t>
            </a:r>
            <a:endParaRPr lang="en-US" sz="1700" dirty="0"/>
          </a:p>
          <a:p>
            <a:pPr indent="0" marL="0">
              <a:lnSpc>
                <a:spcPts val="2800"/>
              </a:lnSpc>
              <a:buNone/>
            </a:pPr>
            <a:r>
              <a:rPr lang="en-US" sz="1700" b="1" dirty="0">
                <a:solidFill>
                  <a:srgbClr val="29B6D8"/>
                </a:solidFill>
                <a:latin typeface="Arial" pitchFamily="34" charset="0"/>
                <a:ea typeface="Arial" pitchFamily="34" charset="-122"/>
                <a:cs typeface="Arial" pitchFamily="34" charset="-120"/>
              </a:rPr>
              <a:t>Human where it counts.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Salesforce Org Cleanup</dc:title>
  <dc:subject>PptxGenJS Presentation</dc:subject>
  <dc:creator>Org Cleanup Analyzer</dc:creator>
  <cp:lastModifiedBy>Org Cleanup Analyzer</cp:lastModifiedBy>
  <cp:revision>1</cp:revision>
  <dcterms:created xsi:type="dcterms:W3CDTF">2026-08-12T08:58:01Z</dcterms:created>
  <dcterms:modified xsi:type="dcterms:W3CDTF">2026-08-12T08:58:01Z</dcterms:modified>
</cp:coreProperties>
</file>